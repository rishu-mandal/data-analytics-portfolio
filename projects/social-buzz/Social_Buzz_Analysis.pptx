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5" r:id="rId11"/>
    <p:sldId id="266" r:id="rId12"/>
  </p:sldIdLst>
  <p:sldSz cx="18288000" cy="10287000"/>
  <p:notesSz cx="6858000" cy="9144000"/>
  <p:embeddedFontLst>
    <p:embeddedFont>
      <p:font typeface="Clear Sans Regular Bold" panose="020B0603030202020304" pitchFamily="34" charset="0"/>
      <p:regular r:id="rId14"/>
    </p:embeddedFont>
    <p:embeddedFont>
      <p:font typeface="DM Sans" pitchFamily="2" charset="77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0FF"/>
    <a:srgbClr val="883C84"/>
    <a:srgbClr val="461B49"/>
    <a:srgbClr val="963488"/>
    <a:srgbClr val="2831A2"/>
    <a:srgbClr val="2086AA"/>
    <a:srgbClr val="1994B1"/>
    <a:srgbClr val="00B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279" autoAdjust="0"/>
    <p:restoredTop sz="73121" autoAdjust="0"/>
  </p:normalViewPr>
  <p:slideViewPr>
    <p:cSldViewPr>
      <p:cViewPr varScale="1">
        <p:scale>
          <a:sx n="58" d="100"/>
          <a:sy n="58" d="100"/>
        </p:scale>
        <p:origin x="720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4730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6.svg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0.jpe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94731" y="0"/>
            <a:ext cx="1893269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NP"/>
          </a:p>
        </p:txBody>
      </p:sp>
      <p:grpSp>
        <p:nvGrpSpPr>
          <p:cNvPr id="3" name="Group 3"/>
          <p:cNvGrpSpPr/>
          <p:nvPr/>
        </p:nvGrpSpPr>
        <p:grpSpPr>
          <a:xfrm>
            <a:off x="6545735" y="406153"/>
            <a:ext cx="10042534" cy="9474693"/>
            <a:chOff x="0" y="0"/>
            <a:chExt cx="13390046" cy="12632924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0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3279405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6558809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9838214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9838214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0"/>
              <a:ext cx="3005065" cy="2794710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3279405"/>
              <a:ext cx="3005065" cy="2794710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6558809"/>
              <a:ext cx="3005065" cy="2794710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1104900" y="824285"/>
            <a:ext cx="8750843" cy="8318192"/>
            <a:chOff x="0" y="0"/>
            <a:chExt cx="11667791" cy="11090922"/>
          </a:xfrm>
        </p:grpSpPr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>
              <a:off x="1931835" y="1354967"/>
              <a:ext cx="9735956" cy="9735956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AU" dirty="0"/>
              </a:p>
            </p:txBody>
          </p:sp>
        </p:grpSp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96140" y="376277"/>
              <a:ext cx="9735956" cy="9756713"/>
            </a:xfrm>
            <a:prstGeom prst="rect">
              <a:avLst/>
            </a:prstGeom>
          </p:spPr>
        </p:pic>
      </p:grpSp>
      <p:sp>
        <p:nvSpPr>
          <p:cNvPr id="24" name="TextBox 24"/>
          <p:cNvSpPr txBox="1"/>
          <p:nvPr/>
        </p:nvSpPr>
        <p:spPr>
          <a:xfrm>
            <a:off x="1937518" y="2571708"/>
            <a:ext cx="6230940" cy="4185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59"/>
              </a:lnSpc>
            </a:pPr>
            <a:r>
              <a:rPr lang="en-US" sz="8000" spc="-105" dirty="0">
                <a:solidFill>
                  <a:srgbClr val="FFFFFF"/>
                </a:solidFill>
                <a:latin typeface="Graphik Regular" panose="020B0503030202060203" pitchFamily="34" charset="0"/>
              </a:rPr>
              <a:t>[Data </a:t>
            </a:r>
            <a:r>
              <a:rPr lang="en-US" sz="8000" spc="-105" dirty="0" err="1">
                <a:solidFill>
                  <a:srgbClr val="FFFFFF"/>
                </a:solidFill>
                <a:latin typeface="Graphik Regular" panose="020B0503030202060203" pitchFamily="34" charset="0"/>
              </a:rPr>
              <a:t>Analysyis</a:t>
            </a:r>
            <a:r>
              <a:rPr lang="en-US" sz="8000" spc="-105" dirty="0">
                <a:solidFill>
                  <a:srgbClr val="FFFFFF"/>
                </a:solidFill>
                <a:latin typeface="Graphik Regular" panose="020B0503030202060203" pitchFamily="34" charset="0"/>
              </a:rPr>
              <a:t> Report of Social Buzz]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1591" y="3285301"/>
            <a:ext cx="8673443" cy="3762839"/>
            <a:chOff x="0" y="0"/>
            <a:chExt cx="11564591" cy="5017118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1564591" cy="1641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8000" spc="-80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Today's agenda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298167"/>
              <a:ext cx="11564591" cy="27189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Project recap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Problem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The Analytics team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Process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Insights</a:t>
              </a:r>
            </a:p>
            <a:p>
              <a:pPr>
                <a:lnSpc>
                  <a:spcPts val="2660"/>
                </a:lnSpc>
              </a:pPr>
              <a:r>
                <a:rPr lang="en-US" sz="1900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Summary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07242" y="-1685151"/>
            <a:ext cx="3545508" cy="3370302"/>
            <a:chOff x="0" y="0"/>
            <a:chExt cx="4727344" cy="4493736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13610070" y="3458349"/>
            <a:ext cx="3545508" cy="3370302"/>
            <a:chOff x="0" y="0"/>
            <a:chExt cx="4727344" cy="4493736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11912898" y="8601849"/>
            <a:ext cx="3545508" cy="3370302"/>
            <a:chOff x="0" y="0"/>
            <a:chExt cx="4727344" cy="4493736"/>
          </a:xfrm>
        </p:grpSpPr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-927557" y="406153"/>
            <a:ext cx="2253799" cy="9474693"/>
            <a:chOff x="0" y="0"/>
            <a:chExt cx="3005065" cy="12632924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7113" y="584601"/>
            <a:ext cx="17253775" cy="9117799"/>
            <a:chOff x="0" y="0"/>
            <a:chExt cx="23005033" cy="1215706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3155875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6311751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9467626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3155875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6311751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9467626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3155875"/>
              <a:ext cx="2891870" cy="2689439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6311751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9467626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3155875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6311751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9467626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3155875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6311751"/>
              <a:ext cx="2891870" cy="268943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9467626"/>
              <a:ext cx="2891870" cy="2689439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3155875"/>
              <a:ext cx="2891870" cy="2689439"/>
            </a:xfrm>
            <a:prstGeom prst="rect">
              <a:avLst/>
            </a:prstGeom>
          </p:spPr>
        </p:pic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6311751"/>
              <a:ext cx="2891870" cy="2689439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9467626"/>
              <a:ext cx="2891870" cy="2689439"/>
            </a:xfrm>
            <a:prstGeom prst="rect">
              <a:avLst/>
            </a:prstGeom>
          </p:spPr>
        </p:pic>
        <p:pic>
          <p:nvPicPr>
            <p:cNvPr id="27" name="Picture 2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155875"/>
              <a:ext cx="2891870" cy="2689439"/>
            </a:xfrm>
            <a:prstGeom prst="rect">
              <a:avLst/>
            </a:prstGeom>
          </p:spPr>
        </p:pic>
        <p:pic>
          <p:nvPicPr>
            <p:cNvPr id="29" name="Picture 2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311751"/>
              <a:ext cx="2891870" cy="2689439"/>
            </a:xfrm>
            <a:prstGeom prst="rect">
              <a:avLst/>
            </a:prstGeom>
          </p:spPr>
        </p:pic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467626"/>
              <a:ext cx="2891870" cy="2689439"/>
            </a:xfrm>
            <a:prstGeom prst="rect">
              <a:avLst/>
            </a:prstGeom>
          </p:spPr>
        </p:pic>
      </p:grpSp>
      <p:sp>
        <p:nvSpPr>
          <p:cNvPr id="31" name="AutoShape 31"/>
          <p:cNvSpPr/>
          <p:nvPr/>
        </p:nvSpPr>
        <p:spPr>
          <a:xfrm>
            <a:off x="4876800" y="2005584"/>
            <a:ext cx="11412379" cy="627583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en-US" dirty="0"/>
              <a:t>N</a:t>
            </a:r>
            <a:endParaRPr lang="en-NP" dirty="0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21"/>
          <a:stretch>
            <a:fillRect/>
          </a:stretch>
        </p:blipFill>
        <p:spPr>
          <a:xfrm rot="10799999">
            <a:off x="1983048" y="1909668"/>
            <a:ext cx="6453903" cy="6467663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2969013" y="3935700"/>
            <a:ext cx="4481973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Project Recap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8D9F9A-D75C-A93F-D60B-F06BC09641CD}"/>
              </a:ext>
            </a:extLst>
          </p:cNvPr>
          <p:cNvSpPr txBox="1"/>
          <p:nvPr/>
        </p:nvSpPr>
        <p:spPr>
          <a:xfrm>
            <a:off x="8525218" y="2092029"/>
            <a:ext cx="728205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2400" dirty="0"/>
              <a:t>A social meadia platform, Social Buzz </a:t>
            </a:r>
            <a:r>
              <a:rPr lang="en-US" sz="2400" b="0" i="0" dirty="0">
                <a:solidFill>
                  <a:srgbClr val="3E3E3E"/>
                </a:solidFill>
                <a:effectLst/>
                <a:latin typeface="DM Sans" pitchFamily="2" charset="77"/>
              </a:rPr>
              <a:t>has reached a massive scale within recent years and does not have the resources internally to handle it. </a:t>
            </a:r>
            <a:r>
              <a:rPr lang="en-US" sz="2400" dirty="0"/>
              <a:t>To start our engagement with Social Buzz, we are running a 3 month initial project in order to prove to them that we are the best firm to work with. They are expecting the following: -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An audit of their big data practice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Recommendations for a successful IPO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An analysis of their content categories that highlights the top 5 categories with the largest aggregate popularity. </a:t>
            </a:r>
          </a:p>
          <a:p>
            <a:r>
              <a:rPr lang="en-US" sz="2400" dirty="0"/>
              <a:t>In this project, I, as an analyst will work on </a:t>
            </a:r>
            <a:r>
              <a:rPr lang="en-US" sz="2400" dirty="0">
                <a:solidFill>
                  <a:srgbClr val="3E3E3E"/>
                </a:solidFill>
                <a:latin typeface="DM Sans" pitchFamily="2" charset="77"/>
              </a:rPr>
              <a:t>a</a:t>
            </a:r>
            <a:r>
              <a:rPr lang="en-US" sz="2400" b="0" i="0" dirty="0">
                <a:solidFill>
                  <a:srgbClr val="3E3E3E"/>
                </a:solidFill>
                <a:effectLst/>
                <a:latin typeface="DM Sans" pitchFamily="2" charset="77"/>
              </a:rPr>
              <a:t>nalysis of sample data sets with visualizations to understand the popularity of different content categories and sort out top five among them. </a:t>
            </a:r>
            <a:endParaRPr lang="en-NP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8195696"/>
            <a:ext cx="3545508" cy="3370302"/>
            <a:chOff x="0" y="0"/>
            <a:chExt cx="4727344" cy="4493736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sp>
        <p:nvSpPr>
          <p:cNvPr id="6" name="AutoShape 6"/>
          <p:cNvSpPr/>
          <p:nvPr/>
        </p:nvSpPr>
        <p:spPr>
          <a:xfrm>
            <a:off x="0" y="0"/>
            <a:ext cx="9964482" cy="10287000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txBody>
          <a:bodyPr/>
          <a:lstStyle/>
          <a:p>
            <a:endParaRPr lang="en-AU" dirty="0"/>
          </a:p>
        </p:txBody>
      </p:sp>
      <p:grpSp>
        <p:nvGrpSpPr>
          <p:cNvPr id="7" name="Group 7"/>
          <p:cNvGrpSpPr/>
          <p:nvPr/>
        </p:nvGrpSpPr>
        <p:grpSpPr>
          <a:xfrm>
            <a:off x="-146279" y="406153"/>
            <a:ext cx="2253799" cy="9474693"/>
            <a:chOff x="0" y="0"/>
            <a:chExt cx="3005065" cy="12632924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1298688" y="1464558"/>
            <a:ext cx="3438614" cy="3297100"/>
            <a:chOff x="0" y="154662"/>
            <a:chExt cx="4584818" cy="4396135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656398"/>
              <a:ext cx="3894399" cy="3894399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963488"/>
              </a:solidFill>
            </p:spPr>
            <p:txBody>
              <a:bodyPr/>
              <a:lstStyle/>
              <a:p>
                <a:endParaRPr lang="en-AU" dirty="0"/>
              </a:p>
            </p:txBody>
          </p:sp>
        </p:grpSp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321"/>
            <a:stretch>
              <a:fillRect/>
            </a:stretch>
          </p:blipFill>
          <p:spPr>
            <a:xfrm rot="16484543">
              <a:off x="686267" y="150511"/>
              <a:ext cx="3894400" cy="3902702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15986267" y="-1061348"/>
            <a:ext cx="3545508" cy="3370302"/>
            <a:chOff x="0" y="0"/>
            <a:chExt cx="4727344" cy="4493736"/>
          </a:xfrm>
        </p:grpSpPr>
        <p:grpSp>
          <p:nvGrpSpPr>
            <p:cNvPr id="17" name="Group 17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rcRect l="24693" r="24693"/>
          <a:stretch>
            <a:fillRect/>
          </a:stretch>
        </p:blipFill>
        <p:spPr>
          <a:xfrm>
            <a:off x="11007484" y="1028700"/>
            <a:ext cx="6251816" cy="8229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3357131" y="1484436"/>
            <a:ext cx="578686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Problem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326BB6-3B4E-DFC2-B7CE-F43C0FC8FD7B}"/>
              </a:ext>
            </a:extLst>
          </p:cNvPr>
          <p:cNvSpPr txBox="1"/>
          <p:nvPr/>
        </p:nvSpPr>
        <p:spPr>
          <a:xfrm>
            <a:off x="2635597" y="4729134"/>
            <a:ext cx="61254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3600" dirty="0">
                <a:solidFill>
                  <a:schemeClr val="bg1"/>
                </a:solidFill>
              </a:rPr>
              <a:t>To find the top five content categories with the largest popularity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6723" y="406153"/>
            <a:ext cx="9939843" cy="9474693"/>
            <a:chOff x="0" y="0"/>
            <a:chExt cx="13253124" cy="1263292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16020" y="0"/>
              <a:ext cx="3005065" cy="279471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16020" y="9838214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832040" y="0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832040" y="9838214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0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3279405"/>
              <a:ext cx="3005065" cy="279471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6558809"/>
              <a:ext cx="3005065" cy="279471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9838214"/>
              <a:ext cx="3005065" cy="2794710"/>
            </a:xfrm>
            <a:prstGeom prst="rect">
              <a:avLst/>
            </a:prstGeom>
          </p:spPr>
        </p:pic>
      </p:grpSp>
      <p:sp>
        <p:nvSpPr>
          <p:cNvPr id="15" name="AutoShape 15"/>
          <p:cNvSpPr/>
          <p:nvPr/>
        </p:nvSpPr>
        <p:spPr>
          <a:xfrm>
            <a:off x="2110745" y="1825527"/>
            <a:ext cx="6750815" cy="66359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NP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825797" y="1270731"/>
            <a:ext cx="2085137" cy="2085137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lstStyle/>
            <a:p>
              <a:endParaRPr lang="en-NP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1443639" y="1048891"/>
            <a:ext cx="2174041" cy="2165548"/>
            <a:chOff x="0" y="0"/>
            <a:chExt cx="6502400" cy="6477000"/>
          </a:xfrm>
        </p:grpSpPr>
        <p:sp>
          <p:nvSpPr>
            <p:cNvPr id="19" name="Freeform 19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5"/>
              <a:stretch>
                <a:fillRect l="-136837" t="-28774" r="-84967" b="-86469"/>
              </a:stretch>
            </a:blipFill>
            <a:ln>
              <a:solidFill>
                <a:srgbClr val="00BAFF"/>
              </a:solidFill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  <p:txBody>
            <a:bodyPr/>
            <a:lstStyle/>
            <a:p>
              <a:endParaRPr lang="en-NP"/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1825797" y="4221947"/>
            <a:ext cx="2085137" cy="2085137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lstStyle/>
            <a:p>
              <a:endParaRPr lang="en-AU" dirty="0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1411515" y="4002073"/>
            <a:ext cx="2187334" cy="2123082"/>
            <a:chOff x="-23042" y="66269"/>
            <a:chExt cx="6542158" cy="6349987"/>
          </a:xfrm>
        </p:grpSpPr>
        <p:sp>
          <p:nvSpPr>
            <p:cNvPr id="24" name="Freeform 24"/>
            <p:cNvSpPr/>
            <p:nvPr/>
          </p:nvSpPr>
          <p:spPr>
            <a:xfrm>
              <a:off x="-23042" y="119185"/>
              <a:ext cx="6542158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6"/>
              <a:stretch>
                <a:fillRect l="-162891" t="-16684" r="-160683" b="-166629"/>
              </a:stretch>
            </a:blipFill>
            <a:ln>
              <a:solidFill>
                <a:srgbClr val="00BAFF"/>
              </a:solidFill>
            </a:ln>
          </p:spPr>
          <p:txBody>
            <a:bodyPr/>
            <a:lstStyle/>
            <a:p>
              <a:endParaRPr lang="en-NP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  <p:txBody>
            <a:bodyPr/>
            <a:lstStyle/>
            <a:p>
              <a:endParaRPr lang="en-NP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1825797" y="7173163"/>
            <a:ext cx="2085137" cy="2085137"/>
            <a:chOff x="0" y="0"/>
            <a:chExt cx="6350000" cy="6350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lstStyle/>
            <a:p>
              <a:endParaRPr lang="en-AU" dirty="0"/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1419219" y="6931132"/>
            <a:ext cx="2174041" cy="2165548"/>
            <a:chOff x="0" y="0"/>
            <a:chExt cx="6502400" cy="6477000"/>
          </a:xfrm>
        </p:grpSpPr>
        <p:sp>
          <p:nvSpPr>
            <p:cNvPr id="29" name="Freeform 29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7"/>
              <a:stretch>
                <a:fillRect l="-164266" t="1917" r="-22903" b="-93994"/>
              </a:stretch>
            </a:blipFill>
            <a:ln>
              <a:solidFill>
                <a:srgbClr val="00BAFF"/>
              </a:solidFill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  <p:txBody>
            <a:bodyPr/>
            <a:lstStyle/>
            <a:p>
              <a:endParaRPr lang="en-NP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670508" y="3331799"/>
            <a:ext cx="5612273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The Analytics team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75F147-BA17-B1DD-269D-708EE732C826}"/>
              </a:ext>
            </a:extLst>
          </p:cNvPr>
          <p:cNvSpPr txBox="1"/>
          <p:nvPr/>
        </p:nvSpPr>
        <p:spPr>
          <a:xfrm>
            <a:off x="14125975" y="1825527"/>
            <a:ext cx="298604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2800" b="1" dirty="0"/>
              <a:t>Data Analyst (Me)</a:t>
            </a:r>
          </a:p>
          <a:p>
            <a:r>
              <a:rPr lang="en-NP" sz="2400" dirty="0"/>
              <a:t>Rishu Mandal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76A8D9-CA58-ABF7-FF4E-BD2F50B479D3}"/>
              </a:ext>
            </a:extLst>
          </p:cNvPr>
          <p:cNvSpPr txBox="1"/>
          <p:nvPr/>
        </p:nvSpPr>
        <p:spPr>
          <a:xfrm>
            <a:off x="14125975" y="4697223"/>
            <a:ext cx="413786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800" b="1" dirty="0"/>
              <a:t>Chief Technology Architect</a:t>
            </a:r>
          </a:p>
          <a:p>
            <a:r>
              <a:rPr lang="en-NP" sz="2400" dirty="0"/>
              <a:t>Andrew Fleming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68BED2-5905-C8B0-1217-3463942242CD}"/>
              </a:ext>
            </a:extLst>
          </p:cNvPr>
          <p:cNvSpPr txBox="1"/>
          <p:nvPr/>
        </p:nvSpPr>
        <p:spPr>
          <a:xfrm>
            <a:off x="14293092" y="7568919"/>
            <a:ext cx="324132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2800" b="1" dirty="0"/>
              <a:t>Senior Principal</a:t>
            </a:r>
          </a:p>
          <a:p>
            <a:r>
              <a:rPr lang="en-NP" sz="2400" dirty="0"/>
              <a:t>Marcus Rompton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5296" y="406153"/>
            <a:ext cx="10042534" cy="9474693"/>
            <a:chOff x="0" y="0"/>
            <a:chExt cx="13390046" cy="1263292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10232"/>
            <a:stretch>
              <a:fillRect/>
            </a:stretch>
          </p:blipFill>
          <p:spPr>
            <a:xfrm>
              <a:off x="6923321" y="6558809"/>
              <a:ext cx="2697587" cy="279471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9838214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3279405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6558809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9838214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1903391" y="1027892"/>
            <a:ext cx="1854962" cy="1781248"/>
            <a:chOff x="0" y="0"/>
            <a:chExt cx="2473282" cy="2374997"/>
          </a:xfrm>
        </p:grpSpPr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3758754" y="2639980"/>
            <a:ext cx="1854962" cy="1781248"/>
            <a:chOff x="0" y="0"/>
            <a:chExt cx="2473282" cy="2374997"/>
          </a:xfrm>
        </p:grpSpPr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5614117" y="4252068"/>
            <a:ext cx="1854962" cy="1781248"/>
            <a:chOff x="0" y="0"/>
            <a:chExt cx="2473282" cy="2374997"/>
          </a:xfrm>
        </p:grpSpPr>
        <p:grpSp>
          <p:nvGrpSpPr>
            <p:cNvPr id="22" name="Group 22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25" name="Group 25"/>
          <p:cNvGrpSpPr/>
          <p:nvPr/>
        </p:nvGrpSpPr>
        <p:grpSpPr>
          <a:xfrm>
            <a:off x="7469480" y="5864156"/>
            <a:ext cx="1854962" cy="1781248"/>
            <a:chOff x="0" y="0"/>
            <a:chExt cx="2473282" cy="2374997"/>
          </a:xfrm>
        </p:grpSpPr>
        <p:grpSp>
          <p:nvGrpSpPr>
            <p:cNvPr id="26" name="Group 26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29" name="Group 29"/>
          <p:cNvGrpSpPr/>
          <p:nvPr/>
        </p:nvGrpSpPr>
        <p:grpSpPr>
          <a:xfrm>
            <a:off x="9324843" y="7476244"/>
            <a:ext cx="1854962" cy="1781248"/>
            <a:chOff x="0" y="0"/>
            <a:chExt cx="2473282" cy="2374997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sp>
        <p:nvSpPr>
          <p:cNvPr id="33" name="TextBox 33"/>
          <p:cNvSpPr txBox="1"/>
          <p:nvPr/>
        </p:nvSpPr>
        <p:spPr>
          <a:xfrm>
            <a:off x="10667818" y="1028700"/>
            <a:ext cx="6642545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Process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30944" y="1372359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34646" y="2984043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08223" y="7828620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>
                <a:solidFill>
                  <a:srgbClr val="FFFFFF"/>
                </a:solidFill>
                <a:latin typeface="Clear Sans Regular Bold"/>
              </a:rPr>
              <a:t>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193880" y="6204766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396750" y="4605252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006A41-9594-0907-F2DD-28CFB7D27DDD}"/>
              </a:ext>
            </a:extLst>
          </p:cNvPr>
          <p:cNvSpPr txBox="1"/>
          <p:nvPr/>
        </p:nvSpPr>
        <p:spPr>
          <a:xfrm>
            <a:off x="3733744" y="1554959"/>
            <a:ext cx="8995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dirty="0">
                <a:solidFill>
                  <a:schemeClr val="bg1"/>
                </a:solidFill>
              </a:rPr>
              <a:t>Identification of data sets required to handle client’s business question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D67F19-37A5-193C-33FB-5AC270BBDAA9}"/>
              </a:ext>
            </a:extLst>
          </p:cNvPr>
          <p:cNvSpPr txBox="1"/>
          <p:nvPr/>
        </p:nvSpPr>
        <p:spPr>
          <a:xfrm>
            <a:off x="5580011" y="3073844"/>
            <a:ext cx="2862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dirty="0">
                <a:solidFill>
                  <a:schemeClr val="bg1"/>
                </a:solidFill>
              </a:rPr>
              <a:t>Cleaning the datasets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B78E3D-0316-0040-1216-B200BCCC9DE6}"/>
              </a:ext>
            </a:extLst>
          </p:cNvPr>
          <p:cNvSpPr txBox="1"/>
          <p:nvPr/>
        </p:nvSpPr>
        <p:spPr>
          <a:xfrm>
            <a:off x="7448096" y="4757888"/>
            <a:ext cx="3752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dirty="0">
                <a:solidFill>
                  <a:schemeClr val="bg1"/>
                </a:solidFill>
              </a:rPr>
              <a:t>Extracting and merging data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C7A789-5969-0F9E-B9B5-FED2E8154135}"/>
              </a:ext>
            </a:extLst>
          </p:cNvPr>
          <p:cNvSpPr txBox="1"/>
          <p:nvPr/>
        </p:nvSpPr>
        <p:spPr>
          <a:xfrm>
            <a:off x="9318095" y="6387184"/>
            <a:ext cx="6996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dirty="0">
                <a:solidFill>
                  <a:schemeClr val="bg1"/>
                </a:solidFill>
              </a:rPr>
              <a:t>Corelating between different datasets and data model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92CD68-9BCD-68F3-FD78-520BE6EEAC11}"/>
              </a:ext>
            </a:extLst>
          </p:cNvPr>
          <p:cNvSpPr txBox="1"/>
          <p:nvPr/>
        </p:nvSpPr>
        <p:spPr>
          <a:xfrm>
            <a:off x="11106480" y="8030877"/>
            <a:ext cx="4139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dirty="0">
                <a:solidFill>
                  <a:schemeClr val="bg1"/>
                </a:solidFill>
              </a:rPr>
              <a:t>Sort to find the top 5 categories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2127159" y="6480806"/>
            <a:ext cx="2972219" cy="88175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77861" y="74942"/>
            <a:ext cx="463612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Insights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17112" y="7810500"/>
            <a:ext cx="17253775" cy="2017079"/>
            <a:chOff x="0" y="0"/>
            <a:chExt cx="23005033" cy="2689439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272183" y="6480309"/>
            <a:ext cx="2972219" cy="881758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2670342" y="6480309"/>
            <a:ext cx="2972219" cy="8817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6FE1C1C-0505-46FF-9764-145187CFE9C0}"/>
              </a:ext>
            </a:extLst>
          </p:cNvPr>
          <p:cNvSpPr txBox="1"/>
          <p:nvPr/>
        </p:nvSpPr>
        <p:spPr>
          <a:xfrm>
            <a:off x="523142" y="1753984"/>
            <a:ext cx="675507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2400" dirty="0"/>
              <a:t>The data given by Social Buzz had 11 categories of content namely: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Animals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Science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Healhty eating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Food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Culture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Travel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Cooking </a:t>
            </a:r>
          </a:p>
          <a:p>
            <a:endParaRPr lang="en-NP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A82D8A-BCBA-893A-F2EA-40409678A849}"/>
              </a:ext>
            </a:extLst>
          </p:cNvPr>
          <p:cNvSpPr txBox="1"/>
          <p:nvPr/>
        </p:nvSpPr>
        <p:spPr>
          <a:xfrm>
            <a:off x="9569513" y="2324100"/>
            <a:ext cx="41772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Soccer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Fitness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Studying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Dogs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Tennis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Veganism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Public speaking</a:t>
            </a:r>
          </a:p>
          <a:p>
            <a:endParaRPr lang="en-NP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1" y="-710238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  <p:txBody>
          <a:bodyPr/>
          <a:lstStyle/>
          <a:p>
            <a:endParaRPr lang="en-NP"/>
          </a:p>
        </p:txBody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84AAB5D-4718-62DB-5304-ECAB2369FD84}"/>
              </a:ext>
            </a:extLst>
          </p:cNvPr>
          <p:cNvSpPr txBox="1"/>
          <p:nvPr/>
        </p:nvSpPr>
        <p:spPr>
          <a:xfrm>
            <a:off x="3512293" y="2023500"/>
            <a:ext cx="571695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dirty="0"/>
              <a:t>There were many types of reactions suhc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Adore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Cherish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Disgust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Dislike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Hate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Heart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Indifferent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Interseted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P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50565B-586C-6215-4376-58A22ACB2D06}"/>
              </a:ext>
            </a:extLst>
          </p:cNvPr>
          <p:cNvSpPr txBox="1"/>
          <p:nvPr/>
        </p:nvSpPr>
        <p:spPr>
          <a:xfrm>
            <a:off x="11250389" y="2300499"/>
            <a:ext cx="178972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Intrigued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Like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Love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Peeking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Scared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Super love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Want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Worried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2" y="-1235382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  <p:txBody>
          <a:bodyPr/>
          <a:lstStyle/>
          <a:p>
            <a:endParaRPr lang="en-NP"/>
          </a:p>
        </p:txBody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pic>
        <p:nvPicPr>
          <p:cNvPr id="28" name="Picture 27" descr="A screenshot of a table&#10;&#10;AI-generated content may be incorrect.">
            <a:extLst>
              <a:ext uri="{FF2B5EF4-FFF2-40B4-BE49-F238E27FC236}">
                <a16:creationId xmlns:a16="http://schemas.microsoft.com/office/drawing/2014/main" id="{F1A6DAA7-6A4E-EC05-6A2E-74F618CA97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969" y="2090333"/>
            <a:ext cx="4649730" cy="4961035"/>
          </a:xfrm>
          <a:prstGeom prst="rect">
            <a:avLst/>
          </a:prstGeom>
        </p:spPr>
      </p:pic>
      <p:pic>
        <p:nvPicPr>
          <p:cNvPr id="30" name="Picture 29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002749DD-79C8-8EE8-21E2-3B86B173E4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0280" y="3253218"/>
            <a:ext cx="4264966" cy="21500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4E41819-06DD-882C-FB5B-99684B62D6FE}"/>
              </a:ext>
            </a:extLst>
          </p:cNvPr>
          <p:cNvSpPr txBox="1"/>
          <p:nvPr/>
        </p:nvSpPr>
        <p:spPr>
          <a:xfrm>
            <a:off x="3987969" y="1368592"/>
            <a:ext cx="5163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dirty="0"/>
              <a:t>All categories with the aggregated score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2AD1CE-5E2B-78C7-B9EE-BB5DB04C29FC}"/>
              </a:ext>
            </a:extLst>
          </p:cNvPr>
          <p:cNvSpPr txBox="1"/>
          <p:nvPr/>
        </p:nvSpPr>
        <p:spPr>
          <a:xfrm>
            <a:off x="11696246" y="2640874"/>
            <a:ext cx="581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dirty="0"/>
              <a:t>Top 5 categories with their aggregated scores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CDB7C5-DFE1-47E5-0ABD-B41949E9DF1E}"/>
              </a:ext>
            </a:extLst>
          </p:cNvPr>
          <p:cNvSpPr txBox="1"/>
          <p:nvPr/>
        </p:nvSpPr>
        <p:spPr>
          <a:xfrm>
            <a:off x="4178810" y="7738459"/>
            <a:ext cx="13507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2400" dirty="0"/>
              <a:t>As we can conclude from the above data, the top five categories are animals, science, healthy eating, technology and food. </a:t>
            </a:r>
          </a:p>
          <a:p>
            <a:r>
              <a:rPr lang="en-NP" sz="2400" dirty="0"/>
              <a:t>The highest category is healthy eating with the highest reaction score of 71168.</a:t>
            </a:r>
          </a:p>
        </p:txBody>
      </p:sp>
    </p:spTree>
    <p:extLst>
      <p:ext uri="{BB962C8B-B14F-4D97-AF65-F5344CB8AC3E}">
        <p14:creationId xmlns:p14="http://schemas.microsoft.com/office/powerpoint/2010/main" val="245385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10143618" y="5003701"/>
            <a:ext cx="942466" cy="27959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10143618" y="2227332"/>
            <a:ext cx="942466" cy="27959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10143618" y="7780070"/>
            <a:ext cx="942466" cy="279598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 l="4069" t="1617" r="4069" b="1617"/>
          <a:stretch>
            <a:fillRect/>
          </a:stretch>
        </p:blipFill>
        <p:spPr>
          <a:xfrm>
            <a:off x="5438298" y="1161805"/>
            <a:ext cx="5036754" cy="796339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57200" y="4539600"/>
            <a:ext cx="470355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Summary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27032" y="9481425"/>
            <a:ext cx="9711338" cy="2017079"/>
            <a:chOff x="0" y="0"/>
            <a:chExt cx="12948451" cy="2689439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327032" y="-1179605"/>
            <a:ext cx="9711338" cy="2017079"/>
            <a:chOff x="0" y="0"/>
            <a:chExt cx="12948451" cy="2689439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20" name="Group 11">
            <a:extLst>
              <a:ext uri="{FF2B5EF4-FFF2-40B4-BE49-F238E27FC236}">
                <a16:creationId xmlns:a16="http://schemas.microsoft.com/office/drawing/2014/main" id="{C00ABEC5-EF3F-4E3E-827E-EB1F2EF17C0D}"/>
              </a:ext>
            </a:extLst>
          </p:cNvPr>
          <p:cNvGrpSpPr/>
          <p:nvPr/>
        </p:nvGrpSpPr>
        <p:grpSpPr>
          <a:xfrm>
            <a:off x="11581833" y="1580430"/>
            <a:ext cx="5677467" cy="867617"/>
            <a:chOff x="0" y="-47625"/>
            <a:chExt cx="7569956" cy="1156823"/>
          </a:xfrm>
        </p:grpSpPr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19A1BE45-8301-44C6-A0D0-F8FDA800622F}"/>
                </a:ext>
              </a:extLst>
            </p:cNvPr>
            <p:cNvSpPr txBox="1"/>
            <p:nvPr/>
          </p:nvSpPr>
          <p:spPr>
            <a:xfrm>
              <a:off x="0" y="691990"/>
              <a:ext cx="7569956" cy="417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60"/>
                </a:lnSpc>
              </a:pPr>
              <a:endParaRPr lang="en-US" sz="1900" spc="-19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22" name="TextBox 13">
              <a:extLst>
                <a:ext uri="{FF2B5EF4-FFF2-40B4-BE49-F238E27FC236}">
                  <a16:creationId xmlns:a16="http://schemas.microsoft.com/office/drawing/2014/main" id="{3DAE5247-0244-4123-A713-8D8809E80C70}"/>
                </a:ext>
              </a:extLst>
            </p:cNvPr>
            <p:cNvSpPr txBox="1"/>
            <p:nvPr/>
          </p:nvSpPr>
          <p:spPr>
            <a:xfrm>
              <a:off x="0" y="-47625"/>
              <a:ext cx="7569956" cy="4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endParaRPr lang="en-US" sz="2100" spc="-21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C03B0EB-0212-44C3-2DDF-D54DCA014AD3}"/>
              </a:ext>
            </a:extLst>
          </p:cNvPr>
          <p:cNvSpPr txBox="1"/>
          <p:nvPr/>
        </p:nvSpPr>
        <p:spPr>
          <a:xfrm>
            <a:off x="11320346" y="3438955"/>
            <a:ext cx="593895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3200" dirty="0"/>
              <a:t>As we can conclude from the above data, the top five categories are animals, science, healthy eating, technology and food. </a:t>
            </a:r>
          </a:p>
          <a:p>
            <a:r>
              <a:rPr lang="en-NP" sz="3200" dirty="0"/>
              <a:t>The highest category is healthy eating with the highest reaction score of 71168.</a:t>
            </a:r>
          </a:p>
          <a:p>
            <a:endParaRPr lang="en-NP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21913" y="5552246"/>
            <a:ext cx="5385738" cy="412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 spc="-26" dirty="0">
                <a:solidFill>
                  <a:srgbClr val="FFFFFF"/>
                </a:solidFill>
                <a:latin typeface="Graphik Regular" panose="020B0503030202060203" pitchFamily="34" charset="0"/>
              </a:rPr>
              <a:t>ANY QUESTIONS?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28428" y="3599225"/>
            <a:ext cx="3546595" cy="3371248"/>
            <a:chOff x="0" y="0"/>
            <a:chExt cx="4728794" cy="4494997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>
              <a:off x="782946" y="549149"/>
              <a:ext cx="3945848" cy="3945848"/>
              <a:chOff x="0" y="0"/>
              <a:chExt cx="6350000" cy="6350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n-NP"/>
              </a:p>
            </p:txBody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160550" y="152500"/>
              <a:ext cx="3945848" cy="3954260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4669076" y="4178375"/>
            <a:ext cx="572982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Thank you!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17113" y="-1140306"/>
            <a:ext cx="17253775" cy="2017079"/>
            <a:chOff x="0" y="0"/>
            <a:chExt cx="23005033" cy="2689439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517113" y="9394369"/>
            <a:ext cx="17253775" cy="2017079"/>
            <a:chOff x="0" y="0"/>
            <a:chExt cx="23005033" cy="2689439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398</Words>
  <Application>Microsoft Macintosh PowerPoint</Application>
  <PresentationFormat>Custom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Graphik Regular</vt:lpstr>
      <vt:lpstr>Arial</vt:lpstr>
      <vt:lpstr>DM Sans</vt:lpstr>
      <vt:lpstr>Clear Sans Regular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creator>Kevin Dang</dc:creator>
  <cp:lastModifiedBy>rishumandal01@gmail.com</cp:lastModifiedBy>
  <cp:revision>9</cp:revision>
  <dcterms:created xsi:type="dcterms:W3CDTF">2006-08-16T00:00:00Z</dcterms:created>
  <dcterms:modified xsi:type="dcterms:W3CDTF">2025-05-05T16:45:00Z</dcterms:modified>
  <dc:identifier>DAEhDyfaYKE</dc:identifier>
</cp:coreProperties>
</file>