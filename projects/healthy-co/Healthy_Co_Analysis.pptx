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2F02BAC-1DF1-40B7-A9D4-DD83D593F75C}">
  <a:tblStyle styleId="{82F02BAC-1DF1-40B7-A9D4-DD83D593F7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>
      <p:cViewPr varScale="1">
        <p:scale>
          <a:sx n="154" d="100"/>
          <a:sy n="154" d="100"/>
        </p:scale>
        <p:origin x="440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1E8448-7EEB-B24F-8F46-1F6D0DE44E2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98014C-5380-F24F-AD46-C98D1553EA45}">
      <dgm:prSet/>
      <dgm:spPr/>
      <dgm:t>
        <a:bodyPr/>
        <a:lstStyle/>
        <a:p>
          <a:r>
            <a:rPr lang="en-US" dirty="0"/>
            <a:t>Graph 1:The patients arriving during morning time (9 AM and 10 AM), the afternoon time (12PM, 1PM) and the evening time (6 PM and 7 PM) have to wait the most. While 9 AM has the worst impact with an average of 47.6 mins wait time, 4PM has the least impact with an average of 31.5 mins wait time.  </a:t>
          </a:r>
        </a:p>
        <a:p>
          <a:r>
            <a:rPr lang="en-US" dirty="0"/>
            <a:t>Graph 2: While Banu H. took the longest time with an average of 5.7  , Birdsall A. took the shortest time with an average of 4.2</a:t>
          </a:r>
          <a:endParaRPr lang="en-NP" dirty="0"/>
        </a:p>
      </dgm:t>
    </dgm:pt>
    <dgm:pt modelId="{678950B3-2732-D943-AA15-1A8A2284F012}" type="parTrans" cxnId="{EAF25809-EA46-0049-872A-1D80326ACB94}">
      <dgm:prSet/>
      <dgm:spPr/>
      <dgm:t>
        <a:bodyPr/>
        <a:lstStyle/>
        <a:p>
          <a:endParaRPr lang="en-US"/>
        </a:p>
      </dgm:t>
    </dgm:pt>
    <dgm:pt modelId="{908A7953-0568-164D-9C9B-5422A32A6C82}" type="sibTrans" cxnId="{EAF25809-EA46-0049-872A-1D80326ACB94}">
      <dgm:prSet/>
      <dgm:spPr/>
      <dgm:t>
        <a:bodyPr/>
        <a:lstStyle/>
        <a:p>
          <a:endParaRPr lang="en-US"/>
        </a:p>
      </dgm:t>
    </dgm:pt>
    <dgm:pt modelId="{C5F8A3D2-55A3-8A4B-9EFE-0FF4C57C4C68}">
      <dgm:prSet/>
      <dgm:spPr/>
      <dgm:t>
        <a:bodyPr/>
        <a:lstStyle/>
        <a:p>
          <a:r>
            <a:rPr lang="en-US" dirty="0"/>
            <a:t>Graph 1: Each doctor mostly spend similar time with group 2 and 3 but Dr. Balla takes the most time with diagnosis group 1 with an average of 14.2 mins.</a:t>
          </a:r>
        </a:p>
        <a:p>
          <a:r>
            <a:rPr lang="en-US" dirty="0"/>
            <a:t>Graph 2: The total time taken by diagnosis group 1 is the longest with an average of 61.7 mins , whereas the diagnosis group 3 took the least amount of time with an average of 56.4 mins</a:t>
          </a:r>
          <a:endParaRPr lang="en-NP" dirty="0"/>
        </a:p>
      </dgm:t>
    </dgm:pt>
    <dgm:pt modelId="{A397E859-42C4-4C41-8FAD-7CC6C9E3639E}" type="parTrans" cxnId="{A935BE12-1F83-2A48-B551-97D0061A6C3F}">
      <dgm:prSet/>
      <dgm:spPr/>
      <dgm:t>
        <a:bodyPr/>
        <a:lstStyle/>
        <a:p>
          <a:endParaRPr lang="en-US"/>
        </a:p>
      </dgm:t>
    </dgm:pt>
    <dgm:pt modelId="{BC2FBF85-EBD9-3644-947E-A5C0586BB0D1}" type="sibTrans" cxnId="{A935BE12-1F83-2A48-B551-97D0061A6C3F}">
      <dgm:prSet/>
      <dgm:spPr/>
      <dgm:t>
        <a:bodyPr/>
        <a:lstStyle/>
        <a:p>
          <a:endParaRPr lang="en-US"/>
        </a:p>
      </dgm:t>
    </dgm:pt>
    <dgm:pt modelId="{86B8DE30-7B30-7043-9981-3458B2C285DB}">
      <dgm:prSet/>
      <dgm:spPr/>
      <dgm:t>
        <a:bodyPr/>
        <a:lstStyle/>
        <a:p>
          <a:r>
            <a:rPr lang="en-NP" dirty="0"/>
            <a:t>Graph 1: </a:t>
          </a:r>
          <a:r>
            <a:rPr lang="en-US" dirty="0"/>
            <a:t>Nurse Knight is losing the most revenue for the company with an average cost of waiting of 166.2 mins.</a:t>
          </a:r>
        </a:p>
        <a:p>
          <a:r>
            <a:rPr lang="en-US" dirty="0"/>
            <a:t>Graph 2: Dr. Balla is losing the most revenue for the company with an average wait time of 29.6 mins.</a:t>
          </a:r>
          <a:endParaRPr lang="en-NP" dirty="0"/>
        </a:p>
      </dgm:t>
    </dgm:pt>
    <dgm:pt modelId="{4D53475C-7C51-EE4A-B9E0-82CD8A94D8C5}" type="parTrans" cxnId="{6A6C04C4-19B4-B34A-ABB9-73B1C70B257A}">
      <dgm:prSet/>
      <dgm:spPr/>
      <dgm:t>
        <a:bodyPr/>
        <a:lstStyle/>
        <a:p>
          <a:endParaRPr lang="en-US"/>
        </a:p>
      </dgm:t>
    </dgm:pt>
    <dgm:pt modelId="{0250E7F5-19FB-8745-A686-CAAF8468A1B7}" type="sibTrans" cxnId="{6A6C04C4-19B4-B34A-ABB9-73B1C70B257A}">
      <dgm:prSet/>
      <dgm:spPr/>
      <dgm:t>
        <a:bodyPr/>
        <a:lstStyle/>
        <a:p>
          <a:endParaRPr lang="en-US"/>
        </a:p>
      </dgm:t>
    </dgm:pt>
    <dgm:pt modelId="{860BF3CF-AD67-4C4A-9E6B-1423C8C9B488}" type="pres">
      <dgm:prSet presAssocID="{F91E8448-7EEB-B24F-8F46-1F6D0DE44E24}" presName="Name0" presStyleCnt="0">
        <dgm:presLayoutVars>
          <dgm:dir/>
          <dgm:animLvl val="lvl"/>
          <dgm:resizeHandles val="exact"/>
        </dgm:presLayoutVars>
      </dgm:prSet>
      <dgm:spPr/>
    </dgm:pt>
    <dgm:pt modelId="{9B08527B-1BEE-BD4F-A7A4-1618996B1E2D}" type="pres">
      <dgm:prSet presAssocID="{D198014C-5380-F24F-AD46-C98D1553EA45}" presName="composite" presStyleCnt="0"/>
      <dgm:spPr/>
    </dgm:pt>
    <dgm:pt modelId="{25B4E165-8BC4-3D4A-975C-4AEB4BD46540}" type="pres">
      <dgm:prSet presAssocID="{D198014C-5380-F24F-AD46-C98D1553EA45}" presName="parTx" presStyleLbl="alignNode1" presStyleIdx="0" presStyleCnt="3" custScaleX="90789" custScaleY="102455" custLinFactY="-100000" custLinFactNeighborX="6770" custLinFactNeighborY="-108417">
        <dgm:presLayoutVars>
          <dgm:chMax val="0"/>
          <dgm:chPref val="0"/>
          <dgm:bulletEnabled val="1"/>
        </dgm:presLayoutVars>
      </dgm:prSet>
      <dgm:spPr/>
    </dgm:pt>
    <dgm:pt modelId="{FD81CD1E-4BBE-E648-96DF-804951204E74}" type="pres">
      <dgm:prSet presAssocID="{D198014C-5380-F24F-AD46-C98D1553EA45}" presName="desTx" presStyleLbl="alignAccFollowNode1" presStyleIdx="0" presStyleCnt="3" custScaleX="63519" custScaleY="235863" custLinFactY="78070" custLinFactNeighborX="4632" custLinFactNeighborY="100000">
        <dgm:presLayoutVars>
          <dgm:bulletEnabled val="1"/>
        </dgm:presLayoutVars>
      </dgm:prSet>
      <dgm:spPr/>
    </dgm:pt>
    <dgm:pt modelId="{57913C4E-1873-534A-872D-7067EE6889A3}" type="pres">
      <dgm:prSet presAssocID="{908A7953-0568-164D-9C9B-5422A32A6C82}" presName="space" presStyleCnt="0"/>
      <dgm:spPr/>
    </dgm:pt>
    <dgm:pt modelId="{CEB4D38E-19A6-034A-B439-88F19BBCBC4C}" type="pres">
      <dgm:prSet presAssocID="{C5F8A3D2-55A3-8A4B-9EFE-0FF4C57C4C68}" presName="composite" presStyleCnt="0"/>
      <dgm:spPr/>
    </dgm:pt>
    <dgm:pt modelId="{20BAD215-C076-6D4B-8595-242108633216}" type="pres">
      <dgm:prSet presAssocID="{C5F8A3D2-55A3-8A4B-9EFE-0FF4C57C4C68}" presName="parTx" presStyleLbl="alignNode1" presStyleIdx="1" presStyleCnt="3" custLinFactY="-100000" custLinFactNeighborX="4097" custLinFactNeighborY="-107705">
        <dgm:presLayoutVars>
          <dgm:chMax val="0"/>
          <dgm:chPref val="0"/>
          <dgm:bulletEnabled val="1"/>
        </dgm:presLayoutVars>
      </dgm:prSet>
      <dgm:spPr/>
    </dgm:pt>
    <dgm:pt modelId="{2FBAEE3E-0528-A342-AE6D-DA195DB9A686}" type="pres">
      <dgm:prSet presAssocID="{C5F8A3D2-55A3-8A4B-9EFE-0FF4C57C4C68}" presName="desTx" presStyleLbl="alignAccFollowNode1" presStyleIdx="1" presStyleCnt="3" custScaleX="44389" custScaleY="239690" custLinFactX="29546" custLinFactNeighborX="100000" custLinFactNeighborY="93854">
        <dgm:presLayoutVars>
          <dgm:bulletEnabled val="1"/>
        </dgm:presLayoutVars>
      </dgm:prSet>
      <dgm:spPr/>
    </dgm:pt>
    <dgm:pt modelId="{C0F98A9F-84B3-D24D-994F-4BA3AEF807A0}" type="pres">
      <dgm:prSet presAssocID="{BC2FBF85-EBD9-3644-947E-A5C0586BB0D1}" presName="space" presStyleCnt="0"/>
      <dgm:spPr/>
    </dgm:pt>
    <dgm:pt modelId="{D9E3DB2E-B297-CE4E-94CB-B7D94C800059}" type="pres">
      <dgm:prSet presAssocID="{86B8DE30-7B30-7043-9981-3458B2C285DB}" presName="composite" presStyleCnt="0"/>
      <dgm:spPr/>
    </dgm:pt>
    <dgm:pt modelId="{572E01EB-E941-3642-9216-B84BA275EFC5}" type="pres">
      <dgm:prSet presAssocID="{86B8DE30-7B30-7043-9981-3458B2C285DB}" presName="parTx" presStyleLbl="alignNode1" presStyleIdx="2" presStyleCnt="3" custScaleX="90531" custLinFactY="-100000" custLinFactNeighborX="-559" custLinFactNeighborY="-109195">
        <dgm:presLayoutVars>
          <dgm:chMax val="0"/>
          <dgm:chPref val="0"/>
          <dgm:bulletEnabled val="1"/>
        </dgm:presLayoutVars>
      </dgm:prSet>
      <dgm:spPr/>
    </dgm:pt>
    <dgm:pt modelId="{69DE4351-4052-8344-9FBE-191E7B10DB86}" type="pres">
      <dgm:prSet presAssocID="{86B8DE30-7B30-7043-9981-3458B2C285DB}" presName="desTx" presStyleLbl="alignAccFollowNode1" presStyleIdx="2" presStyleCnt="3" custScaleX="38594" custScaleY="225200" custLinFactX="-18055" custLinFactNeighborX="-100000" custLinFactNeighborY="91410">
        <dgm:presLayoutVars>
          <dgm:bulletEnabled val="1"/>
        </dgm:presLayoutVars>
      </dgm:prSet>
      <dgm:spPr/>
    </dgm:pt>
  </dgm:ptLst>
  <dgm:cxnLst>
    <dgm:cxn modelId="{EAF25809-EA46-0049-872A-1D80326ACB94}" srcId="{F91E8448-7EEB-B24F-8F46-1F6D0DE44E24}" destId="{D198014C-5380-F24F-AD46-C98D1553EA45}" srcOrd="0" destOrd="0" parTransId="{678950B3-2732-D943-AA15-1A8A2284F012}" sibTransId="{908A7953-0568-164D-9C9B-5422A32A6C82}"/>
    <dgm:cxn modelId="{A935BE12-1F83-2A48-B551-97D0061A6C3F}" srcId="{F91E8448-7EEB-B24F-8F46-1F6D0DE44E24}" destId="{C5F8A3D2-55A3-8A4B-9EFE-0FF4C57C4C68}" srcOrd="1" destOrd="0" parTransId="{A397E859-42C4-4C41-8FAD-7CC6C9E3639E}" sibTransId="{BC2FBF85-EBD9-3644-947E-A5C0586BB0D1}"/>
    <dgm:cxn modelId="{5008B91F-8366-A140-90DF-60A0A6B9430F}" type="presOf" srcId="{86B8DE30-7B30-7043-9981-3458B2C285DB}" destId="{572E01EB-E941-3642-9216-B84BA275EFC5}" srcOrd="0" destOrd="0" presId="urn:microsoft.com/office/officeart/2005/8/layout/hList1"/>
    <dgm:cxn modelId="{1C5DB299-BC63-664A-8263-BE0E691EF53F}" type="presOf" srcId="{F91E8448-7EEB-B24F-8F46-1F6D0DE44E24}" destId="{860BF3CF-AD67-4C4A-9E6B-1423C8C9B488}" srcOrd="0" destOrd="0" presId="urn:microsoft.com/office/officeart/2005/8/layout/hList1"/>
    <dgm:cxn modelId="{1F95329A-9E01-6149-9E34-7706764117A8}" type="presOf" srcId="{C5F8A3D2-55A3-8A4B-9EFE-0FF4C57C4C68}" destId="{20BAD215-C076-6D4B-8595-242108633216}" srcOrd="0" destOrd="0" presId="urn:microsoft.com/office/officeart/2005/8/layout/hList1"/>
    <dgm:cxn modelId="{6A6C04C4-19B4-B34A-ABB9-73B1C70B257A}" srcId="{F91E8448-7EEB-B24F-8F46-1F6D0DE44E24}" destId="{86B8DE30-7B30-7043-9981-3458B2C285DB}" srcOrd="2" destOrd="0" parTransId="{4D53475C-7C51-EE4A-B9E0-82CD8A94D8C5}" sibTransId="{0250E7F5-19FB-8745-A686-CAAF8468A1B7}"/>
    <dgm:cxn modelId="{B5DFD1EC-5537-0049-855D-C1DC516805C7}" type="presOf" srcId="{D198014C-5380-F24F-AD46-C98D1553EA45}" destId="{25B4E165-8BC4-3D4A-975C-4AEB4BD46540}" srcOrd="0" destOrd="0" presId="urn:microsoft.com/office/officeart/2005/8/layout/hList1"/>
    <dgm:cxn modelId="{085B8F18-95F7-2B48-9782-3D4C2BCF0047}" type="presParOf" srcId="{860BF3CF-AD67-4C4A-9E6B-1423C8C9B488}" destId="{9B08527B-1BEE-BD4F-A7A4-1618996B1E2D}" srcOrd="0" destOrd="0" presId="urn:microsoft.com/office/officeart/2005/8/layout/hList1"/>
    <dgm:cxn modelId="{4D30074B-0093-8548-89A1-48A05CC0F141}" type="presParOf" srcId="{9B08527B-1BEE-BD4F-A7A4-1618996B1E2D}" destId="{25B4E165-8BC4-3D4A-975C-4AEB4BD46540}" srcOrd="0" destOrd="0" presId="urn:microsoft.com/office/officeart/2005/8/layout/hList1"/>
    <dgm:cxn modelId="{07E2008E-F864-6846-BEB4-F4D6409C29C7}" type="presParOf" srcId="{9B08527B-1BEE-BD4F-A7A4-1618996B1E2D}" destId="{FD81CD1E-4BBE-E648-96DF-804951204E74}" srcOrd="1" destOrd="0" presId="urn:microsoft.com/office/officeart/2005/8/layout/hList1"/>
    <dgm:cxn modelId="{8559F45D-37E7-C447-AABE-9E12BF2DF4A1}" type="presParOf" srcId="{860BF3CF-AD67-4C4A-9E6B-1423C8C9B488}" destId="{57913C4E-1873-534A-872D-7067EE6889A3}" srcOrd="1" destOrd="0" presId="urn:microsoft.com/office/officeart/2005/8/layout/hList1"/>
    <dgm:cxn modelId="{47C43B61-B135-BF4B-83C2-D832DD9432DE}" type="presParOf" srcId="{860BF3CF-AD67-4C4A-9E6B-1423C8C9B488}" destId="{CEB4D38E-19A6-034A-B439-88F19BBCBC4C}" srcOrd="2" destOrd="0" presId="urn:microsoft.com/office/officeart/2005/8/layout/hList1"/>
    <dgm:cxn modelId="{960BC141-5A2C-6E47-AE14-BF6B2CF898F5}" type="presParOf" srcId="{CEB4D38E-19A6-034A-B439-88F19BBCBC4C}" destId="{20BAD215-C076-6D4B-8595-242108633216}" srcOrd="0" destOrd="0" presId="urn:microsoft.com/office/officeart/2005/8/layout/hList1"/>
    <dgm:cxn modelId="{4DDD25D4-28D3-FA4C-A200-A633E3C62A68}" type="presParOf" srcId="{CEB4D38E-19A6-034A-B439-88F19BBCBC4C}" destId="{2FBAEE3E-0528-A342-AE6D-DA195DB9A686}" srcOrd="1" destOrd="0" presId="urn:microsoft.com/office/officeart/2005/8/layout/hList1"/>
    <dgm:cxn modelId="{DF2F0D42-0438-4744-B232-288CD0CD23F2}" type="presParOf" srcId="{860BF3CF-AD67-4C4A-9E6B-1423C8C9B488}" destId="{C0F98A9F-84B3-D24D-994F-4BA3AEF807A0}" srcOrd="3" destOrd="0" presId="urn:microsoft.com/office/officeart/2005/8/layout/hList1"/>
    <dgm:cxn modelId="{7037BED7-E61B-5647-9B38-ADA4C4FA0673}" type="presParOf" srcId="{860BF3CF-AD67-4C4A-9E6B-1423C8C9B488}" destId="{D9E3DB2E-B297-CE4E-94CB-B7D94C800059}" srcOrd="4" destOrd="0" presId="urn:microsoft.com/office/officeart/2005/8/layout/hList1"/>
    <dgm:cxn modelId="{B5D5B33C-FF15-894C-8AC9-E395CAC21EE4}" type="presParOf" srcId="{D9E3DB2E-B297-CE4E-94CB-B7D94C800059}" destId="{572E01EB-E941-3642-9216-B84BA275EFC5}" srcOrd="0" destOrd="0" presId="urn:microsoft.com/office/officeart/2005/8/layout/hList1"/>
    <dgm:cxn modelId="{F308F53C-F63A-B943-8C5D-3936E23226B0}" type="presParOf" srcId="{D9E3DB2E-B297-CE4E-94CB-B7D94C800059}" destId="{69DE4351-4052-8344-9FBE-191E7B10DB8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4E165-8BC4-3D4A-975C-4AEB4BD46540}">
      <dsp:nvSpPr>
        <dsp:cNvPr id="0" name=""/>
        <dsp:cNvSpPr/>
      </dsp:nvSpPr>
      <dsp:spPr>
        <a:xfrm>
          <a:off x="197490" y="0"/>
          <a:ext cx="2639563" cy="989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28448" rIns="49784" bIns="28448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Graph 1:The patients arriving during morning time (9 AM and 10 AM), the afternoon time (12PM, 1PM) and the evening time (6 PM and 7 PM) have to wait the most. While 9 AM has the worst impact with an average of 47.6 mins wait time, 4PM has the least impact with an average of 31.5 mins wait time.  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Graph 2: While Banu H. took the longest time with an average of 5.7  , Birdsall A. took the shortest time with an average of 4.2</a:t>
          </a:r>
          <a:endParaRPr lang="en-NP" sz="700" kern="1200" dirty="0"/>
        </a:p>
      </dsp:txBody>
      <dsp:txXfrm>
        <a:off x="197490" y="0"/>
        <a:ext cx="2639563" cy="989152"/>
      </dsp:txXfrm>
    </dsp:sp>
    <dsp:sp modelId="{FD81CD1E-4BBE-E648-96DF-804951204E74}">
      <dsp:nvSpPr>
        <dsp:cNvPr id="0" name=""/>
        <dsp:cNvSpPr/>
      </dsp:nvSpPr>
      <dsp:spPr>
        <a:xfrm>
          <a:off x="531749" y="2892441"/>
          <a:ext cx="1846726" cy="82872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AD215-C076-6D4B-8595-242108633216}">
      <dsp:nvSpPr>
        <dsp:cNvPr id="0" name=""/>
        <dsp:cNvSpPr/>
      </dsp:nvSpPr>
      <dsp:spPr>
        <a:xfrm>
          <a:off x="3166370" y="0"/>
          <a:ext cx="2907360" cy="9654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28448" rIns="49784" bIns="28448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Graph 1: Each doctor mostly spend similar time with group 2 and 3 but Dr. Balla takes the most time with diagnosis group 1 with an average of 14.2 mins.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Graph 2: The total time taken by diagnosis group 1 is the longest with an average of 61.7 mins , whereas the diagnosis group 3 took the least amount of time with an average of 56.4 mins</a:t>
          </a:r>
          <a:endParaRPr lang="en-NP" sz="700" kern="1200" dirty="0"/>
        </a:p>
      </dsp:txBody>
      <dsp:txXfrm>
        <a:off x="3166370" y="0"/>
        <a:ext cx="2907360" cy="965450"/>
      </dsp:txXfrm>
    </dsp:sp>
    <dsp:sp modelId="{2FBAEE3E-0528-A342-AE6D-DA195DB9A686}">
      <dsp:nvSpPr>
        <dsp:cNvPr id="0" name=""/>
        <dsp:cNvSpPr/>
      </dsp:nvSpPr>
      <dsp:spPr>
        <a:xfrm>
          <a:off x="7622030" y="2580529"/>
          <a:ext cx="1290548" cy="8421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E01EB-E941-3642-9216-B84BA275EFC5}">
      <dsp:nvSpPr>
        <dsp:cNvPr id="0" name=""/>
        <dsp:cNvSpPr/>
      </dsp:nvSpPr>
      <dsp:spPr>
        <a:xfrm>
          <a:off x="6345394" y="0"/>
          <a:ext cx="2632062" cy="9654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28448" rIns="49784" bIns="28448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P" sz="700" kern="1200" dirty="0"/>
            <a:t>Graph 1: </a:t>
          </a:r>
          <a:r>
            <a:rPr lang="en-US" sz="700" kern="1200" dirty="0"/>
            <a:t>Nurse Knight is losing the most revenue for the company with an average cost of waiting of 166.2 mins.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Graph 2: Dr. Balla is losing the most revenue for the company with an average wait time of 29.6 mins.</a:t>
          </a:r>
          <a:endParaRPr lang="en-NP" sz="700" kern="1200" dirty="0"/>
        </a:p>
      </dsp:txBody>
      <dsp:txXfrm>
        <a:off x="6345394" y="0"/>
        <a:ext cx="2632062" cy="965450"/>
      </dsp:txXfrm>
    </dsp:sp>
    <dsp:sp modelId="{69DE4351-4052-8344-9FBE-191E7B10DB86}">
      <dsp:nvSpPr>
        <dsp:cNvPr id="0" name=""/>
        <dsp:cNvSpPr/>
      </dsp:nvSpPr>
      <dsp:spPr>
        <a:xfrm>
          <a:off x="3684360" y="2610126"/>
          <a:ext cx="1122066" cy="7912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428f721c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428f721c8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428f721c8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428f721c8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428f721c8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428f721c8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28f721c8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428f721c8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fe20b05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ffe20b05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Report on advisory service given to improve the 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DM Sans" pitchFamily="2" charset="77"/>
              </a:rPr>
              <a:t>Customer &amp; Operations and Transformation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DM Sans" pitchFamily="2" charset="77"/>
              </a:rPr>
              <a:t> 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DM Sans" pitchFamily="2" charset="77"/>
              </a:rPr>
              <a:t>services</a:t>
            </a:r>
            <a:endParaRPr sz="36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DM Sans" panose="020F0502020204030204" pitchFamily="34" charset="0"/>
              </a:rPr>
              <a:t>Healthy Co.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Executive summary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300" dirty="0"/>
              <a:t>This deck focuses on summarizing the points gathered such as :</a:t>
            </a:r>
          </a:p>
          <a:p>
            <a:pPr marL="120650" indent="0">
              <a:buSzPts val="1700"/>
              <a:buNone/>
            </a:pPr>
            <a:r>
              <a:rPr lang="en-US" sz="1300" dirty="0"/>
              <a:t>                    from data analysis - slide 3</a:t>
            </a:r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300" dirty="0"/>
              <a:t>                    from research – slide 4</a:t>
            </a:r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300" dirty="0"/>
              <a:t>                    ways to improve patient experience – slide 5</a:t>
            </a:r>
          </a:p>
          <a:p>
            <a:pPr marL="406400" indent="-285750">
              <a:buSzPts val="1700"/>
            </a:pPr>
            <a:r>
              <a:rPr lang="en-US" sz="1300" dirty="0"/>
              <a:t>Slide 3 : It shows the co-relation of doctors, nurses, patients, patients’ wait time depending upon nurses and doctors and also its effect on cost of revenue.</a:t>
            </a:r>
          </a:p>
          <a:p>
            <a:pPr marL="406400" indent="-285750">
              <a:buSzPts val="1700"/>
            </a:pPr>
            <a:r>
              <a:rPr lang="en-US" sz="1300" dirty="0"/>
              <a:t>Slide 4: It shares the best practices that are found in the research and how the client can apply such approaches to its benefit.</a:t>
            </a:r>
          </a:p>
          <a:p>
            <a:pPr marL="406400" indent="-285750">
              <a:buSzPts val="1700"/>
            </a:pPr>
            <a:r>
              <a:rPr lang="en-US" sz="1300" dirty="0"/>
              <a:t>Slide 5: It states the ways to improve the patients experience including (but not limited to) patient wait times.</a:t>
            </a:r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300" dirty="0"/>
              <a:t>                     </a:t>
            </a:r>
            <a:endParaRPr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62641"/>
            <a:ext cx="8520600" cy="3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Insights of Data Analysis </a:t>
            </a:r>
            <a:endParaRPr sz="200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4BEFDCE-8B5A-F7E1-F0E6-EFF9A122C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4912204"/>
              </p:ext>
            </p:extLst>
          </p:nvPr>
        </p:nvGraphicFramePr>
        <p:xfrm>
          <a:off x="74814" y="457199"/>
          <a:ext cx="8994371" cy="4623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 descr="A graph with red and blue bars&#10;&#10;AI-generated content may be incorrect.">
            <a:extLst>
              <a:ext uri="{FF2B5EF4-FFF2-40B4-BE49-F238E27FC236}">
                <a16:creationId xmlns:a16="http://schemas.microsoft.com/office/drawing/2014/main" id="{4EA9B4F8-5A82-42A2-0036-79BBF1D3C4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201" y="1521229"/>
            <a:ext cx="2699312" cy="17375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8" name="Picture 7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6F52EA64-F53A-6997-502A-0A980A4415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02" y="3304898"/>
            <a:ext cx="2699311" cy="17375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0" name="Picture 9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CC4FD80-D1F9-37CC-222C-365E7CCA62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063" y="3304898"/>
            <a:ext cx="2699311" cy="17375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2" name="Picture 11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927C751F-6239-E9D1-0EB5-485A2C9C8C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4690" y="1521228"/>
            <a:ext cx="2699310" cy="17375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4" name="Picture 13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C5968144-BBAD-03C7-CE3C-2B0237C9058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8064" y="1521229"/>
            <a:ext cx="2699311" cy="17375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8" name="Picture 17" descr="A graph of a nurse&#10;&#10;AI-generated content may be incorrect.">
            <a:extLst>
              <a:ext uri="{FF2B5EF4-FFF2-40B4-BE49-F238E27FC236}">
                <a16:creationId xmlns:a16="http://schemas.microsoft.com/office/drawing/2014/main" id="{8C8AB0AE-D793-E076-ED7C-953FFAFBDA2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4690" y="3302893"/>
            <a:ext cx="2699311" cy="17375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13036B-196F-C3C9-2F88-F0E3B58D0CE2}"/>
              </a:ext>
            </a:extLst>
          </p:cNvPr>
          <p:cNvCxnSpPr/>
          <p:nvPr/>
        </p:nvCxnSpPr>
        <p:spPr>
          <a:xfrm>
            <a:off x="3108960" y="581891"/>
            <a:ext cx="0" cy="4561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6E7972B-87E8-03B9-AF83-2DACB52500E8}"/>
              </a:ext>
            </a:extLst>
          </p:cNvPr>
          <p:cNvCxnSpPr>
            <a:cxnSpLocks/>
          </p:cNvCxnSpPr>
          <p:nvPr/>
        </p:nvCxnSpPr>
        <p:spPr>
          <a:xfrm flipH="1">
            <a:off x="6292735" y="581891"/>
            <a:ext cx="2507" cy="4458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25383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Best practices found in the research </a:t>
            </a:r>
            <a:endParaRPr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919719"/>
            <a:ext cx="8520600" cy="38019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NP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AI-driven Patient Intake</a:t>
            </a:r>
            <a:endParaRPr lang="en-NP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P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NP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Automates registration and prioritizes cases, reducing check-in times and improving patient flow.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NP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Predictive Staff Scheduling</a:t>
            </a:r>
            <a:endParaRPr lang="en-NP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P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NP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Optimizes staff schedules based on patient demand, improving efficiency and reducing wait times.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NP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Block Appointment Scheduling</a:t>
            </a:r>
            <a:endParaRPr lang="en-NP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P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NP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Groups patients into specific time slots, balancing patient flow and reducing congestion.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NP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Staff Retraining</a:t>
            </a:r>
            <a:endParaRPr lang="en-NP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P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NP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Improves triage efficiency, reducing time spent on initial assessments and speeding up patient processing.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NP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NP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applications of these practices for the client:</a:t>
            </a:r>
          </a:p>
          <a:p>
            <a:pPr marL="171450" indent="-171450">
              <a:spcAft>
                <a:spcPts val="1200"/>
              </a:spcAft>
            </a:pPr>
            <a:r>
              <a:rPr lang="en-NP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predictive scheduling to align staffing with patient demand, ensuring that </a:t>
            </a:r>
            <a:r>
              <a:rPr lang="en-NP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Nurse Knight</a:t>
            </a:r>
            <a:r>
              <a:rPr lang="en-NP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NP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 Balla</a:t>
            </a:r>
            <a:r>
              <a:rPr lang="en-NP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available during peak times, reducing wait times for more urgent patients (Group 1).</a:t>
            </a:r>
          </a:p>
          <a:p>
            <a:pPr marL="171450" indent="-171450">
              <a:spcAft>
                <a:spcPts val="1200"/>
              </a:spcAft>
            </a:pPr>
            <a:r>
              <a:rPr lang="en-NP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 block scheduling based on patient severity (Group 1, 2, 3) to reduce congestion, ensuring that </a:t>
            </a:r>
            <a:r>
              <a:rPr lang="en-NP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 1 patients</a:t>
            </a:r>
            <a:r>
              <a:rPr lang="en-NP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seen first and reducing wait times for all groups.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NP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10420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DM Sans" pitchFamily="2" charset="77"/>
              </a:rPr>
              <a:t>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DM Sans" pitchFamily="2" charset="77"/>
              </a:rPr>
              <a:t>o improve patient experience, including (but not limited to) patient wait times.</a:t>
            </a:r>
            <a:endParaRPr sz="2000" dirty="0"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847898"/>
            <a:ext cx="8520600" cy="3720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/>
              <a:t>Following steps can be taken:</a:t>
            </a:r>
          </a:p>
          <a:p>
            <a:pPr marL="285750" indent="-285750">
              <a:spcAft>
                <a:spcPts val="1200"/>
              </a:spcAft>
            </a:pP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Self Check-In Kiosks</a:t>
            </a:r>
            <a:r>
              <a:rPr lang="en-NP" sz="1400" dirty="0">
                <a:effectLst/>
              </a:rPr>
              <a:t> </a:t>
            </a:r>
            <a:r>
              <a:rPr lang="en-US" sz="1400" dirty="0">
                <a:effectLst/>
              </a:rPr>
              <a:t>: </a:t>
            </a: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Digital kiosks allow patients to check in without filling out paperwork.</a:t>
            </a:r>
            <a:r>
              <a:rPr lang="en-NP" sz="1400" dirty="0">
                <a:effectLst/>
              </a:rPr>
              <a:t> </a:t>
            </a:r>
            <a:endParaRPr lang="en-US" sz="1400" dirty="0">
              <a:effectLst/>
            </a:endParaRPr>
          </a:p>
          <a:p>
            <a:pPr marL="285750" indent="-285750">
              <a:spcAft>
                <a:spcPts val="1200"/>
              </a:spcAft>
            </a:pP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Mobile Pre-Registration</a:t>
            </a:r>
            <a:r>
              <a:rPr lang="en-NP" sz="1400" dirty="0">
                <a:effectLst/>
              </a:rPr>
              <a:t> </a:t>
            </a:r>
            <a:r>
              <a:rPr lang="en-US" sz="1400" dirty="0"/>
              <a:t>: </a:t>
            </a: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Patient complete forms online before their visit.</a:t>
            </a:r>
            <a:r>
              <a:rPr lang="en-NP" sz="1400" dirty="0">
                <a:effectLst/>
              </a:rPr>
              <a:t> </a:t>
            </a:r>
          </a:p>
          <a:p>
            <a:pPr marL="285750" indent="-285750">
              <a:spcAft>
                <a:spcPts val="1200"/>
              </a:spcAft>
            </a:pP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Free Guest Wi-Fi</a:t>
            </a:r>
            <a:r>
              <a:rPr lang="en-NP" sz="1400" dirty="0">
                <a:effectLst/>
              </a:rPr>
              <a:t> </a:t>
            </a:r>
            <a:r>
              <a:rPr lang="en-NP" sz="1400" dirty="0"/>
              <a:t>: </a:t>
            </a: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Let patients access internet while they wait.</a:t>
            </a:r>
            <a:r>
              <a:rPr lang="en-NP" sz="1400" dirty="0">
                <a:effectLst/>
              </a:rPr>
              <a:t> </a:t>
            </a:r>
            <a:endParaRPr lang="en-NP" sz="1400" dirty="0"/>
          </a:p>
          <a:p>
            <a:pPr marL="285750" indent="-285750">
              <a:spcAft>
                <a:spcPts val="1200"/>
              </a:spcAft>
            </a:pP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Estimated Wait Time Transparency</a:t>
            </a:r>
            <a:r>
              <a:rPr lang="en-NP" sz="1400" dirty="0">
                <a:effectLst/>
              </a:rPr>
              <a:t> : </a:t>
            </a: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Let patients know expected wait times at check-in.</a:t>
            </a:r>
          </a:p>
          <a:p>
            <a:pPr marL="285750" indent="-285750">
              <a:spcAft>
                <a:spcPts val="1200"/>
              </a:spcAft>
            </a:pP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Express Triage for Low-Risk Patients</a:t>
            </a:r>
            <a:r>
              <a:rPr lang="en-NP" sz="1400" dirty="0">
                <a:effectLst/>
              </a:rPr>
              <a:t> </a:t>
            </a:r>
            <a:r>
              <a:rPr lang="en-NP" sz="1400" dirty="0">
                <a:latin typeface="Times New Roman" panose="02020603050405020304" pitchFamily="18" charset="0"/>
              </a:rPr>
              <a:t>: </a:t>
            </a: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Fast-track simple cases to reduce congestion.</a:t>
            </a:r>
            <a:r>
              <a:rPr lang="en-NP" sz="1400" dirty="0">
                <a:effectLst/>
              </a:rPr>
              <a:t> </a:t>
            </a:r>
            <a:endParaRPr lang="en-NP" sz="1400" dirty="0">
              <a:latin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</a:pP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Auto-Fill Forms from Patient History</a:t>
            </a:r>
            <a:r>
              <a:rPr lang="en-NP" sz="1400" dirty="0">
                <a:effectLst/>
              </a:rPr>
              <a:t> </a:t>
            </a:r>
            <a:r>
              <a:rPr lang="en-NP" sz="1400" dirty="0">
                <a:effectLst/>
                <a:latin typeface="Times New Roman" panose="02020603050405020304" pitchFamily="18" charset="0"/>
              </a:rPr>
              <a:t>: </a:t>
            </a: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stored info to reduce paperwork repetition.</a:t>
            </a:r>
            <a:r>
              <a:rPr lang="en-NP" sz="1400" dirty="0">
                <a:effectLst/>
              </a:rPr>
              <a:t> </a:t>
            </a:r>
            <a:endParaRPr lang="en-NP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</a:pPr>
            <a:r>
              <a:rPr lang="en-NP" sz="1400" dirty="0">
                <a:effectLst/>
              </a:rPr>
              <a:t> </a:t>
            </a: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Comfort Kits for Longer Waits</a:t>
            </a:r>
            <a:r>
              <a:rPr lang="en-NP" sz="1400" dirty="0">
                <a:effectLst/>
              </a:rPr>
              <a:t> : </a:t>
            </a:r>
            <a:r>
              <a:rPr lang="en-NP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Offer water, snacks, or small activities during long waits.</a:t>
            </a:r>
            <a:r>
              <a:rPr lang="en-NP" sz="1400" dirty="0">
                <a:effectLst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NP" sz="1400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00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Self-reflection form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93200" y="445025"/>
            <a:ext cx="563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48" i="1"/>
              <a:t>Once you are happy with your presentation, read through the presentation checklist, and then record yourself presenting (you won’t submit this recording). Watch the recording, and complete this self-reflection slide. Submit as part of your deck.</a:t>
            </a:r>
            <a:endParaRPr sz="1148" i="1"/>
          </a:p>
        </p:txBody>
      </p:sp>
      <p:graphicFrame>
        <p:nvGraphicFramePr>
          <p:cNvPr id="87" name="Google Shape;87;p18"/>
          <p:cNvGraphicFramePr/>
          <p:nvPr>
            <p:extLst>
              <p:ext uri="{D42A27DB-BD31-4B8C-83A1-F6EECF244321}">
                <p14:modId xmlns:p14="http://schemas.microsoft.com/office/powerpoint/2010/main" val="2690144277"/>
              </p:ext>
            </p:extLst>
          </p:nvPr>
        </p:nvGraphicFramePr>
        <p:xfrm>
          <a:off x="356500" y="1247450"/>
          <a:ext cx="3944525" cy="3628570"/>
        </p:xfrm>
        <a:graphic>
          <a:graphicData uri="http://schemas.openxmlformats.org/drawingml/2006/table">
            <a:tbl>
              <a:tblPr>
                <a:noFill/>
                <a:tableStyleId>{82F02BAC-1DF1-40B7-A9D4-DD83D593F75C}</a:tableStyleId>
              </a:tblPr>
              <a:tblGrid>
                <a:gridCol w="394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7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What did you do well? What are your areas of strength?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9000"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dirty="0"/>
                        <a:t>Clarity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dirty="0"/>
                        <a:t>Explanation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dirty="0"/>
                        <a:t>Confidence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dirty="0"/>
                        <a:t>Focus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dirty="0"/>
                        <a:t>Fluency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8" name="Google Shape;88;p18"/>
          <p:cNvGraphicFramePr/>
          <p:nvPr>
            <p:extLst>
              <p:ext uri="{D42A27DB-BD31-4B8C-83A1-F6EECF244321}">
                <p14:modId xmlns:p14="http://schemas.microsoft.com/office/powerpoint/2010/main" val="123296974"/>
              </p:ext>
            </p:extLst>
          </p:nvPr>
        </p:nvGraphicFramePr>
        <p:xfrm>
          <a:off x="4648100" y="1247450"/>
          <a:ext cx="3944525" cy="3647120"/>
        </p:xfrm>
        <a:graphic>
          <a:graphicData uri="http://schemas.openxmlformats.org/drawingml/2006/table">
            <a:tbl>
              <a:tblPr>
                <a:noFill/>
                <a:tableStyleId>{82F02BAC-1DF1-40B7-A9D4-DD83D593F75C}</a:tableStyleId>
              </a:tblPr>
              <a:tblGrid>
                <a:gridCol w="394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What could have gone better? What are your areas of focus for next time?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7550"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dirty="0"/>
                        <a:t>Hand gesture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endParaRPr lang="en-US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722</Words>
  <Application>Microsoft Macintosh PowerPoint</Application>
  <PresentationFormat>On-screen Show (16:9)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Courier New</vt:lpstr>
      <vt:lpstr>DM Sans</vt:lpstr>
      <vt:lpstr>Times New Roman</vt:lpstr>
      <vt:lpstr>Simple Light</vt:lpstr>
      <vt:lpstr>Report on advisory service given to improve the Customer &amp; Operations and Transformation services</vt:lpstr>
      <vt:lpstr>Executive summary</vt:lpstr>
      <vt:lpstr>Insights of Data Analysis </vt:lpstr>
      <vt:lpstr>Best practices found in the research </vt:lpstr>
      <vt:lpstr>To improve patient experience, including (but not limited to) patient wait times.</vt:lpstr>
      <vt:lpstr>Self-reflection form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 title</dc:title>
  <cp:lastModifiedBy>rishumandal01@gmail.com</cp:lastModifiedBy>
  <cp:revision>4</cp:revision>
  <dcterms:modified xsi:type="dcterms:W3CDTF">2025-05-02T17:37:33Z</dcterms:modified>
</cp:coreProperties>
</file>