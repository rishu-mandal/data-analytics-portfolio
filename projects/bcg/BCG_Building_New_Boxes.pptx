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5403E0-DBA2-472D-B42A-28A8DA74AA83}">
  <a:tblStyle styleId="{BB5403E0-DBA2-472D-B42A-28A8DA74AA8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9"/>
  </p:normalViewPr>
  <p:slideViewPr>
    <p:cSldViewPr snapToGrid="0">
      <p:cViewPr varScale="1">
        <p:scale>
          <a:sx n="162" d="100"/>
          <a:sy n="162" d="100"/>
        </p:scale>
        <p:origin x="200" y="32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49b1f21fec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149b1f21fe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49e542a77f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49e542a77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49e542a77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49e542a77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49e542a77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49e542a77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49e542a77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49e542a77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49e542a77f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49e542a77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49e542a77f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49e542a77f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779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rgbClr val="00754B"/>
              </a:buClr>
              <a:buSzPts val="5200"/>
              <a:buNone/>
              <a:defRPr sz="5200" b="1">
                <a:solidFill>
                  <a:srgbClr val="00754B"/>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3675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3" name="Google Shape;13;p2"/>
          <p:cNvSpPr/>
          <p:nvPr/>
        </p:nvSpPr>
        <p:spPr>
          <a:xfrm>
            <a:off x="-75" y="4172200"/>
            <a:ext cx="9144000" cy="971400"/>
          </a:xfrm>
          <a:prstGeom prst="rect">
            <a:avLst/>
          </a:prstGeom>
          <a:solidFill>
            <a:srgbClr val="00754B"/>
          </a:solidFill>
          <a:ln w="9525" cap="flat" cmpd="sng">
            <a:solidFill>
              <a:srgbClr val="00754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14;p2"/>
          <p:cNvPicPr preferRelativeResize="0"/>
          <p:nvPr/>
        </p:nvPicPr>
        <p:blipFill>
          <a:blip r:embed="rId2">
            <a:alphaModFix/>
          </a:blip>
          <a:stretch>
            <a:fillRect/>
          </a:stretch>
        </p:blipFill>
        <p:spPr>
          <a:xfrm>
            <a:off x="7402675" y="4338418"/>
            <a:ext cx="1618475" cy="660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21" name="Google Shape;21;p4"/>
          <p:cNvPicPr preferRelativeResize="0"/>
          <p:nvPr/>
        </p:nvPicPr>
        <p:blipFill>
          <a:blip r:embed="rId2">
            <a:alphaModFix/>
          </a:blip>
          <a:stretch>
            <a:fillRect/>
          </a:stretch>
        </p:blipFill>
        <p:spPr>
          <a:xfrm>
            <a:off x="8543075" y="4838625"/>
            <a:ext cx="501600" cy="2030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6" name="Google Shape;36;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0" name="Google Shape;4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1F1F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rgbClr val="00754B"/>
              </a:buClr>
              <a:buSzPts val="2800"/>
              <a:buFont typeface="Georgia"/>
              <a:buNone/>
              <a:defRPr sz="2800" b="1">
                <a:solidFill>
                  <a:srgbClr val="00754B"/>
                </a:solidFill>
                <a:latin typeface="Georgia"/>
                <a:ea typeface="Georgia"/>
                <a:cs typeface="Georgia"/>
                <a:sym typeface="Georgia"/>
              </a:defRPr>
            </a:lvl1pPr>
            <a:lvl2pPr lvl="1">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2pPr>
            <a:lvl3pPr lvl="2">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3pPr>
            <a:lvl4pPr lvl="3">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4pPr>
            <a:lvl5pPr lvl="4">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5pPr>
            <a:lvl6pPr lvl="5">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6pPr>
            <a:lvl7pPr lvl="6">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7pPr>
            <a:lvl8pPr lvl="7">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8pPr>
            <a:lvl9pPr lvl="8">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Georgia"/>
              <a:buChar char="●"/>
              <a:defRPr sz="1800">
                <a:solidFill>
                  <a:schemeClr val="dk1"/>
                </a:solidFill>
                <a:latin typeface="Georgia"/>
                <a:ea typeface="Georgia"/>
                <a:cs typeface="Georgia"/>
                <a:sym typeface="Georgia"/>
              </a:defRPr>
            </a:lvl1pPr>
            <a:lvl2pPr marL="914400" lvl="1"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2pPr>
            <a:lvl3pPr marL="1371600" lvl="2"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3pPr>
            <a:lvl4pPr marL="1828800" lvl="3"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4pPr>
            <a:lvl5pPr marL="2286000" lvl="4"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5pPr>
            <a:lvl6pPr marL="2743200" lvl="5"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6pPr>
            <a:lvl7pPr marL="3200400" lvl="6"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7pPr>
            <a:lvl8pPr marL="3657600" lvl="7"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8pPr>
            <a:lvl9pPr marL="4114800" lvl="8"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www.bcg.com/publications/2013/innovation-strategic-planning-building-new-boxes"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387900" y="2140100"/>
            <a:ext cx="5143200" cy="205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GB" sz="7080">
                <a:solidFill>
                  <a:srgbClr val="1A7A56"/>
                </a:solidFill>
                <a:latin typeface="Times New Roman"/>
                <a:ea typeface="Times New Roman"/>
                <a:cs typeface="Times New Roman"/>
                <a:sym typeface="Times New Roman"/>
              </a:rPr>
              <a:t>Building new boxes</a:t>
            </a:r>
            <a:endParaRPr sz="7080">
              <a:solidFill>
                <a:srgbClr val="1A7A56"/>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33651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78571"/>
              <a:buFont typeface="Arial"/>
              <a:buNone/>
            </a:pPr>
            <a:r>
              <a:rPr lang="en-GB"/>
              <a:t>We are going to discuss effective brainstorming. Start by reviewing this article on the BCG website:</a:t>
            </a:r>
            <a:endParaRPr sz="1400" b="0">
              <a:solidFill>
                <a:srgbClr val="000000"/>
              </a:solidFill>
            </a:endParaRPr>
          </a:p>
        </p:txBody>
      </p:sp>
      <p:grpSp>
        <p:nvGrpSpPr>
          <p:cNvPr id="62" name="Google Shape;62;p14"/>
          <p:cNvGrpSpPr/>
          <p:nvPr/>
        </p:nvGrpSpPr>
        <p:grpSpPr>
          <a:xfrm>
            <a:off x="3043776" y="230500"/>
            <a:ext cx="6100226" cy="4577524"/>
            <a:chOff x="3357568" y="1322523"/>
            <a:chExt cx="4532114" cy="3400835"/>
          </a:xfrm>
        </p:grpSpPr>
        <p:pic>
          <p:nvPicPr>
            <p:cNvPr id="63" name="Google Shape;63;p14"/>
            <p:cNvPicPr preferRelativeResize="0"/>
            <p:nvPr/>
          </p:nvPicPr>
          <p:blipFill rotWithShape="1">
            <a:blip r:embed="rId3">
              <a:alphaModFix/>
            </a:blip>
            <a:srcRect r="20873"/>
            <a:stretch/>
          </p:blipFill>
          <p:spPr>
            <a:xfrm>
              <a:off x="3357568" y="1322523"/>
              <a:ext cx="4532114" cy="3400835"/>
            </a:xfrm>
            <a:prstGeom prst="rect">
              <a:avLst/>
            </a:prstGeom>
            <a:noFill/>
            <a:ln>
              <a:noFill/>
            </a:ln>
          </p:spPr>
        </p:pic>
        <p:pic>
          <p:nvPicPr>
            <p:cNvPr id="64" name="Google Shape;64;p14"/>
            <p:cNvPicPr preferRelativeResize="0"/>
            <p:nvPr/>
          </p:nvPicPr>
          <p:blipFill rotWithShape="1">
            <a:blip r:embed="rId4">
              <a:alphaModFix/>
            </a:blip>
            <a:srcRect r="11940"/>
            <a:stretch/>
          </p:blipFill>
          <p:spPr>
            <a:xfrm>
              <a:off x="4019696" y="1523934"/>
              <a:ext cx="3869983" cy="2746656"/>
            </a:xfrm>
            <a:prstGeom prst="rect">
              <a:avLst/>
            </a:prstGeom>
            <a:noFill/>
            <a:ln>
              <a:noFill/>
            </a:ln>
          </p:spPr>
        </p:pic>
      </p:grpSp>
      <p:sp>
        <p:nvSpPr>
          <p:cNvPr id="65" name="Google Shape;65;p14"/>
          <p:cNvSpPr txBox="1"/>
          <p:nvPr/>
        </p:nvSpPr>
        <p:spPr>
          <a:xfrm>
            <a:off x="307500" y="3190250"/>
            <a:ext cx="3306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500" u="sng">
                <a:solidFill>
                  <a:schemeClr val="hlink"/>
                </a:solidFill>
                <a:latin typeface="Georgia"/>
                <a:ea typeface="Georgia"/>
                <a:cs typeface="Georgia"/>
                <a:sym typeface="Georgia"/>
                <a:hlinkClick r:id="rId5"/>
              </a:rPr>
              <a:t>Building New Boxes: How to Run Brainstorming Sessions That Work</a:t>
            </a:r>
            <a:endParaRPr sz="1500">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a:t>The article offers five suggestions to achieve real, valuable insights from brainstorming</a:t>
            </a:r>
            <a:endParaRPr/>
          </a:p>
          <a:p>
            <a:pPr marL="0" lvl="0" indent="0" algn="l" rtl="0">
              <a:spcBef>
                <a:spcPts val="0"/>
              </a:spcBef>
              <a:spcAft>
                <a:spcPts val="0"/>
              </a:spcAft>
              <a:buClr>
                <a:schemeClr val="dk1"/>
              </a:buClr>
              <a:buSzPct val="85344"/>
              <a:buFont typeface="Arial"/>
              <a:buNone/>
            </a:pPr>
            <a:r>
              <a:rPr lang="en-GB" sz="1288" b="0">
                <a:solidFill>
                  <a:schemeClr val="dk1"/>
                </a:solidFill>
              </a:rPr>
              <a:t>We will focus on three of these in today’s task (as well as the brainstorming itself), highlighted in </a:t>
            </a:r>
            <a:r>
              <a:rPr lang="en-GB" sz="1288" b="0">
                <a:solidFill>
                  <a:schemeClr val="dk1"/>
                </a:solidFill>
                <a:highlight>
                  <a:srgbClr val="D9EAD3"/>
                </a:highlight>
              </a:rPr>
              <a:t>green</a:t>
            </a:r>
            <a:endParaRPr>
              <a:highlight>
                <a:srgbClr val="D9EAD3"/>
              </a:highlight>
            </a:endParaRPr>
          </a:p>
        </p:txBody>
      </p:sp>
      <p:grpSp>
        <p:nvGrpSpPr>
          <p:cNvPr id="71" name="Google Shape;71;p15"/>
          <p:cNvGrpSpPr/>
          <p:nvPr/>
        </p:nvGrpSpPr>
        <p:grpSpPr>
          <a:xfrm>
            <a:off x="0" y="3094625"/>
            <a:ext cx="9144000" cy="2042981"/>
            <a:chOff x="2728163" y="1425773"/>
            <a:chExt cx="4854276" cy="1084558"/>
          </a:xfrm>
        </p:grpSpPr>
        <p:pic>
          <p:nvPicPr>
            <p:cNvPr id="72" name="Google Shape;72;p15"/>
            <p:cNvPicPr preferRelativeResize="0"/>
            <p:nvPr/>
          </p:nvPicPr>
          <p:blipFill rotWithShape="1">
            <a:blip r:embed="rId3">
              <a:alphaModFix/>
            </a:blip>
            <a:srcRect l="7619" r="7627" b="68108"/>
            <a:stretch/>
          </p:blipFill>
          <p:spPr>
            <a:xfrm>
              <a:off x="2728163" y="1425773"/>
              <a:ext cx="4854276" cy="1084555"/>
            </a:xfrm>
            <a:prstGeom prst="rect">
              <a:avLst/>
            </a:prstGeom>
            <a:noFill/>
            <a:ln>
              <a:noFill/>
            </a:ln>
          </p:spPr>
        </p:pic>
        <p:pic>
          <p:nvPicPr>
            <p:cNvPr id="73" name="Google Shape;73;p15"/>
            <p:cNvPicPr preferRelativeResize="0"/>
            <p:nvPr/>
          </p:nvPicPr>
          <p:blipFill rotWithShape="1">
            <a:blip r:embed="rId4">
              <a:alphaModFix/>
            </a:blip>
            <a:srcRect t="14908" b="53139"/>
            <a:stretch/>
          </p:blipFill>
          <p:spPr>
            <a:xfrm>
              <a:off x="2943678" y="1632695"/>
              <a:ext cx="4414807" cy="877635"/>
            </a:xfrm>
            <a:prstGeom prst="rect">
              <a:avLst/>
            </a:prstGeom>
            <a:noFill/>
            <a:ln>
              <a:noFill/>
            </a:ln>
          </p:spPr>
        </p:pic>
      </p:grpSp>
      <p:sp>
        <p:nvSpPr>
          <p:cNvPr id="74" name="Google Shape;74;p15"/>
          <p:cNvSpPr/>
          <p:nvPr/>
        </p:nvSpPr>
        <p:spPr>
          <a:xfrm>
            <a:off x="65700" y="3082150"/>
            <a:ext cx="9019800" cy="2067900"/>
          </a:xfrm>
          <a:prstGeom prst="rect">
            <a:avLst/>
          </a:prstGeom>
          <a:solidFill>
            <a:srgbClr val="EEEEEE">
              <a:alpha val="7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 name="Google Shape;75;p15"/>
          <p:cNvPicPr preferRelativeResize="0"/>
          <p:nvPr/>
        </p:nvPicPr>
        <p:blipFill>
          <a:blip r:embed="rId5">
            <a:alphaModFix/>
          </a:blip>
          <a:stretch>
            <a:fillRect/>
          </a:stretch>
        </p:blipFill>
        <p:spPr>
          <a:xfrm>
            <a:off x="8543075" y="4838625"/>
            <a:ext cx="501600" cy="203025"/>
          </a:xfrm>
          <a:prstGeom prst="rect">
            <a:avLst/>
          </a:prstGeom>
          <a:noFill/>
          <a:ln>
            <a:noFill/>
          </a:ln>
        </p:spPr>
      </p:pic>
      <p:sp>
        <p:nvSpPr>
          <p:cNvPr id="76" name="Google Shape;76;p15"/>
          <p:cNvSpPr/>
          <p:nvPr/>
        </p:nvSpPr>
        <p:spPr>
          <a:xfrm>
            <a:off x="441150" y="1822028"/>
            <a:ext cx="1201500" cy="901200"/>
          </a:xfrm>
          <a:prstGeom prst="rect">
            <a:avLst/>
          </a:prstGeom>
          <a:solidFill>
            <a:srgbClr val="D9EAD3"/>
          </a:solidFill>
          <a:ln w="38100" cap="flat" cmpd="sng">
            <a:solidFill>
              <a:srgbClr val="00754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00754B"/>
                </a:solidFill>
                <a:latin typeface="Georgia"/>
                <a:ea typeface="Georgia"/>
                <a:cs typeface="Georgia"/>
                <a:sym typeface="Georgia"/>
              </a:rPr>
              <a:t>1. </a:t>
            </a:r>
            <a:endParaRPr sz="1600" b="1">
              <a:solidFill>
                <a:srgbClr val="00754B"/>
              </a:solidFill>
              <a:latin typeface="Georgia"/>
              <a:ea typeface="Georgia"/>
              <a:cs typeface="Georgia"/>
              <a:sym typeface="Georgia"/>
            </a:endParaRPr>
          </a:p>
          <a:p>
            <a:pPr marL="0" lvl="0" indent="0" algn="l" rtl="0">
              <a:spcBef>
                <a:spcPts val="0"/>
              </a:spcBef>
              <a:spcAft>
                <a:spcPts val="0"/>
              </a:spcAft>
              <a:buNone/>
            </a:pPr>
            <a:r>
              <a:rPr lang="en-GB" sz="1100" b="1">
                <a:solidFill>
                  <a:schemeClr val="dk1"/>
                </a:solidFill>
                <a:latin typeface="Georgia"/>
                <a:ea typeface="Georgia"/>
                <a:cs typeface="Georgia"/>
                <a:sym typeface="Georgia"/>
              </a:rPr>
              <a:t>Frame the question effectively</a:t>
            </a:r>
            <a:endParaRPr b="1"/>
          </a:p>
        </p:txBody>
      </p:sp>
      <p:sp>
        <p:nvSpPr>
          <p:cNvPr id="77" name="Google Shape;77;p15"/>
          <p:cNvSpPr/>
          <p:nvPr/>
        </p:nvSpPr>
        <p:spPr>
          <a:xfrm>
            <a:off x="1989245" y="1822028"/>
            <a:ext cx="1201500" cy="901200"/>
          </a:xfrm>
          <a:prstGeom prst="rect">
            <a:avLst/>
          </a:prstGeom>
          <a:noFill/>
          <a:ln w="19050" cap="flat" cmpd="sng">
            <a:solidFill>
              <a:srgbClr val="00754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00754B"/>
                </a:solidFill>
                <a:latin typeface="Georgia"/>
                <a:ea typeface="Georgia"/>
                <a:cs typeface="Georgia"/>
                <a:sym typeface="Georgia"/>
              </a:rPr>
              <a:t>2. </a:t>
            </a:r>
            <a:endParaRPr sz="1600" b="1">
              <a:solidFill>
                <a:srgbClr val="00754B"/>
              </a:solidFill>
              <a:latin typeface="Georgia"/>
              <a:ea typeface="Georgia"/>
              <a:cs typeface="Georgia"/>
              <a:sym typeface="Georgia"/>
            </a:endParaRPr>
          </a:p>
          <a:p>
            <a:pPr marL="0" lvl="0" indent="0" algn="l" rtl="0">
              <a:spcBef>
                <a:spcPts val="0"/>
              </a:spcBef>
              <a:spcAft>
                <a:spcPts val="0"/>
              </a:spcAft>
              <a:buNone/>
            </a:pPr>
            <a:r>
              <a:rPr lang="en-GB" sz="1100" b="1">
                <a:solidFill>
                  <a:schemeClr val="dk1"/>
                </a:solidFill>
                <a:latin typeface="Georgia"/>
                <a:ea typeface="Georgia"/>
                <a:cs typeface="Georgia"/>
                <a:sym typeface="Georgia"/>
              </a:rPr>
              <a:t>Create creativity conditions</a:t>
            </a:r>
            <a:endParaRPr b="1"/>
          </a:p>
        </p:txBody>
      </p:sp>
      <p:sp>
        <p:nvSpPr>
          <p:cNvPr id="78" name="Google Shape;78;p15"/>
          <p:cNvSpPr/>
          <p:nvPr/>
        </p:nvSpPr>
        <p:spPr>
          <a:xfrm>
            <a:off x="3537340" y="1822028"/>
            <a:ext cx="1201500" cy="901200"/>
          </a:xfrm>
          <a:prstGeom prst="rect">
            <a:avLst/>
          </a:prstGeom>
          <a:solidFill>
            <a:srgbClr val="D9EAD3"/>
          </a:solidFill>
          <a:ln w="38100" cap="flat" cmpd="sng">
            <a:solidFill>
              <a:srgbClr val="00754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00754B"/>
                </a:solidFill>
                <a:latin typeface="Georgia"/>
                <a:ea typeface="Georgia"/>
                <a:cs typeface="Georgia"/>
                <a:sym typeface="Georgia"/>
              </a:rPr>
              <a:t>3. </a:t>
            </a:r>
            <a:endParaRPr sz="1600" b="1">
              <a:solidFill>
                <a:srgbClr val="00754B"/>
              </a:solidFill>
              <a:latin typeface="Georgia"/>
              <a:ea typeface="Georgia"/>
              <a:cs typeface="Georgia"/>
              <a:sym typeface="Georgia"/>
            </a:endParaRPr>
          </a:p>
          <a:p>
            <a:pPr marL="0" lvl="0" indent="0" algn="l" rtl="0">
              <a:spcBef>
                <a:spcPts val="0"/>
              </a:spcBef>
              <a:spcAft>
                <a:spcPts val="0"/>
              </a:spcAft>
              <a:buNone/>
            </a:pPr>
            <a:r>
              <a:rPr lang="en-GB" sz="1100" b="1">
                <a:solidFill>
                  <a:schemeClr val="dk1"/>
                </a:solidFill>
                <a:latin typeface="Georgia"/>
                <a:ea typeface="Georgia"/>
                <a:cs typeface="Georgia"/>
                <a:sym typeface="Georgia"/>
              </a:rPr>
              <a:t>Reveal and doubt your boxes</a:t>
            </a:r>
            <a:endParaRPr b="1"/>
          </a:p>
        </p:txBody>
      </p:sp>
      <p:sp>
        <p:nvSpPr>
          <p:cNvPr id="79" name="Google Shape;79;p15"/>
          <p:cNvSpPr/>
          <p:nvPr/>
        </p:nvSpPr>
        <p:spPr>
          <a:xfrm>
            <a:off x="5085435" y="1822028"/>
            <a:ext cx="1201500" cy="901200"/>
          </a:xfrm>
          <a:prstGeom prst="rect">
            <a:avLst/>
          </a:prstGeom>
          <a:solidFill>
            <a:srgbClr val="D9EAD3"/>
          </a:solidFill>
          <a:ln w="38100" cap="flat" cmpd="sng">
            <a:solidFill>
              <a:srgbClr val="00754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00754B"/>
                </a:solidFill>
                <a:latin typeface="Georgia"/>
                <a:ea typeface="Georgia"/>
                <a:cs typeface="Georgia"/>
                <a:sym typeface="Georgia"/>
              </a:rPr>
              <a:t>4. </a:t>
            </a:r>
            <a:endParaRPr sz="1600" b="1">
              <a:solidFill>
                <a:srgbClr val="00754B"/>
              </a:solidFill>
              <a:latin typeface="Georgia"/>
              <a:ea typeface="Georgia"/>
              <a:cs typeface="Georgia"/>
              <a:sym typeface="Georgia"/>
            </a:endParaRPr>
          </a:p>
          <a:p>
            <a:pPr marL="0" lvl="0" indent="0" algn="l" rtl="0">
              <a:spcBef>
                <a:spcPts val="0"/>
              </a:spcBef>
              <a:spcAft>
                <a:spcPts val="0"/>
              </a:spcAft>
              <a:buNone/>
            </a:pPr>
            <a:r>
              <a:rPr lang="en-GB" sz="1100" b="1">
                <a:solidFill>
                  <a:schemeClr val="dk1"/>
                </a:solidFill>
                <a:latin typeface="Georgia"/>
                <a:ea typeface="Georgia"/>
                <a:cs typeface="Georgia"/>
                <a:sym typeface="Georgia"/>
              </a:rPr>
              <a:t>Bring new boxes</a:t>
            </a:r>
            <a:endParaRPr b="1"/>
          </a:p>
        </p:txBody>
      </p:sp>
      <p:sp>
        <p:nvSpPr>
          <p:cNvPr id="80" name="Google Shape;80;p15"/>
          <p:cNvSpPr/>
          <p:nvPr/>
        </p:nvSpPr>
        <p:spPr>
          <a:xfrm>
            <a:off x="7449925" y="1822028"/>
            <a:ext cx="1201500" cy="901200"/>
          </a:xfrm>
          <a:prstGeom prst="rect">
            <a:avLst/>
          </a:prstGeom>
          <a:noFill/>
          <a:ln w="19050" cap="flat" cmpd="sng">
            <a:solidFill>
              <a:srgbClr val="00754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00754B"/>
                </a:solidFill>
                <a:latin typeface="Georgia"/>
                <a:ea typeface="Georgia"/>
                <a:cs typeface="Georgia"/>
                <a:sym typeface="Georgia"/>
              </a:rPr>
              <a:t>5. </a:t>
            </a:r>
            <a:endParaRPr sz="1600" b="1">
              <a:solidFill>
                <a:srgbClr val="00754B"/>
              </a:solidFill>
              <a:latin typeface="Georgia"/>
              <a:ea typeface="Georgia"/>
              <a:cs typeface="Georgia"/>
              <a:sym typeface="Georgia"/>
            </a:endParaRPr>
          </a:p>
          <a:p>
            <a:pPr marL="0" lvl="0" indent="0" algn="l" rtl="0">
              <a:spcBef>
                <a:spcPts val="0"/>
              </a:spcBef>
              <a:spcAft>
                <a:spcPts val="0"/>
              </a:spcAft>
              <a:buNone/>
            </a:pPr>
            <a:r>
              <a:rPr lang="en-GB" sz="1100" b="1">
                <a:solidFill>
                  <a:schemeClr val="dk1"/>
                </a:solidFill>
                <a:latin typeface="Georgia"/>
                <a:ea typeface="Georgia"/>
                <a:cs typeface="Georgia"/>
                <a:sym typeface="Georgia"/>
              </a:rPr>
              <a:t>Follow up</a:t>
            </a:r>
            <a:endParaRPr b="1"/>
          </a:p>
        </p:txBody>
      </p:sp>
      <p:sp>
        <p:nvSpPr>
          <p:cNvPr id="81" name="Google Shape;81;p15"/>
          <p:cNvSpPr/>
          <p:nvPr/>
        </p:nvSpPr>
        <p:spPr>
          <a:xfrm rot="-5400000">
            <a:off x="5507025" y="2944275"/>
            <a:ext cx="2722800" cy="469800"/>
          </a:xfrm>
          <a:prstGeom prst="rect">
            <a:avLst/>
          </a:prstGeom>
          <a:solidFill>
            <a:srgbClr val="D9EAD3"/>
          </a:solidFill>
          <a:ln w="38100" cap="flat" cmpd="sng">
            <a:solidFill>
              <a:srgbClr val="00754B"/>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GB" sz="1100" b="1">
                <a:latin typeface="Georgia"/>
                <a:ea typeface="Georgia"/>
                <a:cs typeface="Georgia"/>
                <a:sym typeface="Georgia"/>
              </a:rPr>
              <a:t>Brainstorm</a:t>
            </a:r>
            <a:endParaRPr sz="1100" b="1">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311700" y="445025"/>
            <a:ext cx="4968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Your task</a:t>
            </a:r>
            <a:endParaRPr/>
          </a:p>
        </p:txBody>
      </p:sp>
      <p:sp>
        <p:nvSpPr>
          <p:cNvPr id="87" name="Google Shape;87;p16"/>
          <p:cNvSpPr txBox="1">
            <a:spLocks noGrp="1"/>
          </p:cNvSpPr>
          <p:nvPr>
            <p:ph type="body" idx="1"/>
          </p:nvPr>
        </p:nvSpPr>
        <p:spPr>
          <a:xfrm>
            <a:off x="311700" y="1152475"/>
            <a:ext cx="4968000" cy="3404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dirty="0"/>
              <a:t>BCG has been brought in to help </a:t>
            </a:r>
            <a:r>
              <a:rPr lang="en-GB" dirty="0" err="1"/>
              <a:t>ClothingCo</a:t>
            </a:r>
            <a:r>
              <a:rPr lang="en-GB" dirty="0"/>
              <a:t>, a luxury clothing brand, grow their top line (i.e., increase revenue) after a period of declining sales.</a:t>
            </a:r>
            <a:endParaRPr dirty="0"/>
          </a:p>
          <a:p>
            <a:pPr marL="0" lvl="0" indent="0" algn="l" rtl="0">
              <a:spcBef>
                <a:spcPts val="1200"/>
              </a:spcBef>
              <a:spcAft>
                <a:spcPts val="0"/>
              </a:spcAft>
              <a:buNone/>
            </a:pPr>
            <a:r>
              <a:rPr lang="en-GB" dirty="0"/>
              <a:t>The client is gearing up for the winter season. Imagine that you are a strategy consultant working on the project. </a:t>
            </a:r>
            <a:endParaRPr dirty="0"/>
          </a:p>
          <a:p>
            <a:pPr marL="0" lvl="0" indent="0" algn="l" rtl="0">
              <a:spcBef>
                <a:spcPts val="1200"/>
              </a:spcBef>
              <a:spcAft>
                <a:spcPts val="1200"/>
              </a:spcAft>
              <a:buNone/>
            </a:pPr>
            <a:r>
              <a:rPr lang="en-GB" dirty="0"/>
              <a:t>You will enter your responses in the </a:t>
            </a:r>
            <a:r>
              <a:rPr lang="en-GB" dirty="0">
                <a:highlight>
                  <a:srgbClr val="D9EAD3"/>
                </a:highlight>
              </a:rPr>
              <a:t>green boxes</a:t>
            </a:r>
            <a:r>
              <a:rPr lang="en-GB" dirty="0"/>
              <a:t> throughout the remaining slides.</a:t>
            </a:r>
            <a:endParaRPr dirty="0"/>
          </a:p>
        </p:txBody>
      </p:sp>
      <p:pic>
        <p:nvPicPr>
          <p:cNvPr id="88" name="Google Shape;88;p16"/>
          <p:cNvPicPr preferRelativeResize="0"/>
          <p:nvPr/>
        </p:nvPicPr>
        <p:blipFill rotWithShape="1">
          <a:blip r:embed="rId3">
            <a:alphaModFix/>
          </a:blip>
          <a:srcRect l="18694" r="28941"/>
          <a:stretch/>
        </p:blipFill>
        <p:spPr>
          <a:xfrm>
            <a:off x="5393750" y="0"/>
            <a:ext cx="3750252" cy="47768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Frame the question effectively</a:t>
            </a:r>
            <a:endParaRPr/>
          </a:p>
        </p:txBody>
      </p:sp>
      <p:sp>
        <p:nvSpPr>
          <p:cNvPr id="94" name="Google Shape;94;p17"/>
          <p:cNvSpPr txBox="1">
            <a:spLocks noGrp="1"/>
          </p:cNvSpPr>
          <p:nvPr>
            <p:ph type="body" idx="1"/>
          </p:nvPr>
        </p:nvSpPr>
        <p:spPr>
          <a:xfrm>
            <a:off x="311700" y="1829625"/>
            <a:ext cx="5575500" cy="20535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GB" sz="2952" i="1"/>
              <a:t>“If I were given one hour to save the planet, I would spend fifty-nine minutes defining the problem and one minute resolving it.” </a:t>
            </a:r>
            <a:endParaRPr sz="2952" i="1"/>
          </a:p>
          <a:p>
            <a:pPr marL="0" lvl="0" indent="0" algn="r" rtl="0">
              <a:spcBef>
                <a:spcPts val="1200"/>
              </a:spcBef>
              <a:spcAft>
                <a:spcPts val="1200"/>
              </a:spcAft>
              <a:buNone/>
            </a:pPr>
            <a:r>
              <a:rPr lang="en-GB" b="1"/>
              <a:t>– Albert Einstein</a:t>
            </a:r>
            <a:endParaRPr/>
          </a:p>
        </p:txBody>
      </p:sp>
      <p:sp>
        <p:nvSpPr>
          <p:cNvPr id="95" name="Google Shape;95;p17"/>
          <p:cNvSpPr/>
          <p:nvPr/>
        </p:nvSpPr>
        <p:spPr>
          <a:xfrm>
            <a:off x="6147800" y="0"/>
            <a:ext cx="2996100" cy="47682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dirty="0">
                <a:solidFill>
                  <a:srgbClr val="00754B"/>
                </a:solidFill>
                <a:latin typeface="Georgia"/>
                <a:ea typeface="Georgia"/>
                <a:cs typeface="Georgia"/>
                <a:sym typeface="Georgia"/>
              </a:rPr>
              <a:t>Question to be reframed</a:t>
            </a:r>
            <a:endParaRPr sz="1200" b="1" dirty="0">
              <a:solidFill>
                <a:srgbClr val="00754B"/>
              </a:solidFill>
              <a:latin typeface="Georgia"/>
              <a:ea typeface="Georgia"/>
              <a:cs typeface="Georgia"/>
              <a:sym typeface="Georgia"/>
            </a:endParaRPr>
          </a:p>
          <a:p>
            <a:pPr marL="0" lvl="0" indent="0" algn="ctr" rtl="0">
              <a:spcBef>
                <a:spcPts val="0"/>
              </a:spcBef>
              <a:spcAft>
                <a:spcPts val="0"/>
              </a:spcAft>
              <a:buNone/>
            </a:pPr>
            <a:r>
              <a:rPr lang="en-GB" sz="1200" dirty="0">
                <a:latin typeface="Georgia"/>
                <a:ea typeface="Georgia"/>
                <a:cs typeface="Georgia"/>
                <a:sym typeface="Georgia"/>
              </a:rPr>
              <a:t>How could we sell more outerwear this winter season?</a:t>
            </a:r>
            <a:endParaRPr sz="1200" dirty="0">
              <a:latin typeface="Georgia"/>
              <a:ea typeface="Georgia"/>
              <a:cs typeface="Georgia"/>
              <a:sym typeface="Georgia"/>
            </a:endParaRPr>
          </a:p>
          <a:p>
            <a:pPr marL="0" lvl="0" indent="0" algn="ctr" rtl="0">
              <a:spcBef>
                <a:spcPts val="0"/>
              </a:spcBef>
              <a:spcAft>
                <a:spcPts val="0"/>
              </a:spcAft>
              <a:buNone/>
            </a:pPr>
            <a:endParaRPr sz="1200" dirty="0">
              <a:latin typeface="Georgia"/>
              <a:ea typeface="Georgia"/>
              <a:cs typeface="Georgia"/>
              <a:sym typeface="Georgia"/>
            </a:endParaRPr>
          </a:p>
          <a:p>
            <a:pPr marL="0" lvl="0" indent="0" algn="ctr" rtl="0">
              <a:spcBef>
                <a:spcPts val="0"/>
              </a:spcBef>
              <a:spcAft>
                <a:spcPts val="0"/>
              </a:spcAft>
              <a:buNone/>
            </a:pPr>
            <a:r>
              <a:rPr lang="en-GB" sz="1200" dirty="0">
                <a:latin typeface="Georgia"/>
                <a:ea typeface="Georgia"/>
                <a:cs typeface="Georgia"/>
                <a:sym typeface="Georgia"/>
              </a:rPr>
              <a:t>–</a:t>
            </a:r>
            <a:endParaRPr sz="1200" dirty="0">
              <a:latin typeface="Georgia"/>
              <a:ea typeface="Georgia"/>
              <a:cs typeface="Georgia"/>
              <a:sym typeface="Georgia"/>
            </a:endParaRPr>
          </a:p>
          <a:p>
            <a:pPr marL="0" lvl="0" indent="0" algn="ctr" rtl="0">
              <a:spcBef>
                <a:spcPts val="0"/>
              </a:spcBef>
              <a:spcAft>
                <a:spcPts val="0"/>
              </a:spcAft>
              <a:buNone/>
            </a:pPr>
            <a:endParaRPr sz="1200" dirty="0">
              <a:latin typeface="Georgia"/>
              <a:ea typeface="Georgia"/>
              <a:cs typeface="Georgia"/>
              <a:sym typeface="Georgia"/>
            </a:endParaRPr>
          </a:p>
          <a:p>
            <a:pPr marL="0" lvl="0" indent="0" algn="ctr" rtl="0">
              <a:spcBef>
                <a:spcPts val="0"/>
              </a:spcBef>
              <a:spcAft>
                <a:spcPts val="0"/>
              </a:spcAft>
              <a:buClr>
                <a:schemeClr val="dk1"/>
              </a:buClr>
              <a:buSzPts val="1100"/>
              <a:buFont typeface="Arial"/>
              <a:buNone/>
            </a:pPr>
            <a:r>
              <a:rPr lang="en-GB" sz="1200" b="1" dirty="0">
                <a:solidFill>
                  <a:srgbClr val="00754B"/>
                </a:solidFill>
                <a:latin typeface="Georgia"/>
                <a:ea typeface="Georgia"/>
                <a:cs typeface="Georgia"/>
                <a:sym typeface="Georgia"/>
              </a:rPr>
              <a:t>Revised, effective questions:</a:t>
            </a:r>
            <a:endParaRPr sz="1200" dirty="0">
              <a:latin typeface="Georgia"/>
              <a:ea typeface="Georgia"/>
              <a:cs typeface="Georgia"/>
              <a:sym typeface="Georgia"/>
            </a:endParaRPr>
          </a:p>
          <a:p>
            <a:pPr marL="457200" lvl="0" indent="-304800" algn="ctr" rtl="0">
              <a:spcBef>
                <a:spcPts val="0"/>
              </a:spcBef>
              <a:spcAft>
                <a:spcPts val="0"/>
              </a:spcAft>
              <a:buSzPts val="1200"/>
              <a:buFont typeface="Georgia"/>
              <a:buAutoNum type="arabicPeriod"/>
            </a:pPr>
            <a:r>
              <a:rPr lang="en-GB" sz="1200" dirty="0">
                <a:latin typeface="Georgia"/>
                <a:ea typeface="Georgia"/>
                <a:cs typeface="Georgia"/>
                <a:sym typeface="Georgia"/>
              </a:rPr>
              <a:t>[How could we be the statement of luxury itself to the premium customers this winter season? ]</a:t>
            </a:r>
            <a:endParaRPr sz="1200" dirty="0">
              <a:latin typeface="Georgia"/>
              <a:ea typeface="Georgia"/>
              <a:cs typeface="Georgia"/>
              <a:sym typeface="Georgia"/>
            </a:endParaRPr>
          </a:p>
          <a:p>
            <a:pPr marL="457200" lvl="0" indent="-304800" algn="ctr">
              <a:buSzPts val="1200"/>
              <a:buFont typeface="Georgia"/>
              <a:buAutoNum type="arabicPeriod"/>
            </a:pPr>
            <a:r>
              <a:rPr lang="en-GB" sz="1200" dirty="0">
                <a:solidFill>
                  <a:schemeClr val="dk1"/>
                </a:solidFill>
                <a:latin typeface="Georgia"/>
                <a:ea typeface="Georgia"/>
                <a:cs typeface="Georgia"/>
                <a:sym typeface="Georgia"/>
              </a:rPr>
              <a:t>[What if we advertise ourselves as not only luxurious but also a future investment for the next generation?]</a:t>
            </a:r>
            <a:endParaRPr sz="1200" dirty="0">
              <a:solidFill>
                <a:schemeClr val="dk1"/>
              </a:solidFill>
              <a:latin typeface="Georgia"/>
              <a:ea typeface="Georgia"/>
              <a:cs typeface="Georgia"/>
              <a:sym typeface="Georgia"/>
            </a:endParaRPr>
          </a:p>
          <a:p>
            <a:pPr marL="457200" lvl="0" indent="-304800" algn="ctr" rtl="0">
              <a:spcBef>
                <a:spcPts val="0"/>
              </a:spcBef>
              <a:spcAft>
                <a:spcPts val="0"/>
              </a:spcAft>
              <a:buClr>
                <a:schemeClr val="dk1"/>
              </a:buClr>
              <a:buSzPts val="1200"/>
              <a:buFont typeface="Georgia"/>
              <a:buAutoNum type="arabicPeriod"/>
            </a:pPr>
            <a:r>
              <a:rPr lang="en-GB" sz="1200" dirty="0">
                <a:solidFill>
                  <a:schemeClr val="dk1"/>
                </a:solidFill>
                <a:latin typeface="Georgia"/>
                <a:ea typeface="Georgia"/>
                <a:cs typeface="Georgia"/>
                <a:sym typeface="Georgia"/>
              </a:rPr>
              <a:t>[How could we optimize outwear assortment, visibility and promotion strategy to align with evolving customer preferences this winter?]</a:t>
            </a:r>
            <a:endParaRPr sz="1200" dirty="0">
              <a:solidFill>
                <a:schemeClr val="dk1"/>
              </a:solidFill>
              <a:latin typeface="Georgia"/>
              <a:ea typeface="Georgia"/>
              <a:cs typeface="Georgia"/>
              <a:sym typeface="Georgia"/>
            </a:endParaRPr>
          </a:p>
          <a:p>
            <a:pPr marL="0" lvl="0" indent="0" algn="l" rtl="0">
              <a:spcBef>
                <a:spcPts val="0"/>
              </a:spcBef>
              <a:spcAft>
                <a:spcPts val="0"/>
              </a:spcAft>
              <a:buNone/>
            </a:pPr>
            <a:endParaRPr sz="1200" b="1" dirty="0">
              <a:solidFill>
                <a:schemeClr val="dk1"/>
              </a:solidFill>
              <a:latin typeface="Georgia"/>
              <a:ea typeface="Georgia"/>
              <a:cs typeface="Georgia"/>
              <a:sym typeface="Georgia"/>
            </a:endParaRPr>
          </a:p>
          <a:p>
            <a:pPr marL="0" lvl="0" indent="0" algn="ctr" rtl="0">
              <a:spcBef>
                <a:spcPts val="0"/>
              </a:spcBef>
              <a:spcAft>
                <a:spcPts val="0"/>
              </a:spcAft>
              <a:buNone/>
            </a:pPr>
            <a:r>
              <a:rPr lang="en-GB" sz="1200" b="1" dirty="0">
                <a:solidFill>
                  <a:schemeClr val="dk1"/>
                </a:solidFill>
                <a:latin typeface="Georgia"/>
                <a:ea typeface="Georgia"/>
                <a:cs typeface="Georgia"/>
                <a:sym typeface="Georgia"/>
              </a:rPr>
              <a:t>–</a:t>
            </a:r>
            <a:endParaRPr sz="1200" b="1" dirty="0">
              <a:solidFill>
                <a:schemeClr val="dk1"/>
              </a:solidFill>
              <a:latin typeface="Georgia"/>
              <a:ea typeface="Georgia"/>
              <a:cs typeface="Georgia"/>
              <a:sym typeface="Georgia"/>
            </a:endParaRPr>
          </a:p>
          <a:p>
            <a:pPr marL="0" lvl="0" indent="0" algn="l" rtl="0">
              <a:spcBef>
                <a:spcPts val="0"/>
              </a:spcBef>
              <a:spcAft>
                <a:spcPts val="0"/>
              </a:spcAft>
              <a:buNone/>
            </a:pPr>
            <a:endParaRPr sz="1200" b="1" dirty="0">
              <a:solidFill>
                <a:schemeClr val="dk1"/>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r>
              <a:rPr lang="en-GB" sz="1200" b="1" dirty="0">
                <a:solidFill>
                  <a:schemeClr val="dk1"/>
                </a:solidFill>
                <a:latin typeface="Georgia"/>
                <a:ea typeface="Georgia"/>
                <a:cs typeface="Georgia"/>
                <a:sym typeface="Georgia"/>
              </a:rPr>
              <a:t>Remember: </a:t>
            </a:r>
            <a:r>
              <a:rPr lang="en-GB" sz="1200" dirty="0">
                <a:solidFill>
                  <a:schemeClr val="dk1"/>
                </a:solidFill>
                <a:latin typeface="Georgia"/>
                <a:ea typeface="Georgia"/>
                <a:cs typeface="Georgia"/>
                <a:sym typeface="Georgia"/>
              </a:rPr>
              <a:t>A good question for brainstorming will be narrow and concrete, so that people feel they know how to begin answering it. </a:t>
            </a:r>
            <a:endParaRPr sz="1200" dirty="0">
              <a:solidFill>
                <a:schemeClr val="dk1"/>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Reveal and doubt your boxes</a:t>
            </a:r>
            <a:endParaRPr/>
          </a:p>
        </p:txBody>
      </p:sp>
      <p:sp>
        <p:nvSpPr>
          <p:cNvPr id="101" name="Google Shape;101;p18"/>
          <p:cNvSpPr txBox="1">
            <a:spLocks noGrp="1"/>
          </p:cNvSpPr>
          <p:nvPr>
            <p:ph type="body" idx="1"/>
          </p:nvPr>
        </p:nvSpPr>
        <p:spPr>
          <a:xfrm>
            <a:off x="311700" y="1152475"/>
            <a:ext cx="56385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The first step in the creative process entails identifying and doubting one’s current boxes and determining which ones require re-evaluation or replacement. </a:t>
            </a:r>
            <a:endParaRPr dirty="0"/>
          </a:p>
          <a:p>
            <a:pPr marL="0" lvl="0" indent="0" algn="l" rtl="0">
              <a:spcBef>
                <a:spcPts val="1200"/>
              </a:spcBef>
              <a:spcAft>
                <a:spcPts val="1200"/>
              </a:spcAft>
              <a:buNone/>
            </a:pPr>
            <a:r>
              <a:rPr lang="en-GB" dirty="0"/>
              <a:t>Make a short list of the shared beliefs and assumptions that likely prevail in </a:t>
            </a:r>
            <a:r>
              <a:rPr lang="en-GB" dirty="0" err="1"/>
              <a:t>ClothingCo</a:t>
            </a:r>
            <a:r>
              <a:rPr lang="en-GB" dirty="0"/>
              <a:t>. Determine which are still relevant and which need to be redefined.</a:t>
            </a:r>
            <a:endParaRPr dirty="0"/>
          </a:p>
        </p:txBody>
      </p:sp>
      <p:sp>
        <p:nvSpPr>
          <p:cNvPr id="102" name="Google Shape;102;p18"/>
          <p:cNvSpPr/>
          <p:nvPr/>
        </p:nvSpPr>
        <p:spPr>
          <a:xfrm>
            <a:off x="6147800" y="0"/>
            <a:ext cx="2996100" cy="47682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GB" sz="1200" b="1" i="1" dirty="0">
                <a:solidFill>
                  <a:schemeClr val="dk1"/>
                </a:solidFill>
                <a:latin typeface="Georgia"/>
                <a:ea typeface="Georgia"/>
                <a:cs typeface="Georgia"/>
                <a:sym typeface="Georgia"/>
              </a:rPr>
              <a:t>In this fictional scenario, make assumptions that seem reasonable</a:t>
            </a:r>
            <a:endParaRPr sz="1200" b="1" i="1" dirty="0">
              <a:solidFill>
                <a:schemeClr val="dk1"/>
              </a:solidFill>
              <a:latin typeface="Georgia"/>
              <a:ea typeface="Georgia"/>
              <a:cs typeface="Georgia"/>
              <a:sym typeface="Georgia"/>
            </a:endParaRPr>
          </a:p>
          <a:p>
            <a:pPr marL="0" lvl="0" indent="0" algn="ctr" rtl="0">
              <a:spcBef>
                <a:spcPts val="0"/>
              </a:spcBef>
              <a:spcAft>
                <a:spcPts val="0"/>
              </a:spcAft>
              <a:buClr>
                <a:schemeClr val="dk1"/>
              </a:buClr>
              <a:buSzPts val="1100"/>
              <a:buFont typeface="Arial"/>
              <a:buNone/>
            </a:pPr>
            <a:endParaRPr sz="1200" b="1" dirty="0">
              <a:solidFill>
                <a:schemeClr val="dk1"/>
              </a:solidFill>
              <a:latin typeface="Georgia"/>
              <a:ea typeface="Georgia"/>
              <a:cs typeface="Georgia"/>
              <a:sym typeface="Georgia"/>
            </a:endParaRPr>
          </a:p>
          <a:p>
            <a:pPr marL="0" lvl="0" indent="0" algn="ctr" rtl="0">
              <a:spcBef>
                <a:spcPts val="0"/>
              </a:spcBef>
              <a:spcAft>
                <a:spcPts val="0"/>
              </a:spcAft>
              <a:buClr>
                <a:schemeClr val="dk1"/>
              </a:buClr>
              <a:buSzPts val="1100"/>
              <a:buFont typeface="Arial"/>
              <a:buNone/>
            </a:pPr>
            <a:r>
              <a:rPr lang="en-GB" sz="1200" b="1" dirty="0">
                <a:solidFill>
                  <a:schemeClr val="dk1"/>
                </a:solidFill>
                <a:latin typeface="Georgia"/>
                <a:ea typeface="Georgia"/>
                <a:cs typeface="Georgia"/>
                <a:sym typeface="Georgia"/>
              </a:rPr>
              <a:t>–</a:t>
            </a:r>
            <a:endParaRPr sz="1200" b="1" dirty="0">
              <a:solidFill>
                <a:schemeClr val="dk1"/>
              </a:solidFill>
              <a:latin typeface="Georgia"/>
              <a:ea typeface="Georgia"/>
              <a:cs typeface="Georgia"/>
              <a:sym typeface="Georgia"/>
            </a:endParaRPr>
          </a:p>
          <a:p>
            <a:pPr marL="0" lvl="0" indent="0" algn="ctr" rtl="0">
              <a:spcBef>
                <a:spcPts val="0"/>
              </a:spcBef>
              <a:spcAft>
                <a:spcPts val="0"/>
              </a:spcAft>
              <a:buClr>
                <a:schemeClr val="dk1"/>
              </a:buClr>
              <a:buSzPts val="1100"/>
              <a:buFont typeface="Arial"/>
              <a:buNone/>
            </a:pPr>
            <a:endParaRPr sz="1200" b="1" dirty="0">
              <a:solidFill>
                <a:srgbClr val="00754B"/>
              </a:solidFill>
              <a:latin typeface="Georgia"/>
              <a:ea typeface="Georgia"/>
              <a:cs typeface="Georgia"/>
              <a:sym typeface="Georgia"/>
            </a:endParaRPr>
          </a:p>
          <a:p>
            <a:pPr marL="0" lvl="0" indent="0" algn="ctr" rtl="0">
              <a:spcBef>
                <a:spcPts val="0"/>
              </a:spcBef>
              <a:spcAft>
                <a:spcPts val="0"/>
              </a:spcAft>
              <a:buClr>
                <a:schemeClr val="dk1"/>
              </a:buClr>
              <a:buSzPts val="1100"/>
              <a:buFont typeface="Arial"/>
              <a:buNone/>
            </a:pPr>
            <a:r>
              <a:rPr lang="en-GB" sz="1200" b="1" dirty="0">
                <a:solidFill>
                  <a:srgbClr val="00754B"/>
                </a:solidFill>
                <a:latin typeface="Georgia"/>
                <a:ea typeface="Georgia"/>
                <a:cs typeface="Georgia"/>
                <a:sym typeface="Georgia"/>
              </a:rPr>
              <a:t>What boxes currently exist that are still relevant?</a:t>
            </a:r>
            <a:endParaRPr sz="1200" b="1" dirty="0">
              <a:solidFill>
                <a:srgbClr val="00754B"/>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endParaRPr sz="1200" dirty="0">
              <a:solidFill>
                <a:schemeClr val="dk1"/>
              </a:solidFill>
              <a:latin typeface="Georgia"/>
              <a:ea typeface="Georgia"/>
              <a:cs typeface="Georgia"/>
              <a:sym typeface="Georgia"/>
            </a:endParaRPr>
          </a:p>
          <a:p>
            <a:pPr marL="457200" lvl="0" indent="-304800" algn="l" rtl="0">
              <a:spcBef>
                <a:spcPts val="0"/>
              </a:spcBef>
              <a:spcAft>
                <a:spcPts val="0"/>
              </a:spcAft>
              <a:buClr>
                <a:schemeClr val="dk1"/>
              </a:buClr>
              <a:buSzPts val="1200"/>
              <a:buFont typeface="Georgia"/>
              <a:buAutoNum type="arabicPeriod"/>
            </a:pPr>
            <a:r>
              <a:rPr lang="en-GB" sz="1200" dirty="0">
                <a:solidFill>
                  <a:schemeClr val="dk1"/>
                </a:solidFill>
                <a:latin typeface="Georgia"/>
                <a:ea typeface="Georgia"/>
                <a:cs typeface="Georgia"/>
                <a:sym typeface="Georgia"/>
              </a:rPr>
              <a:t>[luxury brand]</a:t>
            </a:r>
          </a:p>
          <a:p>
            <a:pPr marL="457200" lvl="0" indent="-304800" algn="l" rtl="0">
              <a:spcBef>
                <a:spcPts val="0"/>
              </a:spcBef>
              <a:spcAft>
                <a:spcPts val="0"/>
              </a:spcAft>
              <a:buClr>
                <a:schemeClr val="dk1"/>
              </a:buClr>
              <a:buSzPts val="1200"/>
              <a:buFont typeface="Georgia"/>
              <a:buAutoNum type="arabicPeriod"/>
            </a:pPr>
            <a:r>
              <a:rPr lang="en-GB" sz="1200" dirty="0">
                <a:solidFill>
                  <a:schemeClr val="dk1"/>
                </a:solidFill>
                <a:latin typeface="Georgia"/>
                <a:ea typeface="Georgia"/>
                <a:cs typeface="Georgia"/>
                <a:sym typeface="Georgia"/>
              </a:rPr>
              <a:t>[exclusive to affluent customers]</a:t>
            </a:r>
            <a:endParaRPr sz="1200" dirty="0">
              <a:solidFill>
                <a:schemeClr val="dk1"/>
              </a:solidFill>
              <a:latin typeface="Georgia"/>
              <a:ea typeface="Georgia"/>
              <a:cs typeface="Georgia"/>
              <a:sym typeface="Georgia"/>
            </a:endParaRPr>
          </a:p>
          <a:p>
            <a:pPr marL="0" lvl="0" indent="0" algn="l" rtl="0">
              <a:spcBef>
                <a:spcPts val="0"/>
              </a:spcBef>
              <a:spcAft>
                <a:spcPts val="0"/>
              </a:spcAft>
              <a:buNone/>
            </a:pPr>
            <a:endParaRPr sz="1200" dirty="0">
              <a:solidFill>
                <a:schemeClr val="dk1"/>
              </a:solidFill>
              <a:latin typeface="Georgia"/>
              <a:ea typeface="Georgia"/>
              <a:cs typeface="Georgia"/>
              <a:sym typeface="Georgia"/>
            </a:endParaRPr>
          </a:p>
          <a:p>
            <a:pPr marL="0" lvl="0" indent="0" algn="ctr" rtl="0">
              <a:spcBef>
                <a:spcPts val="0"/>
              </a:spcBef>
              <a:spcAft>
                <a:spcPts val="0"/>
              </a:spcAft>
              <a:buNone/>
            </a:pPr>
            <a:r>
              <a:rPr lang="en-GB" sz="1200" dirty="0">
                <a:solidFill>
                  <a:schemeClr val="dk1"/>
                </a:solidFill>
                <a:latin typeface="Georgia"/>
                <a:ea typeface="Georgia"/>
                <a:cs typeface="Georgia"/>
                <a:sym typeface="Georgia"/>
              </a:rPr>
              <a:t>–</a:t>
            </a:r>
            <a:endParaRPr sz="1200" dirty="0">
              <a:solidFill>
                <a:schemeClr val="dk1"/>
              </a:solidFill>
              <a:latin typeface="Georgia"/>
              <a:ea typeface="Georgia"/>
              <a:cs typeface="Georgia"/>
              <a:sym typeface="Georgia"/>
            </a:endParaRPr>
          </a:p>
          <a:p>
            <a:pPr marL="0" lvl="0" indent="0" algn="ctr" rtl="0">
              <a:spcBef>
                <a:spcPts val="0"/>
              </a:spcBef>
              <a:spcAft>
                <a:spcPts val="0"/>
              </a:spcAft>
              <a:buNone/>
            </a:pPr>
            <a:endParaRPr sz="1200" b="1" dirty="0">
              <a:solidFill>
                <a:srgbClr val="00754B"/>
              </a:solidFill>
              <a:latin typeface="Georgia"/>
              <a:ea typeface="Georgia"/>
              <a:cs typeface="Georgia"/>
              <a:sym typeface="Georgia"/>
            </a:endParaRPr>
          </a:p>
          <a:p>
            <a:pPr marL="0" lvl="0" indent="0" algn="ctr" rtl="0">
              <a:spcBef>
                <a:spcPts val="0"/>
              </a:spcBef>
              <a:spcAft>
                <a:spcPts val="0"/>
              </a:spcAft>
              <a:buNone/>
            </a:pPr>
            <a:r>
              <a:rPr lang="en-GB" sz="1200" b="1" dirty="0">
                <a:solidFill>
                  <a:srgbClr val="00754B"/>
                </a:solidFill>
                <a:latin typeface="Georgia"/>
                <a:ea typeface="Georgia"/>
                <a:cs typeface="Georgia"/>
                <a:sym typeface="Georgia"/>
              </a:rPr>
              <a:t>What boxes currently exist that need to be doubted?</a:t>
            </a:r>
            <a:endParaRPr sz="1200" b="1" dirty="0">
              <a:solidFill>
                <a:srgbClr val="00754B"/>
              </a:solidFill>
              <a:latin typeface="Georgia"/>
              <a:ea typeface="Georgia"/>
              <a:cs typeface="Georgia"/>
              <a:sym typeface="Georgia"/>
            </a:endParaRPr>
          </a:p>
          <a:p>
            <a:pPr marL="0" lvl="0" indent="0" algn="l" rtl="0">
              <a:spcBef>
                <a:spcPts val="0"/>
              </a:spcBef>
              <a:spcAft>
                <a:spcPts val="0"/>
              </a:spcAft>
              <a:buNone/>
            </a:pPr>
            <a:endParaRPr sz="1200" dirty="0">
              <a:latin typeface="Georgia"/>
              <a:ea typeface="Georgia"/>
              <a:cs typeface="Georgia"/>
              <a:sym typeface="Georgia"/>
            </a:endParaRPr>
          </a:p>
          <a:p>
            <a:pPr marL="457200" lvl="0" indent="-304800" algn="l" rtl="0">
              <a:spcBef>
                <a:spcPts val="0"/>
              </a:spcBef>
              <a:spcAft>
                <a:spcPts val="0"/>
              </a:spcAft>
              <a:buSzPts val="1200"/>
              <a:buFont typeface="Georgia"/>
              <a:buAutoNum type="arabicPeriod"/>
            </a:pPr>
            <a:r>
              <a:rPr lang="en-GB" sz="1200" dirty="0">
                <a:latin typeface="Georgia"/>
                <a:ea typeface="Georgia"/>
                <a:cs typeface="Georgia"/>
                <a:sym typeface="Georgia"/>
              </a:rPr>
              <a:t>[only a clothing brand]</a:t>
            </a:r>
            <a:endParaRPr sz="1200" dirty="0">
              <a:latin typeface="Georgia"/>
              <a:ea typeface="Georgia"/>
              <a:cs typeface="Georgia"/>
              <a:sym typeface="Georgia"/>
            </a:endParaRPr>
          </a:p>
          <a:p>
            <a:pPr marL="457200" lvl="0" indent="-304800" algn="l" rtl="0">
              <a:spcBef>
                <a:spcPts val="0"/>
              </a:spcBef>
              <a:spcAft>
                <a:spcPts val="0"/>
              </a:spcAft>
              <a:buSzPts val="1200"/>
              <a:buFont typeface="Georgia"/>
              <a:buAutoNum type="arabicPeriod"/>
            </a:pPr>
            <a:r>
              <a:rPr lang="en-GB" sz="1200" dirty="0">
                <a:solidFill>
                  <a:schemeClr val="dk1"/>
                </a:solidFill>
                <a:latin typeface="Georgia"/>
                <a:ea typeface="Georgia"/>
                <a:cs typeface="Georgia"/>
                <a:sym typeface="Georgia"/>
              </a:rPr>
              <a:t>[outerwear is only about providing warmth in winter]</a:t>
            </a:r>
            <a:endParaRPr sz="1200" dirty="0">
              <a:solidFill>
                <a:schemeClr val="dk1"/>
              </a:solidFill>
              <a:latin typeface="Georgia"/>
              <a:ea typeface="Georgia"/>
              <a:cs typeface="Georgia"/>
              <a:sym typeface="Georgia"/>
            </a:endParaRPr>
          </a:p>
          <a:p>
            <a:pPr marL="457200" lvl="0" indent="-304800" algn="l" rtl="0">
              <a:spcBef>
                <a:spcPts val="0"/>
              </a:spcBef>
              <a:spcAft>
                <a:spcPts val="0"/>
              </a:spcAft>
              <a:buClr>
                <a:schemeClr val="dk1"/>
              </a:buClr>
              <a:buSzPts val="1200"/>
              <a:buFont typeface="Georgia"/>
              <a:buAutoNum type="arabicPeriod"/>
            </a:pPr>
            <a:r>
              <a:rPr lang="en-GB" sz="1200" dirty="0">
                <a:solidFill>
                  <a:schemeClr val="dk1"/>
                </a:solidFill>
                <a:latin typeface="Georgia"/>
                <a:ea typeface="Georgia"/>
                <a:cs typeface="Georgia"/>
                <a:sym typeface="Georgia"/>
              </a:rPr>
              <a:t>[physical retails stores]</a:t>
            </a:r>
          </a:p>
          <a:p>
            <a:pPr marL="457200" lvl="0" indent="-304800" algn="l" rtl="0">
              <a:spcBef>
                <a:spcPts val="0"/>
              </a:spcBef>
              <a:spcAft>
                <a:spcPts val="0"/>
              </a:spcAft>
              <a:buClr>
                <a:schemeClr val="dk1"/>
              </a:buClr>
              <a:buSzPts val="1200"/>
              <a:buFont typeface="Georgia"/>
              <a:buAutoNum type="arabicPeriod"/>
            </a:pPr>
            <a:r>
              <a:rPr lang="en-GB" sz="1200" dirty="0">
                <a:solidFill>
                  <a:schemeClr val="dk1"/>
                </a:solidFill>
                <a:latin typeface="Georgia"/>
                <a:ea typeface="Georgia"/>
                <a:cs typeface="Georgia"/>
                <a:sym typeface="Georgia"/>
              </a:rPr>
              <a:t>[brand name is enough to sustain the brand value]</a:t>
            </a:r>
          </a:p>
          <a:p>
            <a:pPr marL="457200" indent="-304800">
              <a:buClr>
                <a:schemeClr val="dk1"/>
              </a:buClr>
              <a:buSzPts val="1200"/>
              <a:buFont typeface="Georgia"/>
              <a:buAutoNum type="arabicPeriod"/>
            </a:pPr>
            <a:r>
              <a:rPr lang="en-GB" sz="1200" dirty="0">
                <a:solidFill>
                  <a:schemeClr val="dk1"/>
                </a:solidFill>
                <a:latin typeface="Georgia"/>
                <a:ea typeface="Georgia"/>
                <a:cs typeface="Georgia"/>
                <a:sym typeface="Georgia"/>
              </a:rPr>
              <a:t>[discounting damages the equity of brand]</a:t>
            </a:r>
          </a:p>
          <a:p>
            <a:pPr marL="152400" lvl="0" algn="l" rtl="0">
              <a:spcBef>
                <a:spcPts val="0"/>
              </a:spcBef>
              <a:spcAft>
                <a:spcPts val="0"/>
              </a:spcAft>
              <a:buClr>
                <a:schemeClr val="dk1"/>
              </a:buClr>
              <a:buSzPts val="1200"/>
            </a:pPr>
            <a:endParaRPr sz="1200" dirty="0">
              <a:solidFill>
                <a:schemeClr val="dk1"/>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Bring new boxes</a:t>
            </a:r>
            <a:endParaRPr/>
          </a:p>
        </p:txBody>
      </p:sp>
      <p:sp>
        <p:nvSpPr>
          <p:cNvPr id="108" name="Google Shape;108;p19"/>
          <p:cNvSpPr txBox="1">
            <a:spLocks noGrp="1"/>
          </p:cNvSpPr>
          <p:nvPr>
            <p:ph type="body" idx="1"/>
          </p:nvPr>
        </p:nvSpPr>
        <p:spPr>
          <a:xfrm>
            <a:off x="311700" y="1152475"/>
            <a:ext cx="3345600" cy="2995800"/>
          </a:xfrm>
          <a:prstGeom prst="rect">
            <a:avLst/>
          </a:prstGeom>
        </p:spPr>
        <p:txBody>
          <a:bodyPr spcFirstLastPara="1" wrap="square" lIns="91425" tIns="91425" rIns="91425" bIns="91425" anchor="ctr" anchorCtr="0">
            <a:normAutofit fontScale="77500" lnSpcReduction="20000"/>
          </a:bodyPr>
          <a:lstStyle/>
          <a:p>
            <a:pPr marL="0" lvl="0" indent="0" algn="l" rtl="0">
              <a:spcBef>
                <a:spcPts val="0"/>
              </a:spcBef>
              <a:spcAft>
                <a:spcPts val="0"/>
              </a:spcAft>
              <a:buNone/>
            </a:pPr>
            <a:r>
              <a:rPr lang="en-GB"/>
              <a:t>Prepare for brainstorming by creating new boxes to bring to the session; new boxes will nurture ideation and can dramatically increase the odds of a useful result. </a:t>
            </a:r>
            <a:endParaRPr/>
          </a:p>
          <a:p>
            <a:pPr marL="0" lvl="0" indent="0" algn="l" rtl="0">
              <a:spcBef>
                <a:spcPts val="1200"/>
              </a:spcBef>
              <a:spcAft>
                <a:spcPts val="0"/>
              </a:spcAft>
              <a:buNone/>
            </a:pPr>
            <a:endParaRPr/>
          </a:p>
          <a:p>
            <a:pPr marL="0" lvl="0" indent="0" algn="l" rtl="0">
              <a:spcBef>
                <a:spcPts val="1200"/>
              </a:spcBef>
              <a:spcAft>
                <a:spcPts val="1200"/>
              </a:spcAft>
              <a:buNone/>
            </a:pPr>
            <a:r>
              <a:rPr lang="en-GB" b="1"/>
              <a:t>Remember:</a:t>
            </a:r>
            <a:r>
              <a:rPr lang="en-GB"/>
              <a:t> Defining new boxes requires a mixture of analysis and art. Boxes need to be grounded in fact. Different sectors will call for different inputs.</a:t>
            </a:r>
            <a:endParaRPr/>
          </a:p>
        </p:txBody>
      </p:sp>
      <p:sp>
        <p:nvSpPr>
          <p:cNvPr id="109" name="Google Shape;109;p19"/>
          <p:cNvSpPr/>
          <p:nvPr/>
        </p:nvSpPr>
        <p:spPr>
          <a:xfrm>
            <a:off x="6515800" y="0"/>
            <a:ext cx="2628000" cy="47682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dirty="0">
                <a:solidFill>
                  <a:srgbClr val="00754B"/>
                </a:solidFill>
                <a:latin typeface="Georgia"/>
                <a:ea typeface="Georgia"/>
                <a:cs typeface="Georgia"/>
                <a:sym typeface="Georgia"/>
              </a:rPr>
              <a:t>New box #2</a:t>
            </a:r>
            <a:endParaRPr sz="1200" b="1" dirty="0">
              <a:solidFill>
                <a:srgbClr val="00754B"/>
              </a:solidFill>
              <a:latin typeface="Georgia"/>
              <a:ea typeface="Georgia"/>
              <a:cs typeface="Georgia"/>
              <a:sym typeface="Georgia"/>
            </a:endParaRPr>
          </a:p>
          <a:p>
            <a:pPr marL="0" lvl="0" indent="0" algn="ctr" rtl="0">
              <a:spcBef>
                <a:spcPts val="0"/>
              </a:spcBef>
              <a:spcAft>
                <a:spcPts val="0"/>
              </a:spcAft>
              <a:buNone/>
            </a:pPr>
            <a:endParaRPr sz="1200" dirty="0">
              <a:solidFill>
                <a:schemeClr val="dk1"/>
              </a:solidFill>
              <a:latin typeface="Georgia"/>
              <a:ea typeface="Georgia"/>
              <a:cs typeface="Georgia"/>
              <a:sym typeface="Georgia"/>
            </a:endParaRPr>
          </a:p>
          <a:p>
            <a:pPr marL="0" lvl="0" indent="0" algn="ctr" rtl="0">
              <a:spcBef>
                <a:spcPts val="0"/>
              </a:spcBef>
              <a:spcAft>
                <a:spcPts val="0"/>
              </a:spcAft>
              <a:buNone/>
            </a:pPr>
            <a:r>
              <a:rPr lang="en-GB" sz="1200" b="1" dirty="0">
                <a:solidFill>
                  <a:schemeClr val="dk1"/>
                </a:solidFill>
                <a:latin typeface="Georgia"/>
                <a:ea typeface="Georgia"/>
                <a:cs typeface="Georgia"/>
                <a:sym typeface="Georgia"/>
              </a:rPr>
              <a:t>[discounts]</a:t>
            </a:r>
            <a:endParaRPr sz="1200" b="1" dirty="0">
              <a:solidFill>
                <a:schemeClr val="dk1"/>
              </a:solidFill>
              <a:latin typeface="Georgia"/>
              <a:ea typeface="Georgia"/>
              <a:cs typeface="Georgia"/>
              <a:sym typeface="Georgia"/>
            </a:endParaRPr>
          </a:p>
          <a:p>
            <a:pPr marL="0" lvl="0" indent="0" algn="ctr" rtl="0">
              <a:spcBef>
                <a:spcPts val="0"/>
              </a:spcBef>
              <a:spcAft>
                <a:spcPts val="0"/>
              </a:spcAft>
              <a:buNone/>
            </a:pPr>
            <a:endParaRPr sz="1200" b="1" dirty="0">
              <a:solidFill>
                <a:schemeClr val="dk1"/>
              </a:solidFill>
              <a:latin typeface="Georgia"/>
              <a:ea typeface="Georgia"/>
              <a:cs typeface="Georgia"/>
              <a:sym typeface="Georgia"/>
            </a:endParaRPr>
          </a:p>
          <a:p>
            <a:pPr marL="179999" marR="0" lvl="0" indent="-171450" algn="l" rtl="0">
              <a:lnSpc>
                <a:spcPct val="100000"/>
              </a:lnSpc>
              <a:spcBef>
                <a:spcPts val="0"/>
              </a:spcBef>
              <a:spcAft>
                <a:spcPts val="0"/>
              </a:spcAft>
              <a:buSzPts val="1200"/>
              <a:buFont typeface="Georgia"/>
              <a:buChar char="●"/>
            </a:pPr>
            <a:r>
              <a:rPr lang="en-GB" sz="1200" dirty="0">
                <a:latin typeface="Georgia"/>
                <a:ea typeface="Georgia"/>
                <a:cs typeface="Georgia"/>
                <a:sym typeface="Georgia"/>
              </a:rPr>
              <a:t>[Issue – damages brand equity</a:t>
            </a:r>
          </a:p>
          <a:p>
            <a:pPr marL="179999" marR="0" lvl="0" indent="-171450" algn="l" rtl="0">
              <a:lnSpc>
                <a:spcPct val="100000"/>
              </a:lnSpc>
              <a:spcBef>
                <a:spcPts val="0"/>
              </a:spcBef>
              <a:spcAft>
                <a:spcPts val="0"/>
              </a:spcAft>
              <a:buSzPts val="1200"/>
              <a:buFont typeface="Georgia"/>
              <a:buChar char="●"/>
            </a:pPr>
            <a:r>
              <a:rPr lang="en-GB" sz="1200" dirty="0">
                <a:solidFill>
                  <a:schemeClr val="dk1"/>
                </a:solidFill>
                <a:latin typeface="Georgia"/>
                <a:ea typeface="Georgia"/>
                <a:cs typeface="Georgia"/>
                <a:sym typeface="Georgia"/>
              </a:rPr>
              <a:t>Opportunity – discount window with limited time frame, loyalty based perks discount increases the demand]</a:t>
            </a:r>
            <a:endParaRPr sz="1200" dirty="0">
              <a:latin typeface="Georgia"/>
              <a:ea typeface="Georgia"/>
              <a:cs typeface="Georgia"/>
              <a:sym typeface="Georgia"/>
            </a:endParaRPr>
          </a:p>
        </p:txBody>
      </p:sp>
      <p:sp>
        <p:nvSpPr>
          <p:cNvPr id="110" name="Google Shape;110;p19"/>
          <p:cNvSpPr/>
          <p:nvPr/>
        </p:nvSpPr>
        <p:spPr>
          <a:xfrm>
            <a:off x="3772600" y="0"/>
            <a:ext cx="2628000" cy="47682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dirty="0">
                <a:solidFill>
                  <a:srgbClr val="00754B"/>
                </a:solidFill>
                <a:latin typeface="Georgia"/>
                <a:ea typeface="Georgia"/>
                <a:cs typeface="Georgia"/>
                <a:sym typeface="Georgia"/>
              </a:rPr>
              <a:t>New box #1</a:t>
            </a:r>
            <a:endParaRPr sz="1200" b="1" dirty="0">
              <a:solidFill>
                <a:srgbClr val="00754B"/>
              </a:solidFill>
              <a:latin typeface="Georgia"/>
              <a:ea typeface="Georgia"/>
              <a:cs typeface="Georgia"/>
              <a:sym typeface="Georgia"/>
            </a:endParaRPr>
          </a:p>
          <a:p>
            <a:pPr marL="0" lvl="0" indent="0" algn="ctr" rtl="0">
              <a:spcBef>
                <a:spcPts val="0"/>
              </a:spcBef>
              <a:spcAft>
                <a:spcPts val="0"/>
              </a:spcAft>
              <a:buNone/>
            </a:pPr>
            <a:endParaRPr sz="1200" dirty="0">
              <a:latin typeface="Georgia"/>
              <a:ea typeface="Georgia"/>
              <a:cs typeface="Georgia"/>
              <a:sym typeface="Georgia"/>
            </a:endParaRPr>
          </a:p>
          <a:p>
            <a:pPr marL="0" lvl="0" indent="0" algn="ctr" rtl="0">
              <a:spcBef>
                <a:spcPts val="0"/>
              </a:spcBef>
              <a:spcAft>
                <a:spcPts val="0"/>
              </a:spcAft>
              <a:buNone/>
            </a:pPr>
            <a:r>
              <a:rPr lang="en-GB" sz="1200" b="1" dirty="0">
                <a:solidFill>
                  <a:schemeClr val="dk1"/>
                </a:solidFill>
                <a:latin typeface="Georgia"/>
                <a:ea typeface="Georgia"/>
                <a:cs typeface="Georgia"/>
                <a:sym typeface="Georgia"/>
              </a:rPr>
              <a:t>[diversity in fashion to match evolving customers’ preferences]</a:t>
            </a:r>
            <a:endParaRPr sz="1200" b="1" dirty="0">
              <a:solidFill>
                <a:schemeClr val="dk1"/>
              </a:solidFill>
              <a:latin typeface="Georgia"/>
              <a:ea typeface="Georgia"/>
              <a:cs typeface="Georgia"/>
              <a:sym typeface="Georgia"/>
            </a:endParaRPr>
          </a:p>
          <a:p>
            <a:pPr marL="0" lvl="0" indent="0" algn="ctr" rtl="0">
              <a:spcBef>
                <a:spcPts val="0"/>
              </a:spcBef>
              <a:spcAft>
                <a:spcPts val="0"/>
              </a:spcAft>
              <a:buNone/>
            </a:pPr>
            <a:endParaRPr sz="1200" b="1" dirty="0">
              <a:solidFill>
                <a:schemeClr val="dk1"/>
              </a:solidFill>
              <a:latin typeface="Georgia"/>
              <a:ea typeface="Georgia"/>
              <a:cs typeface="Georgia"/>
              <a:sym typeface="Georgia"/>
            </a:endParaRPr>
          </a:p>
          <a:p>
            <a:pPr marL="179999" marR="0" lvl="0" indent="-171450" algn="l" rtl="0">
              <a:lnSpc>
                <a:spcPct val="100000"/>
              </a:lnSpc>
              <a:spcBef>
                <a:spcPts val="0"/>
              </a:spcBef>
              <a:spcAft>
                <a:spcPts val="0"/>
              </a:spcAft>
              <a:buSzPts val="1200"/>
              <a:buFont typeface="Georgia"/>
              <a:buChar char="●"/>
            </a:pPr>
            <a:r>
              <a:rPr lang="en-GB" sz="1200" dirty="0">
                <a:latin typeface="Georgia"/>
                <a:ea typeface="Georgia"/>
                <a:cs typeface="Georgia"/>
                <a:sym typeface="Georgia"/>
              </a:rPr>
              <a:t>[Issue - compromise in the purpose of winter wear-warmth.</a:t>
            </a:r>
          </a:p>
          <a:p>
            <a:pPr marL="179999" marR="0" lvl="0" indent="-171450" algn="l" rtl="0">
              <a:lnSpc>
                <a:spcPct val="100000"/>
              </a:lnSpc>
              <a:spcBef>
                <a:spcPts val="0"/>
              </a:spcBef>
              <a:spcAft>
                <a:spcPts val="0"/>
              </a:spcAft>
              <a:buSzPts val="1200"/>
              <a:buFont typeface="Georgia"/>
              <a:buChar char="●"/>
            </a:pPr>
            <a:r>
              <a:rPr lang="en-GB" sz="1200" dirty="0">
                <a:solidFill>
                  <a:schemeClr val="dk1"/>
                </a:solidFill>
                <a:latin typeface="Georgia"/>
                <a:ea typeface="Georgia"/>
                <a:cs typeface="Georgia"/>
                <a:sym typeface="Georgia"/>
              </a:rPr>
              <a:t>Opportunity - coming up with new styles, outfit set and layering that match with the evolving customer preferences, campaigned by influencers]</a:t>
            </a:r>
            <a:endParaRPr sz="1200" dirty="0">
              <a:solidFill>
                <a:schemeClr val="dk1"/>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p:nvPr/>
        </p:nvSpPr>
        <p:spPr>
          <a:xfrm>
            <a:off x="-75" y="1571325"/>
            <a:ext cx="9144000" cy="3572100"/>
          </a:xfrm>
          <a:prstGeom prst="rect">
            <a:avLst/>
          </a:prstGeom>
          <a:solidFill>
            <a:srgbClr val="D9E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body" idx="1"/>
          </p:nvPr>
        </p:nvSpPr>
        <p:spPr>
          <a:xfrm>
            <a:off x="311700" y="1961675"/>
            <a:ext cx="4035600" cy="2607000"/>
          </a:xfrm>
          <a:prstGeom prst="rect">
            <a:avLst/>
          </a:prstGeom>
        </p:spPr>
        <p:txBody>
          <a:bodyPr spcFirstLastPara="1" wrap="square" lIns="91425" tIns="91425" rIns="91425" bIns="91425" anchor="ctr" anchorCtr="0">
            <a:normAutofit/>
          </a:bodyPr>
          <a:lstStyle/>
          <a:p>
            <a:pPr marL="457200" lvl="0" indent="-330200" algn="l" rtl="0">
              <a:spcBef>
                <a:spcPts val="0"/>
              </a:spcBef>
              <a:spcAft>
                <a:spcPts val="0"/>
              </a:spcAft>
              <a:buSzPts val="1600"/>
              <a:buChar char="●"/>
            </a:pPr>
            <a:r>
              <a:rPr lang="en-GB" sz="1600" dirty="0"/>
              <a:t>[diversity in style, design and idea]</a:t>
            </a:r>
            <a:endParaRPr sz="1600" dirty="0"/>
          </a:p>
          <a:p>
            <a:pPr marL="457200" lvl="0" indent="-330200" algn="l" rtl="0">
              <a:spcBef>
                <a:spcPts val="600"/>
              </a:spcBef>
              <a:spcAft>
                <a:spcPts val="0"/>
              </a:spcAft>
              <a:buSzPts val="1600"/>
              <a:buChar char="●"/>
            </a:pPr>
            <a:r>
              <a:rPr lang="en-GB" sz="1600" dirty="0"/>
              <a:t>[layered clothing to combat winter]</a:t>
            </a:r>
            <a:endParaRPr sz="1600" dirty="0"/>
          </a:p>
          <a:p>
            <a:pPr marL="457200" lvl="0" indent="-330200" algn="l" rtl="0">
              <a:spcBef>
                <a:spcPts val="600"/>
              </a:spcBef>
              <a:spcAft>
                <a:spcPts val="0"/>
              </a:spcAft>
              <a:buSzPts val="1600"/>
              <a:buChar char="●"/>
            </a:pPr>
            <a:r>
              <a:rPr lang="en-GB" sz="1600" dirty="0"/>
              <a:t>[storytelling]</a:t>
            </a:r>
            <a:endParaRPr sz="1600" dirty="0"/>
          </a:p>
          <a:p>
            <a:pPr marL="457200" lvl="0" indent="-330200" algn="l" rtl="0">
              <a:spcBef>
                <a:spcPts val="600"/>
              </a:spcBef>
              <a:spcAft>
                <a:spcPts val="0"/>
              </a:spcAft>
              <a:buSzPts val="1600"/>
              <a:buChar char="●"/>
            </a:pPr>
            <a:r>
              <a:rPr lang="en-GB" sz="1600" dirty="0"/>
              <a:t>[influencer </a:t>
            </a:r>
            <a:r>
              <a:rPr lang="en-GB" sz="1600"/>
              <a:t>validation]</a:t>
            </a:r>
            <a:endParaRPr sz="1600" dirty="0"/>
          </a:p>
        </p:txBody>
      </p:sp>
      <p:sp>
        <p:nvSpPr>
          <p:cNvPr id="117" name="Google Shape;117;p20"/>
          <p:cNvSpPr txBox="1">
            <a:spLocks noGrp="1"/>
          </p:cNvSpPr>
          <p:nvPr>
            <p:ph type="body" idx="1"/>
          </p:nvPr>
        </p:nvSpPr>
        <p:spPr>
          <a:xfrm>
            <a:off x="4731300" y="1961675"/>
            <a:ext cx="4035600" cy="2607000"/>
          </a:xfrm>
          <a:prstGeom prst="rect">
            <a:avLst/>
          </a:prstGeom>
        </p:spPr>
        <p:txBody>
          <a:bodyPr spcFirstLastPara="1" wrap="square" lIns="91425" tIns="91425" rIns="91425" bIns="91425" anchor="ctr" anchorCtr="0">
            <a:normAutofit/>
          </a:bodyPr>
          <a:lstStyle/>
          <a:p>
            <a:pPr marL="457200" lvl="0" indent="-330200" algn="l" rtl="0">
              <a:spcBef>
                <a:spcPts val="0"/>
              </a:spcBef>
              <a:spcAft>
                <a:spcPts val="0"/>
              </a:spcAft>
              <a:buSzPts val="1600"/>
              <a:buChar char="●"/>
            </a:pPr>
            <a:r>
              <a:rPr lang="en-GB" sz="1600" dirty="0"/>
              <a:t>[endorsement by a celebrity]</a:t>
            </a:r>
            <a:endParaRPr sz="1600" dirty="0"/>
          </a:p>
          <a:p>
            <a:pPr marL="457200" lvl="0" indent="-330200" algn="l" rtl="0">
              <a:spcBef>
                <a:spcPts val="600"/>
              </a:spcBef>
              <a:spcAft>
                <a:spcPts val="0"/>
              </a:spcAft>
              <a:buSzPts val="1600"/>
              <a:buChar char="●"/>
            </a:pPr>
            <a:r>
              <a:rPr lang="en-GB" sz="1600" dirty="0"/>
              <a:t>[introducing new items such as boots, gloves, hats, etc.]</a:t>
            </a:r>
            <a:endParaRPr sz="1600" dirty="0"/>
          </a:p>
          <a:p>
            <a:pPr marL="457200" lvl="0" indent="-330200" algn="l" rtl="0">
              <a:spcBef>
                <a:spcPts val="600"/>
              </a:spcBef>
              <a:spcAft>
                <a:spcPts val="0"/>
              </a:spcAft>
              <a:buSzPts val="1600"/>
              <a:buChar char="●"/>
            </a:pPr>
            <a:r>
              <a:rPr lang="en-GB" sz="1600" dirty="0"/>
              <a:t>[items ranging from elegant to flamboyant concept]</a:t>
            </a:r>
            <a:endParaRPr sz="1600" dirty="0"/>
          </a:p>
          <a:p>
            <a:pPr marL="457200" lvl="0" indent="-330200" algn="l" rtl="0">
              <a:spcBef>
                <a:spcPts val="600"/>
              </a:spcBef>
              <a:spcAft>
                <a:spcPts val="0"/>
              </a:spcAft>
              <a:buSzPts val="1600"/>
              <a:buChar char="●"/>
            </a:pPr>
            <a:r>
              <a:rPr lang="en-GB" sz="1600" dirty="0"/>
              <a:t>[digital fluency]</a:t>
            </a:r>
            <a:endParaRPr sz="1600" dirty="0"/>
          </a:p>
        </p:txBody>
      </p:sp>
      <p:graphicFrame>
        <p:nvGraphicFramePr>
          <p:cNvPr id="118" name="Google Shape;118;p20"/>
          <p:cNvGraphicFramePr/>
          <p:nvPr>
            <p:extLst>
              <p:ext uri="{D42A27DB-BD31-4B8C-83A1-F6EECF244321}">
                <p14:modId xmlns:p14="http://schemas.microsoft.com/office/powerpoint/2010/main" val="1088309164"/>
              </p:ext>
            </p:extLst>
          </p:nvPr>
        </p:nvGraphicFramePr>
        <p:xfrm>
          <a:off x="3744250" y="303595"/>
          <a:ext cx="5264350" cy="1432500"/>
        </p:xfrm>
        <a:graphic>
          <a:graphicData uri="http://schemas.openxmlformats.org/drawingml/2006/table">
            <a:tbl>
              <a:tblPr>
                <a:noFill/>
                <a:tableStyleId>{BB5403E0-DBA2-472D-B42A-28A8DA74AA83}</a:tableStyleId>
              </a:tblPr>
              <a:tblGrid>
                <a:gridCol w="914175">
                  <a:extLst>
                    <a:ext uri="{9D8B030D-6E8A-4147-A177-3AD203B41FA5}">
                      <a16:colId xmlns:a16="http://schemas.microsoft.com/office/drawing/2014/main" val="20000"/>
                    </a:ext>
                  </a:extLst>
                </a:gridCol>
                <a:gridCol w="4350175">
                  <a:extLst>
                    <a:ext uri="{9D8B030D-6E8A-4147-A177-3AD203B41FA5}">
                      <a16:colId xmlns:a16="http://schemas.microsoft.com/office/drawing/2014/main" val="20001"/>
                    </a:ext>
                  </a:extLst>
                </a:gridCol>
              </a:tblGrid>
              <a:tr h="466925">
                <a:tc>
                  <a:txBody>
                    <a:bodyPr/>
                    <a:lstStyle/>
                    <a:p>
                      <a:pPr marL="0" lvl="0" indent="0" algn="l" rtl="0">
                        <a:spcBef>
                          <a:spcPts val="0"/>
                        </a:spcBef>
                        <a:spcAft>
                          <a:spcPts val="0"/>
                        </a:spcAft>
                        <a:buNone/>
                      </a:pPr>
                      <a:r>
                        <a:rPr lang="en-GB" sz="1150" b="1">
                          <a:latin typeface="Georgia"/>
                          <a:ea typeface="Georgia"/>
                          <a:cs typeface="Georgia"/>
                          <a:sym typeface="Georgia"/>
                        </a:rPr>
                        <a:t>Question</a:t>
                      </a:r>
                      <a:endParaRPr sz="1150" b="1">
                        <a:latin typeface="Georgia"/>
                        <a:ea typeface="Georgia"/>
                        <a:cs typeface="Georgia"/>
                        <a:sym typeface="Georgia"/>
                      </a:endParaRPr>
                    </a:p>
                  </a:txBody>
                  <a:tcPr marL="91425" marR="91425" marT="91425" marB="91425">
                    <a:lnL w="38100" cap="flat" cmpd="sng">
                      <a:solidFill>
                        <a:srgbClr val="9E9E9E">
                          <a:alpha val="0"/>
                        </a:srgbClr>
                      </a:solidFill>
                      <a:prstDash val="solid"/>
                      <a:round/>
                      <a:headEnd type="none" w="sm" len="sm"/>
                      <a:tailEnd type="none" w="sm" len="sm"/>
                    </a:lnL>
                    <a:lnR w="38100" cap="flat" cmpd="sng">
                      <a:solidFill>
                        <a:srgbClr val="9E9E9E">
                          <a:alpha val="0"/>
                        </a:srgbClr>
                      </a:solidFill>
                      <a:prstDash val="solid"/>
                      <a:round/>
                      <a:headEnd type="none" w="sm" len="sm"/>
                      <a:tailEnd type="none" w="sm" len="sm"/>
                    </a:lnR>
                    <a:lnT w="38100" cap="flat" cmpd="sng">
                      <a:solidFill>
                        <a:srgbClr val="9E9E9E">
                          <a:alpha val="0"/>
                        </a:srgbClr>
                      </a:solidFill>
                      <a:prstDash val="solid"/>
                      <a:round/>
                      <a:headEnd type="none" w="sm" len="sm"/>
                      <a:tailEnd type="none" w="sm" len="sm"/>
                    </a:lnT>
                    <a:lnB w="38100"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GB" dirty="0">
                          <a:latin typeface="Georgia"/>
                          <a:ea typeface="Georgia"/>
                          <a:cs typeface="Georgia"/>
                          <a:sym typeface="Georgia"/>
                        </a:rPr>
                        <a:t>[</a:t>
                      </a:r>
                      <a:r>
                        <a:rPr lang="en-GB" sz="1400" dirty="0">
                          <a:solidFill>
                            <a:schemeClr val="dk1"/>
                          </a:solidFill>
                          <a:latin typeface="Georgia"/>
                          <a:ea typeface="Georgia"/>
                          <a:cs typeface="Georgia"/>
                          <a:sym typeface="Georgia"/>
                        </a:rPr>
                        <a:t>How could we optimize outwear assortment, visibility and promotion strategy to align with evolving customer preferences this winter?]</a:t>
                      </a:r>
                      <a:r>
                        <a:rPr lang="en-GB" dirty="0">
                          <a:latin typeface="Georgia"/>
                          <a:ea typeface="Georgia"/>
                          <a:cs typeface="Georgia"/>
                          <a:sym typeface="Georgia"/>
                        </a:rPr>
                        <a:t>]</a:t>
                      </a:r>
                      <a:endParaRPr dirty="0">
                        <a:latin typeface="Georgia"/>
                        <a:ea typeface="Georgia"/>
                        <a:cs typeface="Georgia"/>
                        <a:sym typeface="Georgia"/>
                      </a:endParaRPr>
                    </a:p>
                  </a:txBody>
                  <a:tcPr marL="91425" marR="91425" marT="91425" marB="91425">
                    <a:lnL w="38100" cap="flat" cmpd="sng">
                      <a:solidFill>
                        <a:srgbClr val="9E9E9E">
                          <a:alpha val="0"/>
                        </a:srgbClr>
                      </a:solidFill>
                      <a:prstDash val="solid"/>
                      <a:round/>
                      <a:headEnd type="none" w="sm" len="sm"/>
                      <a:tailEnd type="none" w="sm" len="sm"/>
                    </a:lnL>
                    <a:lnR w="38100" cap="flat" cmpd="sng">
                      <a:solidFill>
                        <a:srgbClr val="9E9E9E">
                          <a:alpha val="0"/>
                        </a:srgbClr>
                      </a:solidFill>
                      <a:prstDash val="solid"/>
                      <a:round/>
                      <a:headEnd type="none" w="sm" len="sm"/>
                      <a:tailEnd type="none" w="sm" len="sm"/>
                    </a:lnR>
                    <a:lnT w="38100" cap="flat" cmpd="sng">
                      <a:solidFill>
                        <a:srgbClr val="9E9E9E">
                          <a:alpha val="0"/>
                        </a:srgbClr>
                      </a:solidFill>
                      <a:prstDash val="solid"/>
                      <a:round/>
                      <a:headEnd type="none" w="sm" len="sm"/>
                      <a:tailEnd type="none" w="sm" len="sm"/>
                    </a:lnT>
                    <a:lnB w="38100" cap="flat" cmpd="sng">
                      <a:solidFill>
                        <a:srgbClr val="F1F1F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466925">
                <a:tc>
                  <a:txBody>
                    <a:bodyPr/>
                    <a:lstStyle/>
                    <a:p>
                      <a:pPr marL="0" lvl="0" indent="0" algn="l" rtl="0">
                        <a:spcBef>
                          <a:spcPts val="0"/>
                        </a:spcBef>
                        <a:spcAft>
                          <a:spcPts val="0"/>
                        </a:spcAft>
                        <a:buNone/>
                      </a:pPr>
                      <a:r>
                        <a:rPr lang="en-GB" sz="1150" b="1">
                          <a:latin typeface="Georgia"/>
                          <a:ea typeface="Georgia"/>
                          <a:cs typeface="Georgia"/>
                          <a:sym typeface="Georgia"/>
                        </a:rPr>
                        <a:t>New box</a:t>
                      </a:r>
                      <a:endParaRPr sz="1150" b="1">
                        <a:latin typeface="Georgia"/>
                        <a:ea typeface="Georgia"/>
                        <a:cs typeface="Georgia"/>
                        <a:sym typeface="Georgia"/>
                      </a:endParaRPr>
                    </a:p>
                  </a:txBody>
                  <a:tcPr marL="91425" marR="91425" marT="91425" marB="91425">
                    <a:lnL w="38100" cap="flat" cmpd="sng">
                      <a:solidFill>
                        <a:srgbClr val="9E9E9E">
                          <a:alpha val="0"/>
                        </a:srgbClr>
                      </a:solidFill>
                      <a:prstDash val="solid"/>
                      <a:round/>
                      <a:headEnd type="none" w="sm" len="sm"/>
                      <a:tailEnd type="none" w="sm" len="sm"/>
                    </a:lnL>
                    <a:lnR w="38100" cap="flat" cmpd="sng">
                      <a:solidFill>
                        <a:srgbClr val="9E9E9E">
                          <a:alpha val="0"/>
                        </a:srgbClr>
                      </a:solidFill>
                      <a:prstDash val="solid"/>
                      <a:round/>
                      <a:headEnd type="none" w="sm" len="sm"/>
                      <a:tailEnd type="none" w="sm" len="sm"/>
                    </a:lnR>
                    <a:lnT w="38100" cap="flat" cmpd="sng">
                      <a:solidFill>
                        <a:srgbClr val="9E9E9E">
                          <a:alpha val="0"/>
                        </a:srgbClr>
                      </a:solidFill>
                      <a:prstDash val="solid"/>
                      <a:round/>
                      <a:headEnd type="none" w="sm" len="sm"/>
                      <a:tailEnd type="none" w="sm" len="sm"/>
                    </a:lnT>
                    <a:lnB w="38100"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GB" dirty="0">
                          <a:latin typeface="Georgia"/>
                          <a:ea typeface="Georgia"/>
                          <a:cs typeface="Georgia"/>
                          <a:sym typeface="Georgia"/>
                        </a:rPr>
                        <a:t>[</a:t>
                      </a:r>
                      <a:r>
                        <a:rPr lang="en-GB" sz="1400" b="0" dirty="0">
                          <a:solidFill>
                            <a:schemeClr val="dk1"/>
                          </a:solidFill>
                          <a:latin typeface="Georgia"/>
                          <a:ea typeface="Georgia"/>
                          <a:cs typeface="Georgia"/>
                          <a:sym typeface="Georgia"/>
                        </a:rPr>
                        <a:t>diversity in fashion to match evolving customers’ preferences</a:t>
                      </a:r>
                      <a:r>
                        <a:rPr lang="en-GB" dirty="0">
                          <a:latin typeface="Georgia"/>
                          <a:ea typeface="Georgia"/>
                          <a:cs typeface="Georgia"/>
                          <a:sym typeface="Georgia"/>
                        </a:rPr>
                        <a:t>]</a:t>
                      </a:r>
                      <a:endParaRPr dirty="0">
                        <a:latin typeface="Georgia"/>
                        <a:ea typeface="Georgia"/>
                        <a:cs typeface="Georgia"/>
                        <a:sym typeface="Georgia"/>
                      </a:endParaRPr>
                    </a:p>
                  </a:txBody>
                  <a:tcPr marL="91425" marR="91425" marT="91425" marB="91425">
                    <a:lnL w="38100" cap="flat" cmpd="sng">
                      <a:solidFill>
                        <a:srgbClr val="9E9E9E">
                          <a:alpha val="0"/>
                        </a:srgbClr>
                      </a:solidFill>
                      <a:prstDash val="solid"/>
                      <a:round/>
                      <a:headEnd type="none" w="sm" len="sm"/>
                      <a:tailEnd type="none" w="sm" len="sm"/>
                    </a:lnL>
                    <a:lnR w="38100" cap="flat" cmpd="sng">
                      <a:solidFill>
                        <a:srgbClr val="9E9E9E">
                          <a:alpha val="0"/>
                        </a:srgbClr>
                      </a:solidFill>
                      <a:prstDash val="solid"/>
                      <a:round/>
                      <a:headEnd type="none" w="sm" len="sm"/>
                      <a:tailEnd type="none" w="sm" len="sm"/>
                    </a:lnR>
                    <a:lnT w="38100" cap="flat" cmpd="sng">
                      <a:solidFill>
                        <a:srgbClr val="F1F1F1"/>
                      </a:solidFill>
                      <a:prstDash val="solid"/>
                      <a:round/>
                      <a:headEnd type="none" w="sm" len="sm"/>
                      <a:tailEnd type="none" w="sm" len="sm"/>
                    </a:lnT>
                    <a:lnB w="38100" cap="flat" cmpd="sng">
                      <a:solidFill>
                        <a:srgbClr val="9E9E9E">
                          <a:alpha val="0"/>
                        </a:srgbClr>
                      </a:solidFill>
                      <a:prstDash val="solid"/>
                      <a:round/>
                      <a:headEnd type="none" w="sm" len="sm"/>
                      <a:tailEnd type="none" w="sm" len="sm"/>
                    </a:lnB>
                    <a:solidFill>
                      <a:srgbClr val="D9EAD3"/>
                    </a:solidFill>
                  </a:tcPr>
                </a:tc>
                <a:extLst>
                  <a:ext uri="{0D108BD9-81ED-4DB2-BD59-A6C34878D82A}">
                    <a16:rowId xmlns:a16="http://schemas.microsoft.com/office/drawing/2014/main" val="10001"/>
                  </a:ext>
                </a:extLst>
              </a:tr>
            </a:tbl>
          </a:graphicData>
        </a:graphic>
      </p:graphicFrame>
      <p:pic>
        <p:nvPicPr>
          <p:cNvPr id="119" name="Google Shape;119;p20"/>
          <p:cNvPicPr preferRelativeResize="0"/>
          <p:nvPr/>
        </p:nvPicPr>
        <p:blipFill>
          <a:blip r:embed="rId3">
            <a:alphaModFix/>
          </a:blip>
          <a:stretch>
            <a:fillRect/>
          </a:stretch>
        </p:blipFill>
        <p:spPr>
          <a:xfrm>
            <a:off x="8543075" y="4838625"/>
            <a:ext cx="501600" cy="203025"/>
          </a:xfrm>
          <a:prstGeom prst="rect">
            <a:avLst/>
          </a:prstGeom>
          <a:noFill/>
          <a:ln>
            <a:noFill/>
          </a:ln>
        </p:spPr>
      </p:pic>
      <p:sp>
        <p:nvSpPr>
          <p:cNvPr id="120" name="Google Shape;120;p20"/>
          <p:cNvSpPr txBox="1">
            <a:spLocks noGrp="1"/>
          </p:cNvSpPr>
          <p:nvPr>
            <p:ph type="title"/>
          </p:nvPr>
        </p:nvSpPr>
        <p:spPr>
          <a:xfrm>
            <a:off x="311700" y="445025"/>
            <a:ext cx="3470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Brainstorm</a:t>
            </a:r>
            <a:endParaRPr/>
          </a:p>
          <a:p>
            <a:pPr marL="0" lvl="0" indent="0" algn="l" rtl="0">
              <a:spcBef>
                <a:spcPts val="0"/>
              </a:spcBef>
              <a:spcAft>
                <a:spcPts val="0"/>
              </a:spcAft>
              <a:buClr>
                <a:schemeClr val="dk1"/>
              </a:buClr>
              <a:buSzPct val="85344"/>
              <a:buFont typeface="Arial"/>
              <a:buNone/>
            </a:pPr>
            <a:r>
              <a:rPr lang="en-GB" sz="1288" b="0">
                <a:solidFill>
                  <a:schemeClr val="dk1"/>
                </a:solidFill>
              </a:rPr>
              <a:t>Choose one of the effective questions you created on slide 5, and a new box from slide 7, and brainstorm potential ideas to address the question</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702</Words>
  <Application>Microsoft Macintosh PowerPoint</Application>
  <PresentationFormat>On-screen Show (16:9)</PresentationFormat>
  <Paragraphs>87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Georgia</vt:lpstr>
      <vt:lpstr>Times New Roman</vt:lpstr>
      <vt:lpstr>Simple Light</vt:lpstr>
      <vt:lpstr>Building new boxes</vt:lpstr>
      <vt:lpstr>We are going to discuss effective brainstorming. Start by reviewing this article on the BCG website:</vt:lpstr>
      <vt:lpstr>The article offers five suggestions to achieve real, valuable insights from brainstorming We will focus on three of these in today’s task (as well as the brainstorming itself), highlighted in green</vt:lpstr>
      <vt:lpstr>Your task</vt:lpstr>
      <vt:lpstr>Frame the question effectively</vt:lpstr>
      <vt:lpstr>Reveal and doubt your boxes</vt:lpstr>
      <vt:lpstr>Bring new boxes</vt:lpstr>
      <vt:lpstr>Brainstorm Choose one of the effective questions you created on slide 5, and a new box from slide 7, and brainstorm potential ideas to address the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rishumandal01@gmail.com</cp:lastModifiedBy>
  <cp:revision>1</cp:revision>
  <dcterms:modified xsi:type="dcterms:W3CDTF">2025-04-26T08:32:22Z</dcterms:modified>
</cp:coreProperties>
</file>