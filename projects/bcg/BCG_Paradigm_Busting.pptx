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8"/>
  </p:notesMasterIdLst>
  <p:sldIdLst>
    <p:sldId id="256" r:id="rId2"/>
    <p:sldId id="257" r:id="rId3"/>
    <p:sldId id="258" r:id="rId4"/>
    <p:sldId id="259" r:id="rId5"/>
    <p:sldId id="260" r:id="rId6"/>
    <p:sldId id="261" r:id="rId7"/>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E5BBF8B-EB92-43C1-88E3-6C3F0042633E}">
  <a:tblStyle styleId="{AE5BBF8B-EB92-43C1-88E3-6C3F0042633E}"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0"/>
    <p:restoredTop sz="94659"/>
  </p:normalViewPr>
  <p:slideViewPr>
    <p:cSldViewPr snapToGrid="0">
      <p:cViewPr varScale="1">
        <p:scale>
          <a:sx n="162" d="100"/>
          <a:sy n="162" d="100"/>
        </p:scale>
        <p:origin x="200" y="328"/>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
        <p:cNvGrpSpPr/>
        <p:nvPr/>
      </p:nvGrpSpPr>
      <p:grpSpPr>
        <a:xfrm>
          <a:off x="0" y="0"/>
          <a:ext cx="0" cy="0"/>
          <a:chOff x="0" y="0"/>
          <a:chExt cx="0" cy="0"/>
        </a:xfrm>
      </p:grpSpPr>
      <p:sp>
        <p:nvSpPr>
          <p:cNvPr id="53" name="Google Shape;53;p: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 name="Google Shape;54;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149b1f21fec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 name="Google Shape;59;g149b1f21fec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149b1f21fec_0_2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 name="Google Shape;65;g149b1f21fec_0_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g149b1f21fec_0_9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 name="Google Shape;82;g149b1f21fec_0_9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g149b1f21fec_0_1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 name="Google Shape;99;g149b1f21fec_0_1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g149b1f21fec_0_1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7" name="Google Shape;117;g149b1f21fec_0_1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12779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Clr>
                <a:srgbClr val="00754B"/>
              </a:buClr>
              <a:buSzPts val="5200"/>
              <a:buNone/>
              <a:defRPr sz="5200" b="1">
                <a:solidFill>
                  <a:srgbClr val="00754B"/>
                </a:solidFill>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33675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
        <p:nvSpPr>
          <p:cNvPr id="13" name="Google Shape;13;p2"/>
          <p:cNvSpPr/>
          <p:nvPr/>
        </p:nvSpPr>
        <p:spPr>
          <a:xfrm>
            <a:off x="-75" y="4172200"/>
            <a:ext cx="9144000" cy="971400"/>
          </a:xfrm>
          <a:prstGeom prst="rect">
            <a:avLst/>
          </a:prstGeom>
          <a:solidFill>
            <a:srgbClr val="00754B"/>
          </a:solidFill>
          <a:ln w="9525" cap="flat" cmpd="sng">
            <a:solidFill>
              <a:srgbClr val="00754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4" name="Google Shape;14;p2"/>
          <p:cNvPicPr preferRelativeResize="0"/>
          <p:nvPr/>
        </p:nvPicPr>
        <p:blipFill>
          <a:blip r:embed="rId2">
            <a:alphaModFix/>
          </a:blip>
          <a:stretch>
            <a:fillRect/>
          </a:stretch>
        </p:blipFill>
        <p:spPr>
          <a:xfrm>
            <a:off x="7402675" y="4338418"/>
            <a:ext cx="1618475" cy="66070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5"/>
        <p:cNvGrpSpPr/>
        <p:nvPr/>
      </p:nvGrpSpPr>
      <p:grpSpPr>
        <a:xfrm>
          <a:off x="0" y="0"/>
          <a:ext cx="0" cy="0"/>
          <a:chOff x="0" y="0"/>
          <a:chExt cx="0" cy="0"/>
        </a:xfrm>
      </p:grpSpPr>
      <p:sp>
        <p:nvSpPr>
          <p:cNvPr id="16" name="Google Shape;16;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7" name="Google Shape;17;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8"/>
        <p:cNvGrpSpPr/>
        <p:nvPr/>
      </p:nvGrpSpPr>
      <p:grpSpPr>
        <a:xfrm>
          <a:off x="0" y="0"/>
          <a:ext cx="0" cy="0"/>
          <a:chOff x="0" y="0"/>
          <a:chExt cx="0" cy="0"/>
        </a:xfrm>
      </p:grpSpPr>
      <p:sp>
        <p:nvSpPr>
          <p:cNvPr id="19" name="Google Shape;19;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0" name="Google Shape;20;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pic>
        <p:nvPicPr>
          <p:cNvPr id="21" name="Google Shape;21;p4"/>
          <p:cNvPicPr preferRelativeResize="0"/>
          <p:nvPr/>
        </p:nvPicPr>
        <p:blipFill>
          <a:blip r:embed="rId2">
            <a:alphaModFix/>
          </a:blip>
          <a:stretch>
            <a:fillRect/>
          </a:stretch>
        </p:blipFill>
        <p:spPr>
          <a:xfrm>
            <a:off x="8543075" y="4838625"/>
            <a:ext cx="501600" cy="203025"/>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2"/>
        <p:cNvGrpSpPr/>
        <p:nvPr/>
      </p:nvGrpSpPr>
      <p:grpSpPr>
        <a:xfrm>
          <a:off x="0" y="0"/>
          <a:ext cx="0" cy="0"/>
          <a:chOff x="0" y="0"/>
          <a:chExt cx="0" cy="0"/>
        </a:xfrm>
      </p:grpSpPr>
      <p:sp>
        <p:nvSpPr>
          <p:cNvPr id="23" name="Google Shape;23;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4" name="Google Shape;24;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5" name="Google Shape;25;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6" name="Google Shape;26;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7"/>
        <p:cNvGrpSpPr/>
        <p:nvPr/>
      </p:nvGrpSpPr>
      <p:grpSpPr>
        <a:xfrm>
          <a:off x="0" y="0"/>
          <a:ext cx="0" cy="0"/>
          <a:chOff x="0" y="0"/>
          <a:chExt cx="0" cy="0"/>
        </a:xfrm>
      </p:grpSpPr>
      <p:sp>
        <p:nvSpPr>
          <p:cNvPr id="28" name="Google Shape;28;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9" name="Google Shape;29;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0"/>
        <p:cNvGrpSpPr/>
        <p:nvPr/>
      </p:nvGrpSpPr>
      <p:grpSpPr>
        <a:xfrm>
          <a:off x="0" y="0"/>
          <a:ext cx="0" cy="0"/>
          <a:chOff x="0" y="0"/>
          <a:chExt cx="0" cy="0"/>
        </a:xfrm>
      </p:grpSpPr>
      <p:sp>
        <p:nvSpPr>
          <p:cNvPr id="31" name="Google Shape;31;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2" name="Google Shape;32;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3" name="Google Shape;33;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4"/>
        <p:cNvGrpSpPr/>
        <p:nvPr/>
      </p:nvGrpSpPr>
      <p:grpSpPr>
        <a:xfrm>
          <a:off x="0" y="0"/>
          <a:ext cx="0" cy="0"/>
          <a:chOff x="0" y="0"/>
          <a:chExt cx="0" cy="0"/>
        </a:xfrm>
      </p:grpSpPr>
      <p:sp>
        <p:nvSpPr>
          <p:cNvPr id="35" name="Google Shape;35;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6" name="Google Shape;36;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7"/>
        <p:cNvGrpSpPr/>
        <p:nvPr/>
      </p:nvGrpSpPr>
      <p:grpSpPr>
        <a:xfrm>
          <a:off x="0" y="0"/>
          <a:ext cx="0" cy="0"/>
          <a:chOff x="0" y="0"/>
          <a:chExt cx="0" cy="0"/>
        </a:xfrm>
      </p:grpSpPr>
      <p:sp>
        <p:nvSpPr>
          <p:cNvPr id="38" name="Google Shape;38;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40" name="Google Shape;40;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41" name="Google Shape;41;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2" name="Google Shape;42;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3"/>
        <p:cNvGrpSpPr/>
        <p:nvPr/>
      </p:nvGrpSpPr>
      <p:grpSpPr>
        <a:xfrm>
          <a:off x="0" y="0"/>
          <a:ext cx="0" cy="0"/>
          <a:chOff x="0" y="0"/>
          <a:chExt cx="0" cy="0"/>
        </a:xfrm>
      </p:grpSpPr>
      <p:sp>
        <p:nvSpPr>
          <p:cNvPr id="44" name="Google Shape;44;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5" name="Google Shape;45;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6"/>
        <p:cNvGrpSpPr/>
        <p:nvPr/>
      </p:nvGrpSpPr>
      <p:grpSpPr>
        <a:xfrm>
          <a:off x="0" y="0"/>
          <a:ext cx="0" cy="0"/>
          <a:chOff x="0" y="0"/>
          <a:chExt cx="0" cy="0"/>
        </a:xfrm>
      </p:grpSpPr>
      <p:sp>
        <p:nvSpPr>
          <p:cNvPr id="47" name="Google Shape;47;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8" name="Google Shape;48;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9" name="Google Shape;49;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rgbClr val="F1F1F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rgbClr val="00754B"/>
              </a:buClr>
              <a:buSzPts val="2800"/>
              <a:buFont typeface="Georgia"/>
              <a:buNone/>
              <a:defRPr sz="2800" b="1">
                <a:solidFill>
                  <a:srgbClr val="00754B"/>
                </a:solidFill>
                <a:latin typeface="Georgia"/>
                <a:ea typeface="Georgia"/>
                <a:cs typeface="Georgia"/>
                <a:sym typeface="Georgia"/>
              </a:defRPr>
            </a:lvl1pPr>
            <a:lvl2pPr lvl="1">
              <a:spcBef>
                <a:spcPts val="0"/>
              </a:spcBef>
              <a:spcAft>
                <a:spcPts val="0"/>
              </a:spcAft>
              <a:buClr>
                <a:schemeClr val="dk1"/>
              </a:buClr>
              <a:buSzPts val="2800"/>
              <a:buFont typeface="Georgia"/>
              <a:buNone/>
              <a:defRPr sz="2800">
                <a:solidFill>
                  <a:schemeClr val="dk1"/>
                </a:solidFill>
                <a:latin typeface="Georgia"/>
                <a:ea typeface="Georgia"/>
                <a:cs typeface="Georgia"/>
                <a:sym typeface="Georgia"/>
              </a:defRPr>
            </a:lvl2pPr>
            <a:lvl3pPr lvl="2">
              <a:spcBef>
                <a:spcPts val="0"/>
              </a:spcBef>
              <a:spcAft>
                <a:spcPts val="0"/>
              </a:spcAft>
              <a:buClr>
                <a:schemeClr val="dk1"/>
              </a:buClr>
              <a:buSzPts val="2800"/>
              <a:buFont typeface="Georgia"/>
              <a:buNone/>
              <a:defRPr sz="2800">
                <a:solidFill>
                  <a:schemeClr val="dk1"/>
                </a:solidFill>
                <a:latin typeface="Georgia"/>
                <a:ea typeface="Georgia"/>
                <a:cs typeface="Georgia"/>
                <a:sym typeface="Georgia"/>
              </a:defRPr>
            </a:lvl3pPr>
            <a:lvl4pPr lvl="3">
              <a:spcBef>
                <a:spcPts val="0"/>
              </a:spcBef>
              <a:spcAft>
                <a:spcPts val="0"/>
              </a:spcAft>
              <a:buClr>
                <a:schemeClr val="dk1"/>
              </a:buClr>
              <a:buSzPts val="2800"/>
              <a:buFont typeface="Georgia"/>
              <a:buNone/>
              <a:defRPr sz="2800">
                <a:solidFill>
                  <a:schemeClr val="dk1"/>
                </a:solidFill>
                <a:latin typeface="Georgia"/>
                <a:ea typeface="Georgia"/>
                <a:cs typeface="Georgia"/>
                <a:sym typeface="Georgia"/>
              </a:defRPr>
            </a:lvl4pPr>
            <a:lvl5pPr lvl="4">
              <a:spcBef>
                <a:spcPts val="0"/>
              </a:spcBef>
              <a:spcAft>
                <a:spcPts val="0"/>
              </a:spcAft>
              <a:buClr>
                <a:schemeClr val="dk1"/>
              </a:buClr>
              <a:buSzPts val="2800"/>
              <a:buFont typeface="Georgia"/>
              <a:buNone/>
              <a:defRPr sz="2800">
                <a:solidFill>
                  <a:schemeClr val="dk1"/>
                </a:solidFill>
                <a:latin typeface="Georgia"/>
                <a:ea typeface="Georgia"/>
                <a:cs typeface="Georgia"/>
                <a:sym typeface="Georgia"/>
              </a:defRPr>
            </a:lvl5pPr>
            <a:lvl6pPr lvl="5">
              <a:spcBef>
                <a:spcPts val="0"/>
              </a:spcBef>
              <a:spcAft>
                <a:spcPts val="0"/>
              </a:spcAft>
              <a:buClr>
                <a:schemeClr val="dk1"/>
              </a:buClr>
              <a:buSzPts val="2800"/>
              <a:buFont typeface="Georgia"/>
              <a:buNone/>
              <a:defRPr sz="2800">
                <a:solidFill>
                  <a:schemeClr val="dk1"/>
                </a:solidFill>
                <a:latin typeface="Georgia"/>
                <a:ea typeface="Georgia"/>
                <a:cs typeface="Georgia"/>
                <a:sym typeface="Georgia"/>
              </a:defRPr>
            </a:lvl6pPr>
            <a:lvl7pPr lvl="6">
              <a:spcBef>
                <a:spcPts val="0"/>
              </a:spcBef>
              <a:spcAft>
                <a:spcPts val="0"/>
              </a:spcAft>
              <a:buClr>
                <a:schemeClr val="dk1"/>
              </a:buClr>
              <a:buSzPts val="2800"/>
              <a:buFont typeface="Georgia"/>
              <a:buNone/>
              <a:defRPr sz="2800">
                <a:solidFill>
                  <a:schemeClr val="dk1"/>
                </a:solidFill>
                <a:latin typeface="Georgia"/>
                <a:ea typeface="Georgia"/>
                <a:cs typeface="Georgia"/>
                <a:sym typeface="Georgia"/>
              </a:defRPr>
            </a:lvl7pPr>
            <a:lvl8pPr lvl="7">
              <a:spcBef>
                <a:spcPts val="0"/>
              </a:spcBef>
              <a:spcAft>
                <a:spcPts val="0"/>
              </a:spcAft>
              <a:buClr>
                <a:schemeClr val="dk1"/>
              </a:buClr>
              <a:buSzPts val="2800"/>
              <a:buFont typeface="Georgia"/>
              <a:buNone/>
              <a:defRPr sz="2800">
                <a:solidFill>
                  <a:schemeClr val="dk1"/>
                </a:solidFill>
                <a:latin typeface="Georgia"/>
                <a:ea typeface="Georgia"/>
                <a:cs typeface="Georgia"/>
                <a:sym typeface="Georgia"/>
              </a:defRPr>
            </a:lvl8pPr>
            <a:lvl9pPr lvl="8">
              <a:spcBef>
                <a:spcPts val="0"/>
              </a:spcBef>
              <a:spcAft>
                <a:spcPts val="0"/>
              </a:spcAft>
              <a:buClr>
                <a:schemeClr val="dk1"/>
              </a:buClr>
              <a:buSzPts val="2800"/>
              <a:buFont typeface="Georgia"/>
              <a:buNone/>
              <a:defRPr sz="2800">
                <a:solidFill>
                  <a:schemeClr val="dk1"/>
                </a:solidFill>
                <a:latin typeface="Georgia"/>
                <a:ea typeface="Georgia"/>
                <a:cs typeface="Georgia"/>
                <a:sym typeface="Georgia"/>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1"/>
              </a:buClr>
              <a:buSzPts val="1800"/>
              <a:buFont typeface="Georgia"/>
              <a:buChar char="●"/>
              <a:defRPr sz="1800">
                <a:solidFill>
                  <a:schemeClr val="dk1"/>
                </a:solidFill>
                <a:latin typeface="Georgia"/>
                <a:ea typeface="Georgia"/>
                <a:cs typeface="Georgia"/>
                <a:sym typeface="Georgia"/>
              </a:defRPr>
            </a:lvl1pPr>
            <a:lvl2pPr marL="914400" lvl="1" indent="-317500">
              <a:lnSpc>
                <a:spcPct val="115000"/>
              </a:lnSpc>
              <a:spcBef>
                <a:spcPts val="0"/>
              </a:spcBef>
              <a:spcAft>
                <a:spcPts val="0"/>
              </a:spcAft>
              <a:buClr>
                <a:schemeClr val="dk1"/>
              </a:buClr>
              <a:buSzPts val="1400"/>
              <a:buFont typeface="Georgia"/>
              <a:buChar char="○"/>
              <a:defRPr>
                <a:solidFill>
                  <a:schemeClr val="dk1"/>
                </a:solidFill>
                <a:latin typeface="Georgia"/>
                <a:ea typeface="Georgia"/>
                <a:cs typeface="Georgia"/>
                <a:sym typeface="Georgia"/>
              </a:defRPr>
            </a:lvl2pPr>
            <a:lvl3pPr marL="1371600" lvl="2" indent="-317500">
              <a:lnSpc>
                <a:spcPct val="115000"/>
              </a:lnSpc>
              <a:spcBef>
                <a:spcPts val="0"/>
              </a:spcBef>
              <a:spcAft>
                <a:spcPts val="0"/>
              </a:spcAft>
              <a:buClr>
                <a:schemeClr val="dk1"/>
              </a:buClr>
              <a:buSzPts val="1400"/>
              <a:buFont typeface="Georgia"/>
              <a:buChar char="■"/>
              <a:defRPr>
                <a:solidFill>
                  <a:schemeClr val="dk1"/>
                </a:solidFill>
                <a:latin typeface="Georgia"/>
                <a:ea typeface="Georgia"/>
                <a:cs typeface="Georgia"/>
                <a:sym typeface="Georgia"/>
              </a:defRPr>
            </a:lvl3pPr>
            <a:lvl4pPr marL="1828800" lvl="3" indent="-317500">
              <a:lnSpc>
                <a:spcPct val="115000"/>
              </a:lnSpc>
              <a:spcBef>
                <a:spcPts val="0"/>
              </a:spcBef>
              <a:spcAft>
                <a:spcPts val="0"/>
              </a:spcAft>
              <a:buClr>
                <a:schemeClr val="dk1"/>
              </a:buClr>
              <a:buSzPts val="1400"/>
              <a:buFont typeface="Georgia"/>
              <a:buChar char="●"/>
              <a:defRPr>
                <a:solidFill>
                  <a:schemeClr val="dk1"/>
                </a:solidFill>
                <a:latin typeface="Georgia"/>
                <a:ea typeface="Georgia"/>
                <a:cs typeface="Georgia"/>
                <a:sym typeface="Georgia"/>
              </a:defRPr>
            </a:lvl4pPr>
            <a:lvl5pPr marL="2286000" lvl="4" indent="-317500">
              <a:lnSpc>
                <a:spcPct val="115000"/>
              </a:lnSpc>
              <a:spcBef>
                <a:spcPts val="0"/>
              </a:spcBef>
              <a:spcAft>
                <a:spcPts val="0"/>
              </a:spcAft>
              <a:buClr>
                <a:schemeClr val="dk1"/>
              </a:buClr>
              <a:buSzPts val="1400"/>
              <a:buFont typeface="Georgia"/>
              <a:buChar char="○"/>
              <a:defRPr>
                <a:solidFill>
                  <a:schemeClr val="dk1"/>
                </a:solidFill>
                <a:latin typeface="Georgia"/>
                <a:ea typeface="Georgia"/>
                <a:cs typeface="Georgia"/>
                <a:sym typeface="Georgia"/>
              </a:defRPr>
            </a:lvl5pPr>
            <a:lvl6pPr marL="2743200" lvl="5" indent="-317500">
              <a:lnSpc>
                <a:spcPct val="115000"/>
              </a:lnSpc>
              <a:spcBef>
                <a:spcPts val="0"/>
              </a:spcBef>
              <a:spcAft>
                <a:spcPts val="0"/>
              </a:spcAft>
              <a:buClr>
                <a:schemeClr val="dk1"/>
              </a:buClr>
              <a:buSzPts val="1400"/>
              <a:buFont typeface="Georgia"/>
              <a:buChar char="■"/>
              <a:defRPr>
                <a:solidFill>
                  <a:schemeClr val="dk1"/>
                </a:solidFill>
                <a:latin typeface="Georgia"/>
                <a:ea typeface="Georgia"/>
                <a:cs typeface="Georgia"/>
                <a:sym typeface="Georgia"/>
              </a:defRPr>
            </a:lvl6pPr>
            <a:lvl7pPr marL="3200400" lvl="6" indent="-317500">
              <a:lnSpc>
                <a:spcPct val="115000"/>
              </a:lnSpc>
              <a:spcBef>
                <a:spcPts val="0"/>
              </a:spcBef>
              <a:spcAft>
                <a:spcPts val="0"/>
              </a:spcAft>
              <a:buClr>
                <a:schemeClr val="dk1"/>
              </a:buClr>
              <a:buSzPts val="1400"/>
              <a:buFont typeface="Georgia"/>
              <a:buChar char="●"/>
              <a:defRPr>
                <a:solidFill>
                  <a:schemeClr val="dk1"/>
                </a:solidFill>
                <a:latin typeface="Georgia"/>
                <a:ea typeface="Georgia"/>
                <a:cs typeface="Georgia"/>
                <a:sym typeface="Georgia"/>
              </a:defRPr>
            </a:lvl7pPr>
            <a:lvl8pPr marL="3657600" lvl="7" indent="-317500">
              <a:lnSpc>
                <a:spcPct val="115000"/>
              </a:lnSpc>
              <a:spcBef>
                <a:spcPts val="0"/>
              </a:spcBef>
              <a:spcAft>
                <a:spcPts val="0"/>
              </a:spcAft>
              <a:buClr>
                <a:schemeClr val="dk1"/>
              </a:buClr>
              <a:buSzPts val="1400"/>
              <a:buFont typeface="Georgia"/>
              <a:buChar char="○"/>
              <a:defRPr>
                <a:solidFill>
                  <a:schemeClr val="dk1"/>
                </a:solidFill>
                <a:latin typeface="Georgia"/>
                <a:ea typeface="Georgia"/>
                <a:cs typeface="Georgia"/>
                <a:sym typeface="Georgia"/>
              </a:defRPr>
            </a:lvl8pPr>
            <a:lvl9pPr marL="4114800" lvl="8" indent="-317500">
              <a:lnSpc>
                <a:spcPct val="115000"/>
              </a:lnSpc>
              <a:spcBef>
                <a:spcPts val="0"/>
              </a:spcBef>
              <a:spcAft>
                <a:spcPts val="0"/>
              </a:spcAft>
              <a:buClr>
                <a:schemeClr val="dk1"/>
              </a:buClr>
              <a:buSzPts val="1400"/>
              <a:buFont typeface="Georgia"/>
              <a:buChar char="■"/>
              <a:defRPr>
                <a:solidFill>
                  <a:schemeClr val="dk1"/>
                </a:solidFill>
                <a:latin typeface="Georgia"/>
                <a:ea typeface="Georgia"/>
                <a:cs typeface="Georgia"/>
                <a:sym typeface="Georgia"/>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5"/>
        <p:cNvGrpSpPr/>
        <p:nvPr/>
      </p:nvGrpSpPr>
      <p:grpSpPr>
        <a:xfrm>
          <a:off x="0" y="0"/>
          <a:ext cx="0" cy="0"/>
          <a:chOff x="0" y="0"/>
          <a:chExt cx="0" cy="0"/>
        </a:xfrm>
      </p:grpSpPr>
      <p:sp>
        <p:nvSpPr>
          <p:cNvPr id="56" name="Google Shape;56;p13"/>
          <p:cNvSpPr txBox="1">
            <a:spLocks noGrp="1"/>
          </p:cNvSpPr>
          <p:nvPr>
            <p:ph type="ctrTitle"/>
          </p:nvPr>
        </p:nvSpPr>
        <p:spPr>
          <a:xfrm>
            <a:off x="387900" y="2140100"/>
            <a:ext cx="6034200" cy="2052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SzPts val="990"/>
              <a:buNone/>
            </a:pPr>
            <a:r>
              <a:rPr lang="en-GB" sz="5680">
                <a:solidFill>
                  <a:srgbClr val="1A7A56"/>
                </a:solidFill>
                <a:latin typeface="Times New Roman"/>
                <a:ea typeface="Times New Roman"/>
                <a:cs typeface="Times New Roman"/>
                <a:sym typeface="Times New Roman"/>
              </a:rPr>
              <a:t>Paradigm-busting workbook</a:t>
            </a:r>
            <a:endParaRPr sz="5680">
              <a:solidFill>
                <a:srgbClr val="1A7A56"/>
              </a:solidFill>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61" name="Google Shape;61;p1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It is up to us to interpret the “facts”</a:t>
            </a:r>
            <a:endParaRPr/>
          </a:p>
          <a:p>
            <a:pPr marL="0" lvl="0" indent="0" algn="l" rtl="0">
              <a:spcBef>
                <a:spcPts val="0"/>
              </a:spcBef>
              <a:spcAft>
                <a:spcPts val="0"/>
              </a:spcAft>
              <a:buClr>
                <a:schemeClr val="dk1"/>
              </a:buClr>
              <a:buSzPct val="85344"/>
              <a:buFont typeface="Arial"/>
              <a:buNone/>
            </a:pPr>
            <a:r>
              <a:rPr lang="en-GB" sz="1288" b="0">
                <a:solidFill>
                  <a:schemeClr val="dk1"/>
                </a:solidFill>
              </a:rPr>
              <a:t>Thought exercise: is a given megatrend an opportunity or threat? It could be either, depending on your mindset. Complete this exercise by filling in the </a:t>
            </a:r>
            <a:r>
              <a:rPr lang="en-GB" sz="1288" b="0">
                <a:solidFill>
                  <a:schemeClr val="dk1"/>
                </a:solidFill>
                <a:highlight>
                  <a:srgbClr val="D9EAD3"/>
                </a:highlight>
              </a:rPr>
              <a:t>blanks</a:t>
            </a:r>
            <a:r>
              <a:rPr lang="en-GB" sz="1288" b="0">
                <a:solidFill>
                  <a:schemeClr val="dk1"/>
                </a:solidFill>
              </a:rPr>
              <a:t>, challenging yourself to interpret the “facts”, which many see as threats, as opportunities.</a:t>
            </a:r>
            <a:endParaRPr sz="1288" b="0">
              <a:solidFill>
                <a:srgbClr val="000000"/>
              </a:solidFill>
            </a:endParaRPr>
          </a:p>
        </p:txBody>
      </p:sp>
      <p:graphicFrame>
        <p:nvGraphicFramePr>
          <p:cNvPr id="62" name="Google Shape;62;p14"/>
          <p:cNvGraphicFramePr/>
          <p:nvPr>
            <p:extLst>
              <p:ext uri="{D42A27DB-BD31-4B8C-83A1-F6EECF244321}">
                <p14:modId xmlns:p14="http://schemas.microsoft.com/office/powerpoint/2010/main" val="458667640"/>
              </p:ext>
            </p:extLst>
          </p:nvPr>
        </p:nvGraphicFramePr>
        <p:xfrm>
          <a:off x="311700" y="1396125"/>
          <a:ext cx="8520600" cy="3345300"/>
        </p:xfrm>
        <a:graphic>
          <a:graphicData uri="http://schemas.openxmlformats.org/drawingml/2006/table">
            <a:tbl>
              <a:tblPr>
                <a:noFill/>
                <a:tableStyleId>{AE5BBF8B-EB92-43C1-88E3-6C3F0042633E}</a:tableStyleId>
              </a:tblPr>
              <a:tblGrid>
                <a:gridCol w="2840200">
                  <a:extLst>
                    <a:ext uri="{9D8B030D-6E8A-4147-A177-3AD203B41FA5}">
                      <a16:colId xmlns:a16="http://schemas.microsoft.com/office/drawing/2014/main" val="20000"/>
                    </a:ext>
                  </a:extLst>
                </a:gridCol>
                <a:gridCol w="2840200">
                  <a:extLst>
                    <a:ext uri="{9D8B030D-6E8A-4147-A177-3AD203B41FA5}">
                      <a16:colId xmlns:a16="http://schemas.microsoft.com/office/drawing/2014/main" val="20001"/>
                    </a:ext>
                  </a:extLst>
                </a:gridCol>
                <a:gridCol w="2840200">
                  <a:extLst>
                    <a:ext uri="{9D8B030D-6E8A-4147-A177-3AD203B41FA5}">
                      <a16:colId xmlns:a16="http://schemas.microsoft.com/office/drawing/2014/main" val="20002"/>
                    </a:ext>
                  </a:extLst>
                </a:gridCol>
              </a:tblGrid>
              <a:tr h="244025">
                <a:tc>
                  <a:txBody>
                    <a:bodyPr/>
                    <a:lstStyle/>
                    <a:p>
                      <a:pPr marL="0" lvl="0" indent="0" algn="l" rtl="0">
                        <a:spcBef>
                          <a:spcPts val="0"/>
                        </a:spcBef>
                        <a:spcAft>
                          <a:spcPts val="0"/>
                        </a:spcAft>
                        <a:buNone/>
                      </a:pPr>
                      <a:r>
                        <a:rPr lang="en-GB" sz="1300" b="1">
                          <a:solidFill>
                            <a:srgbClr val="980000"/>
                          </a:solidFill>
                          <a:latin typeface="Georgia"/>
                          <a:ea typeface="Georgia"/>
                          <a:cs typeface="Georgia"/>
                          <a:sym typeface="Georgia"/>
                        </a:rPr>
                        <a:t>Threat</a:t>
                      </a:r>
                      <a:endParaRPr sz="1300" b="1">
                        <a:solidFill>
                          <a:srgbClr val="980000"/>
                        </a:solidFill>
                        <a:latin typeface="Georgia"/>
                        <a:ea typeface="Georgia"/>
                        <a:cs typeface="Georgia"/>
                        <a:sym typeface="Georgia"/>
                      </a:endParaRPr>
                    </a:p>
                  </a:txBody>
                  <a:tcPr marL="18000" marR="18000" marT="18000" marB="18000" anchor="ctr">
                    <a:lnL w="9525" cap="flat" cmpd="sng">
                      <a:solidFill>
                        <a:srgbClr val="9E9E9E">
                          <a:alpha val="0"/>
                        </a:srgbClr>
                      </a:solidFill>
                      <a:prstDash val="dot"/>
                      <a:round/>
                      <a:headEnd type="none" w="sm" len="sm"/>
                      <a:tailEnd type="none" w="sm" len="sm"/>
                    </a:lnL>
                    <a:lnR w="9525" cap="flat" cmpd="sng">
                      <a:solidFill>
                        <a:srgbClr val="9E9E9E">
                          <a:alpha val="0"/>
                        </a:srgbClr>
                      </a:solidFill>
                      <a:prstDash val="dot"/>
                      <a:round/>
                      <a:headEnd type="none" w="sm" len="sm"/>
                      <a:tailEnd type="none" w="sm" len="sm"/>
                    </a:lnR>
                    <a:lnT w="9525" cap="flat" cmpd="sng">
                      <a:solidFill>
                        <a:srgbClr val="9E9E9E">
                          <a:alpha val="0"/>
                        </a:srgbClr>
                      </a:solidFill>
                      <a:prstDash val="dot"/>
                      <a:round/>
                      <a:headEnd type="none" w="sm" len="sm"/>
                      <a:tailEnd type="none" w="sm" len="sm"/>
                    </a:lnT>
                    <a:lnB w="9525" cap="flat" cmpd="sng">
                      <a:solidFill>
                        <a:srgbClr val="9E9E9E">
                          <a:alpha val="0"/>
                        </a:srgbClr>
                      </a:solidFill>
                      <a:prstDash val="dot"/>
                      <a:round/>
                      <a:headEnd type="none" w="sm" len="sm"/>
                      <a:tailEnd type="none" w="sm" len="sm"/>
                    </a:lnB>
                  </a:tcPr>
                </a:tc>
                <a:tc>
                  <a:txBody>
                    <a:bodyPr/>
                    <a:lstStyle/>
                    <a:p>
                      <a:pPr marL="0" lvl="0" indent="0" algn="ctr" rtl="0">
                        <a:spcBef>
                          <a:spcPts val="0"/>
                        </a:spcBef>
                        <a:spcAft>
                          <a:spcPts val="0"/>
                        </a:spcAft>
                        <a:buNone/>
                      </a:pPr>
                      <a:endParaRPr sz="1300" b="1">
                        <a:latin typeface="Georgia"/>
                        <a:ea typeface="Georgia"/>
                        <a:cs typeface="Georgia"/>
                        <a:sym typeface="Georgia"/>
                      </a:endParaRPr>
                    </a:p>
                  </a:txBody>
                  <a:tcPr marL="18000" marR="18000" marT="18000" marB="18000" anchor="ctr">
                    <a:lnL w="9525" cap="flat" cmpd="sng">
                      <a:solidFill>
                        <a:srgbClr val="9E9E9E">
                          <a:alpha val="0"/>
                        </a:srgbClr>
                      </a:solidFill>
                      <a:prstDash val="dot"/>
                      <a:round/>
                      <a:headEnd type="none" w="sm" len="sm"/>
                      <a:tailEnd type="none" w="sm" len="sm"/>
                    </a:lnL>
                    <a:lnR w="9525" cap="flat" cmpd="sng">
                      <a:solidFill>
                        <a:srgbClr val="9E9E9E">
                          <a:alpha val="0"/>
                        </a:srgbClr>
                      </a:solidFill>
                      <a:prstDash val="dot"/>
                      <a:round/>
                      <a:headEnd type="none" w="sm" len="sm"/>
                      <a:tailEnd type="none" w="sm" len="sm"/>
                    </a:lnR>
                    <a:lnT w="9525" cap="flat" cmpd="sng">
                      <a:solidFill>
                        <a:srgbClr val="9E9E9E">
                          <a:alpha val="0"/>
                        </a:srgbClr>
                      </a:solidFill>
                      <a:prstDash val="dot"/>
                      <a:round/>
                      <a:headEnd type="none" w="sm" len="sm"/>
                      <a:tailEnd type="none" w="sm" len="sm"/>
                    </a:lnT>
                    <a:lnB w="9525" cap="flat" cmpd="sng">
                      <a:solidFill>
                        <a:srgbClr val="9E9E9E">
                          <a:alpha val="0"/>
                        </a:srgbClr>
                      </a:solidFill>
                      <a:prstDash val="dot"/>
                      <a:round/>
                      <a:headEnd type="none" w="sm" len="sm"/>
                      <a:tailEnd type="none" w="sm" len="sm"/>
                    </a:lnB>
                  </a:tcPr>
                </a:tc>
                <a:tc>
                  <a:txBody>
                    <a:bodyPr/>
                    <a:lstStyle/>
                    <a:p>
                      <a:pPr marL="0" lvl="0" indent="0" algn="r" rtl="0">
                        <a:spcBef>
                          <a:spcPts val="0"/>
                        </a:spcBef>
                        <a:spcAft>
                          <a:spcPts val="0"/>
                        </a:spcAft>
                        <a:buNone/>
                      </a:pPr>
                      <a:r>
                        <a:rPr lang="en-GB" sz="1300" b="1">
                          <a:solidFill>
                            <a:srgbClr val="00754B"/>
                          </a:solidFill>
                          <a:latin typeface="Georgia"/>
                          <a:ea typeface="Georgia"/>
                          <a:cs typeface="Georgia"/>
                          <a:sym typeface="Georgia"/>
                        </a:rPr>
                        <a:t>Opportunity</a:t>
                      </a:r>
                      <a:endParaRPr sz="1300" b="1">
                        <a:solidFill>
                          <a:srgbClr val="00754B"/>
                        </a:solidFill>
                        <a:latin typeface="Georgia"/>
                        <a:ea typeface="Georgia"/>
                        <a:cs typeface="Georgia"/>
                        <a:sym typeface="Georgia"/>
                      </a:endParaRPr>
                    </a:p>
                  </a:txBody>
                  <a:tcPr marL="18000" marR="18000" marT="18000" marB="18000" anchor="ctr">
                    <a:lnL w="9525" cap="flat" cmpd="sng">
                      <a:solidFill>
                        <a:srgbClr val="9E9E9E">
                          <a:alpha val="0"/>
                        </a:srgbClr>
                      </a:solidFill>
                      <a:prstDash val="dot"/>
                      <a:round/>
                      <a:headEnd type="none" w="sm" len="sm"/>
                      <a:tailEnd type="none" w="sm" len="sm"/>
                    </a:lnL>
                    <a:lnR w="9525" cap="flat" cmpd="sng">
                      <a:solidFill>
                        <a:srgbClr val="9E9E9E">
                          <a:alpha val="0"/>
                        </a:srgbClr>
                      </a:solidFill>
                      <a:prstDash val="dot"/>
                      <a:round/>
                      <a:headEnd type="none" w="sm" len="sm"/>
                      <a:tailEnd type="none" w="sm" len="sm"/>
                    </a:lnR>
                    <a:lnT w="9525" cap="flat" cmpd="sng">
                      <a:solidFill>
                        <a:srgbClr val="9E9E9E">
                          <a:alpha val="0"/>
                        </a:srgbClr>
                      </a:solidFill>
                      <a:prstDash val="dot"/>
                      <a:round/>
                      <a:headEnd type="none" w="sm" len="sm"/>
                      <a:tailEnd type="none" w="sm" len="sm"/>
                    </a:lnT>
                    <a:lnB w="9525" cap="flat" cmpd="sng">
                      <a:solidFill>
                        <a:srgbClr val="9E9E9E">
                          <a:alpha val="0"/>
                        </a:srgbClr>
                      </a:solidFill>
                      <a:prstDash val="dot"/>
                      <a:round/>
                      <a:headEnd type="none" w="sm" len="sm"/>
                      <a:tailEnd type="none" w="sm" len="sm"/>
                    </a:lnB>
                  </a:tcPr>
                </a:tc>
                <a:extLst>
                  <a:ext uri="{0D108BD9-81ED-4DB2-BD59-A6C34878D82A}">
                    <a16:rowId xmlns:a16="http://schemas.microsoft.com/office/drawing/2014/main" val="10000"/>
                  </a:ext>
                </a:extLst>
              </a:tr>
              <a:tr h="437425">
                <a:tc>
                  <a:txBody>
                    <a:bodyPr/>
                    <a:lstStyle/>
                    <a:p>
                      <a:pPr marL="0" lvl="0" indent="0" algn="l" rtl="0">
                        <a:spcBef>
                          <a:spcPts val="0"/>
                        </a:spcBef>
                        <a:spcAft>
                          <a:spcPts val="0"/>
                        </a:spcAft>
                        <a:buNone/>
                      </a:pPr>
                      <a:r>
                        <a:rPr lang="en-GB" sz="1300">
                          <a:latin typeface="Georgia"/>
                          <a:ea typeface="Georgia"/>
                          <a:cs typeface="Georgia"/>
                          <a:sym typeface="Georgia"/>
                        </a:rPr>
                        <a:t>Aging demographics</a:t>
                      </a:r>
                      <a:endParaRPr sz="1300">
                        <a:latin typeface="Georgia"/>
                        <a:ea typeface="Georgia"/>
                        <a:cs typeface="Georgia"/>
                        <a:sym typeface="Georgia"/>
                      </a:endParaRPr>
                    </a:p>
                  </a:txBody>
                  <a:tcPr marL="18000" marR="18000" marT="18000" marB="18000" anchor="ctr">
                    <a:lnL w="9525" cap="flat" cmpd="sng">
                      <a:solidFill>
                        <a:srgbClr val="9E9E9E">
                          <a:alpha val="0"/>
                        </a:srgbClr>
                      </a:solidFill>
                      <a:prstDash val="dot"/>
                      <a:round/>
                      <a:headEnd type="none" w="sm" len="sm"/>
                      <a:tailEnd type="none" w="sm" len="sm"/>
                    </a:lnL>
                    <a:lnR w="9525" cap="flat" cmpd="sng">
                      <a:solidFill>
                        <a:srgbClr val="9E9E9E">
                          <a:alpha val="0"/>
                        </a:srgbClr>
                      </a:solidFill>
                      <a:prstDash val="dot"/>
                      <a:round/>
                      <a:headEnd type="none" w="sm" len="sm"/>
                      <a:tailEnd type="none" w="sm" len="sm"/>
                    </a:lnR>
                    <a:lnT w="9525" cap="flat" cmpd="sng">
                      <a:solidFill>
                        <a:srgbClr val="9E9E9E">
                          <a:alpha val="0"/>
                        </a:srgbClr>
                      </a:solidFill>
                      <a:prstDash val="dot"/>
                      <a:round/>
                      <a:headEnd type="none" w="sm" len="sm"/>
                      <a:tailEnd type="none" w="sm" len="sm"/>
                    </a:lnT>
                    <a:lnB w="9525" cap="flat" cmpd="sng">
                      <a:solidFill>
                        <a:srgbClr val="9E9E9E"/>
                      </a:solidFill>
                      <a:prstDash val="dot"/>
                      <a:round/>
                      <a:headEnd type="none" w="sm" len="sm"/>
                      <a:tailEnd type="none" w="sm" len="sm"/>
                    </a:lnB>
                  </a:tcPr>
                </a:tc>
                <a:tc>
                  <a:txBody>
                    <a:bodyPr/>
                    <a:lstStyle/>
                    <a:p>
                      <a:pPr marL="0" lvl="0" indent="0" algn="ctr" rtl="0">
                        <a:spcBef>
                          <a:spcPts val="0"/>
                        </a:spcBef>
                        <a:spcAft>
                          <a:spcPts val="0"/>
                        </a:spcAft>
                        <a:buNone/>
                      </a:pPr>
                      <a:r>
                        <a:rPr lang="en-GB" sz="1300" b="1">
                          <a:latin typeface="Georgia"/>
                          <a:ea typeface="Georgia"/>
                          <a:cs typeface="Georgia"/>
                          <a:sym typeface="Georgia"/>
                        </a:rPr>
                        <a:t>Aging population</a:t>
                      </a:r>
                      <a:endParaRPr sz="1300" b="1">
                        <a:latin typeface="Georgia"/>
                        <a:ea typeface="Georgia"/>
                        <a:cs typeface="Georgia"/>
                        <a:sym typeface="Georgia"/>
                      </a:endParaRPr>
                    </a:p>
                  </a:txBody>
                  <a:tcPr marL="18000" marR="18000" marT="18000" marB="18000" anchor="ctr">
                    <a:lnL w="9525" cap="flat" cmpd="sng">
                      <a:solidFill>
                        <a:srgbClr val="9E9E9E">
                          <a:alpha val="0"/>
                        </a:srgbClr>
                      </a:solidFill>
                      <a:prstDash val="dot"/>
                      <a:round/>
                      <a:headEnd type="none" w="sm" len="sm"/>
                      <a:tailEnd type="none" w="sm" len="sm"/>
                    </a:lnL>
                    <a:lnR w="9525" cap="flat" cmpd="sng">
                      <a:solidFill>
                        <a:srgbClr val="9E9E9E">
                          <a:alpha val="0"/>
                        </a:srgbClr>
                      </a:solidFill>
                      <a:prstDash val="dot"/>
                      <a:round/>
                      <a:headEnd type="none" w="sm" len="sm"/>
                      <a:tailEnd type="none" w="sm" len="sm"/>
                    </a:lnR>
                    <a:lnT w="9525" cap="flat" cmpd="sng">
                      <a:solidFill>
                        <a:srgbClr val="9E9E9E">
                          <a:alpha val="0"/>
                        </a:srgbClr>
                      </a:solidFill>
                      <a:prstDash val="dot"/>
                      <a:round/>
                      <a:headEnd type="none" w="sm" len="sm"/>
                      <a:tailEnd type="none" w="sm" len="sm"/>
                    </a:lnT>
                    <a:lnB w="9525" cap="flat" cmpd="sng">
                      <a:solidFill>
                        <a:srgbClr val="9E9E9E"/>
                      </a:solidFill>
                      <a:prstDash val="dot"/>
                      <a:round/>
                      <a:headEnd type="none" w="sm" len="sm"/>
                      <a:tailEnd type="none" w="sm" len="sm"/>
                    </a:lnB>
                  </a:tcPr>
                </a:tc>
                <a:tc>
                  <a:txBody>
                    <a:bodyPr/>
                    <a:lstStyle/>
                    <a:p>
                      <a:pPr marL="0" lvl="0" indent="0" algn="r" rtl="0">
                        <a:spcBef>
                          <a:spcPts val="0"/>
                        </a:spcBef>
                        <a:spcAft>
                          <a:spcPts val="0"/>
                        </a:spcAft>
                        <a:buNone/>
                      </a:pPr>
                      <a:r>
                        <a:rPr lang="en-GB" sz="1300">
                          <a:latin typeface="Georgia"/>
                          <a:ea typeface="Georgia"/>
                          <a:cs typeface="Georgia"/>
                          <a:sym typeface="Georgia"/>
                        </a:rPr>
                        <a:t>New “silver market”</a:t>
                      </a:r>
                      <a:endParaRPr sz="1300">
                        <a:latin typeface="Georgia"/>
                        <a:ea typeface="Georgia"/>
                        <a:cs typeface="Georgia"/>
                        <a:sym typeface="Georgia"/>
                      </a:endParaRPr>
                    </a:p>
                  </a:txBody>
                  <a:tcPr marL="18000" marR="18000" marT="18000" marB="18000" anchor="ctr">
                    <a:lnL w="9525" cap="flat" cmpd="sng">
                      <a:solidFill>
                        <a:srgbClr val="9E9E9E">
                          <a:alpha val="0"/>
                        </a:srgbClr>
                      </a:solidFill>
                      <a:prstDash val="dot"/>
                      <a:round/>
                      <a:headEnd type="none" w="sm" len="sm"/>
                      <a:tailEnd type="none" w="sm" len="sm"/>
                    </a:lnL>
                    <a:lnR w="9525" cap="flat" cmpd="sng">
                      <a:solidFill>
                        <a:srgbClr val="9E9E9E">
                          <a:alpha val="0"/>
                        </a:srgbClr>
                      </a:solidFill>
                      <a:prstDash val="dot"/>
                      <a:round/>
                      <a:headEnd type="none" w="sm" len="sm"/>
                      <a:tailEnd type="none" w="sm" len="sm"/>
                    </a:lnR>
                    <a:lnT w="9525" cap="flat" cmpd="sng">
                      <a:solidFill>
                        <a:srgbClr val="9E9E9E">
                          <a:alpha val="0"/>
                        </a:srgbClr>
                      </a:solidFill>
                      <a:prstDash val="dot"/>
                      <a:round/>
                      <a:headEnd type="none" w="sm" len="sm"/>
                      <a:tailEnd type="none" w="sm" len="sm"/>
                    </a:lnT>
                    <a:lnB w="9525" cap="flat" cmpd="sng">
                      <a:solidFill>
                        <a:srgbClr val="9E9E9E"/>
                      </a:solidFill>
                      <a:prstDash val="dot"/>
                      <a:round/>
                      <a:headEnd type="none" w="sm" len="sm"/>
                      <a:tailEnd type="none" w="sm" len="sm"/>
                    </a:lnB>
                  </a:tcPr>
                </a:tc>
                <a:extLst>
                  <a:ext uri="{0D108BD9-81ED-4DB2-BD59-A6C34878D82A}">
                    <a16:rowId xmlns:a16="http://schemas.microsoft.com/office/drawing/2014/main" val="10001"/>
                  </a:ext>
                </a:extLst>
              </a:tr>
              <a:tr h="450525">
                <a:tc>
                  <a:txBody>
                    <a:bodyPr/>
                    <a:lstStyle/>
                    <a:p>
                      <a:pPr marL="0" lvl="0" indent="0" algn="l" rtl="0">
                        <a:spcBef>
                          <a:spcPts val="0"/>
                        </a:spcBef>
                        <a:spcAft>
                          <a:spcPts val="0"/>
                        </a:spcAft>
                        <a:buNone/>
                      </a:pPr>
                      <a:r>
                        <a:rPr lang="en-GB" sz="1300">
                          <a:latin typeface="Georgia"/>
                          <a:ea typeface="Georgia"/>
                          <a:cs typeface="Georgia"/>
                          <a:sym typeface="Georgia"/>
                        </a:rPr>
                        <a:t>Rising health-care costs</a:t>
                      </a:r>
                      <a:endParaRPr sz="1300">
                        <a:latin typeface="Georgia"/>
                        <a:ea typeface="Georgia"/>
                        <a:cs typeface="Georgia"/>
                        <a:sym typeface="Georgia"/>
                      </a:endParaRPr>
                    </a:p>
                  </a:txBody>
                  <a:tcPr marL="18000" marR="18000" marT="18000" marB="18000" anchor="ctr">
                    <a:lnL w="9525" cap="flat" cmpd="sng">
                      <a:solidFill>
                        <a:srgbClr val="9E9E9E">
                          <a:alpha val="0"/>
                        </a:srgbClr>
                      </a:solidFill>
                      <a:prstDash val="dot"/>
                      <a:round/>
                      <a:headEnd type="none" w="sm" len="sm"/>
                      <a:tailEnd type="none" w="sm" len="sm"/>
                    </a:lnL>
                    <a:lnR w="9525" cap="flat" cmpd="sng">
                      <a:solidFill>
                        <a:srgbClr val="9E9E9E">
                          <a:alpha val="0"/>
                        </a:srgbClr>
                      </a:solidFill>
                      <a:prstDash val="dot"/>
                      <a:round/>
                      <a:headEnd type="none" w="sm" len="sm"/>
                      <a:tailEnd type="none" w="sm" len="sm"/>
                    </a:lnR>
                    <a:lnT w="9525" cap="flat" cmpd="sng">
                      <a:solidFill>
                        <a:srgbClr val="9E9E9E"/>
                      </a:solidFill>
                      <a:prstDash val="dot"/>
                      <a:round/>
                      <a:headEnd type="none" w="sm" len="sm"/>
                      <a:tailEnd type="none" w="sm" len="sm"/>
                    </a:lnT>
                    <a:lnB w="9525" cap="flat" cmpd="sng">
                      <a:solidFill>
                        <a:srgbClr val="9E9E9E"/>
                      </a:solidFill>
                      <a:prstDash val="dot"/>
                      <a:round/>
                      <a:headEnd type="none" w="sm" len="sm"/>
                      <a:tailEnd type="none" w="sm" len="sm"/>
                    </a:lnB>
                  </a:tcPr>
                </a:tc>
                <a:tc>
                  <a:txBody>
                    <a:bodyPr/>
                    <a:lstStyle/>
                    <a:p>
                      <a:pPr marL="0" lvl="0" indent="0" algn="ctr" rtl="0">
                        <a:spcBef>
                          <a:spcPts val="0"/>
                        </a:spcBef>
                        <a:spcAft>
                          <a:spcPts val="0"/>
                        </a:spcAft>
                        <a:buNone/>
                      </a:pPr>
                      <a:r>
                        <a:rPr lang="en-GB" sz="1300" b="1">
                          <a:latin typeface="Georgia"/>
                          <a:ea typeface="Georgia"/>
                          <a:cs typeface="Georgia"/>
                          <a:sym typeface="Georgia"/>
                        </a:rPr>
                        <a:t>Health-care spending</a:t>
                      </a:r>
                      <a:endParaRPr sz="1300" b="1">
                        <a:latin typeface="Georgia"/>
                        <a:ea typeface="Georgia"/>
                        <a:cs typeface="Georgia"/>
                        <a:sym typeface="Georgia"/>
                      </a:endParaRPr>
                    </a:p>
                  </a:txBody>
                  <a:tcPr marL="18000" marR="18000" marT="18000" marB="18000" anchor="ctr">
                    <a:lnL w="9525" cap="flat" cmpd="sng">
                      <a:solidFill>
                        <a:srgbClr val="9E9E9E">
                          <a:alpha val="0"/>
                        </a:srgbClr>
                      </a:solidFill>
                      <a:prstDash val="dot"/>
                      <a:round/>
                      <a:headEnd type="none" w="sm" len="sm"/>
                      <a:tailEnd type="none" w="sm" len="sm"/>
                    </a:lnL>
                    <a:lnR w="9525" cap="flat" cmpd="sng">
                      <a:solidFill>
                        <a:srgbClr val="9E9E9E">
                          <a:alpha val="0"/>
                        </a:srgbClr>
                      </a:solidFill>
                      <a:prstDash val="dot"/>
                      <a:round/>
                      <a:headEnd type="none" w="sm" len="sm"/>
                      <a:tailEnd type="none" w="sm" len="sm"/>
                    </a:lnR>
                    <a:lnT w="9525" cap="flat" cmpd="sng">
                      <a:solidFill>
                        <a:srgbClr val="9E9E9E"/>
                      </a:solidFill>
                      <a:prstDash val="dot"/>
                      <a:round/>
                      <a:headEnd type="none" w="sm" len="sm"/>
                      <a:tailEnd type="none" w="sm" len="sm"/>
                    </a:lnT>
                    <a:lnB w="9525" cap="flat" cmpd="sng">
                      <a:solidFill>
                        <a:srgbClr val="9E9E9E"/>
                      </a:solidFill>
                      <a:prstDash val="dot"/>
                      <a:round/>
                      <a:headEnd type="none" w="sm" len="sm"/>
                      <a:tailEnd type="none" w="sm" len="sm"/>
                    </a:lnB>
                  </a:tcPr>
                </a:tc>
                <a:tc>
                  <a:txBody>
                    <a:bodyPr/>
                    <a:lstStyle/>
                    <a:p>
                      <a:pPr marL="0" lvl="0" indent="0" algn="r" rtl="0">
                        <a:spcBef>
                          <a:spcPts val="0"/>
                        </a:spcBef>
                        <a:spcAft>
                          <a:spcPts val="0"/>
                        </a:spcAft>
                        <a:buClr>
                          <a:schemeClr val="dk1"/>
                        </a:buClr>
                        <a:buSzPts val="1100"/>
                        <a:buFont typeface="Arial"/>
                        <a:buNone/>
                      </a:pPr>
                      <a:r>
                        <a:rPr lang="en-GB" sz="1300">
                          <a:latin typeface="Georgia"/>
                          <a:ea typeface="Georgia"/>
                          <a:cs typeface="Georgia"/>
                          <a:sym typeface="Georgia"/>
                        </a:rPr>
                        <a:t>New health-care</a:t>
                      </a:r>
                      <a:endParaRPr sz="1300">
                        <a:latin typeface="Georgia"/>
                        <a:ea typeface="Georgia"/>
                        <a:cs typeface="Georgia"/>
                        <a:sym typeface="Georgia"/>
                      </a:endParaRPr>
                    </a:p>
                    <a:p>
                      <a:pPr marL="0" lvl="0" indent="0" algn="r" rtl="0">
                        <a:spcBef>
                          <a:spcPts val="0"/>
                        </a:spcBef>
                        <a:spcAft>
                          <a:spcPts val="0"/>
                        </a:spcAft>
                        <a:buNone/>
                      </a:pPr>
                      <a:r>
                        <a:rPr lang="en-GB" sz="1300">
                          <a:latin typeface="Georgia"/>
                          <a:ea typeface="Georgia"/>
                          <a:cs typeface="Georgia"/>
                          <a:sym typeface="Georgia"/>
                        </a:rPr>
                        <a:t>services and settings</a:t>
                      </a:r>
                      <a:endParaRPr sz="1300">
                        <a:latin typeface="Georgia"/>
                        <a:ea typeface="Georgia"/>
                        <a:cs typeface="Georgia"/>
                        <a:sym typeface="Georgia"/>
                      </a:endParaRPr>
                    </a:p>
                  </a:txBody>
                  <a:tcPr marL="18000" marR="18000" marT="18000" marB="18000" anchor="ctr">
                    <a:lnL w="9525" cap="flat" cmpd="sng">
                      <a:solidFill>
                        <a:srgbClr val="9E9E9E">
                          <a:alpha val="0"/>
                        </a:srgbClr>
                      </a:solidFill>
                      <a:prstDash val="dot"/>
                      <a:round/>
                      <a:headEnd type="none" w="sm" len="sm"/>
                      <a:tailEnd type="none" w="sm" len="sm"/>
                    </a:lnL>
                    <a:lnR w="9525" cap="flat" cmpd="sng">
                      <a:solidFill>
                        <a:srgbClr val="9E9E9E">
                          <a:alpha val="0"/>
                        </a:srgbClr>
                      </a:solidFill>
                      <a:prstDash val="dot"/>
                      <a:round/>
                      <a:headEnd type="none" w="sm" len="sm"/>
                      <a:tailEnd type="none" w="sm" len="sm"/>
                    </a:lnR>
                    <a:lnT w="9525" cap="flat" cmpd="sng">
                      <a:solidFill>
                        <a:srgbClr val="9E9E9E"/>
                      </a:solidFill>
                      <a:prstDash val="dot"/>
                      <a:round/>
                      <a:headEnd type="none" w="sm" len="sm"/>
                      <a:tailEnd type="none" w="sm" len="sm"/>
                    </a:lnT>
                    <a:lnB w="9525" cap="flat" cmpd="sng">
                      <a:solidFill>
                        <a:srgbClr val="9E9E9E"/>
                      </a:solidFill>
                      <a:prstDash val="dot"/>
                      <a:round/>
                      <a:headEnd type="none" w="sm" len="sm"/>
                      <a:tailEnd type="none" w="sm" len="sm"/>
                    </a:lnB>
                  </a:tcPr>
                </a:tc>
                <a:extLst>
                  <a:ext uri="{0D108BD9-81ED-4DB2-BD59-A6C34878D82A}">
                    <a16:rowId xmlns:a16="http://schemas.microsoft.com/office/drawing/2014/main" val="10002"/>
                  </a:ext>
                </a:extLst>
              </a:tr>
              <a:tr h="437425">
                <a:tc>
                  <a:txBody>
                    <a:bodyPr/>
                    <a:lstStyle/>
                    <a:p>
                      <a:pPr marL="0" lvl="0" indent="0" algn="l" rtl="0">
                        <a:spcBef>
                          <a:spcPts val="0"/>
                        </a:spcBef>
                        <a:spcAft>
                          <a:spcPts val="0"/>
                        </a:spcAft>
                        <a:buNone/>
                      </a:pPr>
                      <a:r>
                        <a:rPr lang="en-GB" sz="1300">
                          <a:latin typeface="Georgia"/>
                          <a:ea typeface="Georgia"/>
                          <a:cs typeface="Georgia"/>
                          <a:sym typeface="Georgia"/>
                        </a:rPr>
                        <a:t>Urban congestion</a:t>
                      </a:r>
                      <a:endParaRPr sz="1300">
                        <a:latin typeface="Georgia"/>
                        <a:ea typeface="Georgia"/>
                        <a:cs typeface="Georgia"/>
                        <a:sym typeface="Georgia"/>
                      </a:endParaRPr>
                    </a:p>
                  </a:txBody>
                  <a:tcPr marL="18000" marR="18000" marT="18000" marB="18000" anchor="ctr">
                    <a:lnL w="9525" cap="flat" cmpd="sng">
                      <a:solidFill>
                        <a:srgbClr val="9E9E9E">
                          <a:alpha val="0"/>
                        </a:srgbClr>
                      </a:solidFill>
                      <a:prstDash val="dot"/>
                      <a:round/>
                      <a:headEnd type="none" w="sm" len="sm"/>
                      <a:tailEnd type="none" w="sm" len="sm"/>
                    </a:lnL>
                    <a:lnR w="9525" cap="flat" cmpd="sng">
                      <a:solidFill>
                        <a:srgbClr val="9E9E9E">
                          <a:alpha val="0"/>
                        </a:srgbClr>
                      </a:solidFill>
                      <a:prstDash val="dot"/>
                      <a:round/>
                      <a:headEnd type="none" w="sm" len="sm"/>
                      <a:tailEnd type="none" w="sm" len="sm"/>
                    </a:lnR>
                    <a:lnT w="9525" cap="flat" cmpd="sng">
                      <a:solidFill>
                        <a:srgbClr val="9E9E9E"/>
                      </a:solidFill>
                      <a:prstDash val="dot"/>
                      <a:round/>
                      <a:headEnd type="none" w="sm" len="sm"/>
                      <a:tailEnd type="none" w="sm" len="sm"/>
                    </a:lnT>
                    <a:lnB w="9525" cap="flat" cmpd="sng">
                      <a:solidFill>
                        <a:srgbClr val="9E9E9E"/>
                      </a:solidFill>
                      <a:prstDash val="dot"/>
                      <a:round/>
                      <a:headEnd type="none" w="sm" len="sm"/>
                      <a:tailEnd type="none" w="sm" len="sm"/>
                    </a:lnB>
                  </a:tcPr>
                </a:tc>
                <a:tc>
                  <a:txBody>
                    <a:bodyPr/>
                    <a:lstStyle/>
                    <a:p>
                      <a:pPr marL="0" lvl="0" indent="0" algn="ctr" rtl="0">
                        <a:spcBef>
                          <a:spcPts val="0"/>
                        </a:spcBef>
                        <a:spcAft>
                          <a:spcPts val="0"/>
                        </a:spcAft>
                        <a:buNone/>
                      </a:pPr>
                      <a:r>
                        <a:rPr lang="en-GB" sz="1300" b="1">
                          <a:latin typeface="Georgia"/>
                          <a:ea typeface="Georgia"/>
                          <a:cs typeface="Georgia"/>
                          <a:sym typeface="Georgia"/>
                        </a:rPr>
                        <a:t>Urbanization</a:t>
                      </a:r>
                      <a:endParaRPr sz="1300" b="1">
                        <a:latin typeface="Georgia"/>
                        <a:ea typeface="Georgia"/>
                        <a:cs typeface="Georgia"/>
                        <a:sym typeface="Georgia"/>
                      </a:endParaRPr>
                    </a:p>
                  </a:txBody>
                  <a:tcPr marL="18000" marR="18000" marT="18000" marB="18000" anchor="ctr">
                    <a:lnL w="9525" cap="flat" cmpd="sng">
                      <a:solidFill>
                        <a:srgbClr val="9E9E9E">
                          <a:alpha val="0"/>
                        </a:srgbClr>
                      </a:solidFill>
                      <a:prstDash val="dot"/>
                      <a:round/>
                      <a:headEnd type="none" w="sm" len="sm"/>
                      <a:tailEnd type="none" w="sm" len="sm"/>
                    </a:lnL>
                    <a:lnR w="9525" cap="flat" cmpd="sng">
                      <a:solidFill>
                        <a:srgbClr val="9E9E9E">
                          <a:alpha val="0"/>
                        </a:srgbClr>
                      </a:solidFill>
                      <a:prstDash val="dot"/>
                      <a:round/>
                      <a:headEnd type="none" w="sm" len="sm"/>
                      <a:tailEnd type="none" w="sm" len="sm"/>
                    </a:lnR>
                    <a:lnT w="9525" cap="flat" cmpd="sng">
                      <a:solidFill>
                        <a:srgbClr val="9E9E9E"/>
                      </a:solidFill>
                      <a:prstDash val="dot"/>
                      <a:round/>
                      <a:headEnd type="none" w="sm" len="sm"/>
                      <a:tailEnd type="none" w="sm" len="sm"/>
                    </a:lnT>
                    <a:lnB w="9525" cap="flat" cmpd="sng">
                      <a:solidFill>
                        <a:srgbClr val="9E9E9E"/>
                      </a:solidFill>
                      <a:prstDash val="dot"/>
                      <a:round/>
                      <a:headEnd type="none" w="sm" len="sm"/>
                      <a:tailEnd type="none" w="sm" len="sm"/>
                    </a:lnB>
                  </a:tcPr>
                </a:tc>
                <a:tc>
                  <a:txBody>
                    <a:bodyPr/>
                    <a:lstStyle/>
                    <a:p>
                      <a:pPr marL="0" lvl="0" indent="0" algn="r" rtl="0">
                        <a:spcBef>
                          <a:spcPts val="0"/>
                        </a:spcBef>
                        <a:spcAft>
                          <a:spcPts val="0"/>
                        </a:spcAft>
                        <a:buNone/>
                      </a:pPr>
                      <a:r>
                        <a:rPr lang="en-US" sz="1300" dirty="0">
                          <a:latin typeface="Georgia"/>
                          <a:ea typeface="Georgia"/>
                          <a:cs typeface="Georgia"/>
                          <a:sym typeface="Georgia"/>
                        </a:rPr>
                        <a:t>Hub for industries and development done by the government</a:t>
                      </a:r>
                      <a:endParaRPr sz="1300" dirty="0">
                        <a:latin typeface="Georgia"/>
                        <a:ea typeface="Georgia"/>
                        <a:cs typeface="Georgia"/>
                        <a:sym typeface="Georgia"/>
                      </a:endParaRPr>
                    </a:p>
                  </a:txBody>
                  <a:tcPr marL="18000" marR="18000" marT="18000" marB="18000" anchor="ctr">
                    <a:lnL w="9525" cap="flat" cmpd="sng">
                      <a:solidFill>
                        <a:srgbClr val="9E9E9E">
                          <a:alpha val="0"/>
                        </a:srgbClr>
                      </a:solidFill>
                      <a:prstDash val="dot"/>
                      <a:round/>
                      <a:headEnd type="none" w="sm" len="sm"/>
                      <a:tailEnd type="none" w="sm" len="sm"/>
                    </a:lnL>
                    <a:lnR w="9525" cap="flat" cmpd="sng">
                      <a:solidFill>
                        <a:srgbClr val="9E9E9E">
                          <a:alpha val="0"/>
                        </a:srgbClr>
                      </a:solidFill>
                      <a:prstDash val="dot"/>
                      <a:round/>
                      <a:headEnd type="none" w="sm" len="sm"/>
                      <a:tailEnd type="none" w="sm" len="sm"/>
                    </a:lnR>
                    <a:lnT w="9525" cap="flat" cmpd="sng">
                      <a:solidFill>
                        <a:srgbClr val="9E9E9E"/>
                      </a:solidFill>
                      <a:prstDash val="dot"/>
                      <a:round/>
                      <a:headEnd type="none" w="sm" len="sm"/>
                      <a:tailEnd type="none" w="sm" len="sm"/>
                    </a:lnT>
                    <a:lnB w="9525" cap="flat" cmpd="sng">
                      <a:solidFill>
                        <a:srgbClr val="9E9E9E"/>
                      </a:solidFill>
                      <a:prstDash val="dot"/>
                      <a:round/>
                      <a:headEnd type="none" w="sm" len="sm"/>
                      <a:tailEnd type="none" w="sm" len="sm"/>
                    </a:lnB>
                    <a:solidFill>
                      <a:srgbClr val="D9EAD3"/>
                    </a:solidFill>
                  </a:tcPr>
                </a:tc>
                <a:extLst>
                  <a:ext uri="{0D108BD9-81ED-4DB2-BD59-A6C34878D82A}">
                    <a16:rowId xmlns:a16="http://schemas.microsoft.com/office/drawing/2014/main" val="10003"/>
                  </a:ext>
                </a:extLst>
              </a:tr>
              <a:tr h="450525">
                <a:tc>
                  <a:txBody>
                    <a:bodyPr/>
                    <a:lstStyle/>
                    <a:p>
                      <a:pPr marL="0" lvl="0" indent="0" algn="l" rtl="0">
                        <a:spcBef>
                          <a:spcPts val="0"/>
                        </a:spcBef>
                        <a:spcAft>
                          <a:spcPts val="0"/>
                        </a:spcAft>
                        <a:buNone/>
                      </a:pPr>
                      <a:r>
                        <a:rPr lang="en-GB" sz="1300">
                          <a:latin typeface="Georgia"/>
                          <a:ea typeface="Georgia"/>
                          <a:cs typeface="Georgia"/>
                          <a:sym typeface="Georgia"/>
                        </a:rPr>
                        <a:t>Economic loss and human impact</a:t>
                      </a:r>
                      <a:endParaRPr sz="1300">
                        <a:latin typeface="Georgia"/>
                        <a:ea typeface="Georgia"/>
                        <a:cs typeface="Georgia"/>
                        <a:sym typeface="Georgia"/>
                      </a:endParaRPr>
                    </a:p>
                  </a:txBody>
                  <a:tcPr marL="18000" marR="18000" marT="18000" marB="18000" anchor="ctr">
                    <a:lnL w="9525" cap="flat" cmpd="sng">
                      <a:solidFill>
                        <a:srgbClr val="9E9E9E">
                          <a:alpha val="0"/>
                        </a:srgbClr>
                      </a:solidFill>
                      <a:prstDash val="dot"/>
                      <a:round/>
                      <a:headEnd type="none" w="sm" len="sm"/>
                      <a:tailEnd type="none" w="sm" len="sm"/>
                    </a:lnL>
                    <a:lnR w="9525" cap="flat" cmpd="sng">
                      <a:solidFill>
                        <a:srgbClr val="9E9E9E">
                          <a:alpha val="0"/>
                        </a:srgbClr>
                      </a:solidFill>
                      <a:prstDash val="dot"/>
                      <a:round/>
                      <a:headEnd type="none" w="sm" len="sm"/>
                      <a:tailEnd type="none" w="sm" len="sm"/>
                    </a:lnR>
                    <a:lnT w="9525" cap="flat" cmpd="sng">
                      <a:solidFill>
                        <a:srgbClr val="9E9E9E"/>
                      </a:solidFill>
                      <a:prstDash val="dot"/>
                      <a:round/>
                      <a:headEnd type="none" w="sm" len="sm"/>
                      <a:tailEnd type="none" w="sm" len="sm"/>
                    </a:lnT>
                    <a:lnB w="9525" cap="flat" cmpd="sng">
                      <a:solidFill>
                        <a:srgbClr val="9E9E9E"/>
                      </a:solidFill>
                      <a:prstDash val="dot"/>
                      <a:round/>
                      <a:headEnd type="none" w="sm" len="sm"/>
                      <a:tailEnd type="none" w="sm" len="sm"/>
                    </a:lnB>
                  </a:tcPr>
                </a:tc>
                <a:tc>
                  <a:txBody>
                    <a:bodyPr/>
                    <a:lstStyle/>
                    <a:p>
                      <a:pPr marL="0" lvl="0" indent="0" algn="ctr" rtl="0">
                        <a:spcBef>
                          <a:spcPts val="0"/>
                        </a:spcBef>
                        <a:spcAft>
                          <a:spcPts val="0"/>
                        </a:spcAft>
                        <a:buNone/>
                      </a:pPr>
                      <a:r>
                        <a:rPr lang="en-GB" sz="1300" b="1">
                          <a:latin typeface="Georgia"/>
                          <a:ea typeface="Georgia"/>
                          <a:cs typeface="Georgia"/>
                          <a:sym typeface="Georgia"/>
                        </a:rPr>
                        <a:t>Sustainability</a:t>
                      </a:r>
                      <a:endParaRPr sz="1300" b="1">
                        <a:latin typeface="Georgia"/>
                        <a:ea typeface="Georgia"/>
                        <a:cs typeface="Georgia"/>
                        <a:sym typeface="Georgia"/>
                      </a:endParaRPr>
                    </a:p>
                  </a:txBody>
                  <a:tcPr marL="18000" marR="18000" marT="18000" marB="18000" anchor="ctr">
                    <a:lnL w="9525" cap="flat" cmpd="sng">
                      <a:solidFill>
                        <a:srgbClr val="9E9E9E">
                          <a:alpha val="0"/>
                        </a:srgbClr>
                      </a:solidFill>
                      <a:prstDash val="dot"/>
                      <a:round/>
                      <a:headEnd type="none" w="sm" len="sm"/>
                      <a:tailEnd type="none" w="sm" len="sm"/>
                    </a:lnL>
                    <a:lnR w="9525" cap="flat" cmpd="sng">
                      <a:solidFill>
                        <a:srgbClr val="9E9E9E">
                          <a:alpha val="0"/>
                        </a:srgbClr>
                      </a:solidFill>
                      <a:prstDash val="dot"/>
                      <a:round/>
                      <a:headEnd type="none" w="sm" len="sm"/>
                      <a:tailEnd type="none" w="sm" len="sm"/>
                    </a:lnR>
                    <a:lnT w="9525" cap="flat" cmpd="sng">
                      <a:solidFill>
                        <a:srgbClr val="9E9E9E"/>
                      </a:solidFill>
                      <a:prstDash val="dot"/>
                      <a:round/>
                      <a:headEnd type="none" w="sm" len="sm"/>
                      <a:tailEnd type="none" w="sm" len="sm"/>
                    </a:lnT>
                    <a:lnB w="9525" cap="flat" cmpd="sng">
                      <a:solidFill>
                        <a:srgbClr val="9E9E9E"/>
                      </a:solidFill>
                      <a:prstDash val="dot"/>
                      <a:round/>
                      <a:headEnd type="none" w="sm" len="sm"/>
                      <a:tailEnd type="none" w="sm" len="sm"/>
                    </a:lnB>
                  </a:tcPr>
                </a:tc>
                <a:tc>
                  <a:txBody>
                    <a:bodyPr/>
                    <a:lstStyle/>
                    <a:p>
                      <a:pPr marL="0" lvl="0" indent="0" algn="r" rtl="0">
                        <a:spcBef>
                          <a:spcPts val="0"/>
                        </a:spcBef>
                        <a:spcAft>
                          <a:spcPts val="0"/>
                        </a:spcAft>
                        <a:buClr>
                          <a:schemeClr val="dk1"/>
                        </a:buClr>
                        <a:buSzPts val="1100"/>
                        <a:buFont typeface="Arial"/>
                        <a:buNone/>
                      </a:pPr>
                      <a:r>
                        <a:rPr lang="en-GB" sz="1300" dirty="0">
                          <a:latin typeface="Georgia"/>
                          <a:ea typeface="Georgia"/>
                          <a:cs typeface="Georgia"/>
                          <a:sym typeface="Georgia"/>
                        </a:rPr>
                        <a:t>Growing power and</a:t>
                      </a:r>
                      <a:endParaRPr sz="1300" dirty="0">
                        <a:latin typeface="Georgia"/>
                        <a:ea typeface="Georgia"/>
                        <a:cs typeface="Georgia"/>
                        <a:sym typeface="Georgia"/>
                      </a:endParaRPr>
                    </a:p>
                    <a:p>
                      <a:pPr marL="0" lvl="0" indent="0" algn="r" rtl="0">
                        <a:spcBef>
                          <a:spcPts val="0"/>
                        </a:spcBef>
                        <a:spcAft>
                          <a:spcPts val="0"/>
                        </a:spcAft>
                        <a:buNone/>
                      </a:pPr>
                      <a:r>
                        <a:rPr lang="en-GB" sz="1300" dirty="0">
                          <a:latin typeface="Georgia"/>
                          <a:ea typeface="Georgia"/>
                          <a:cs typeface="Georgia"/>
                          <a:sym typeface="Georgia"/>
                        </a:rPr>
                        <a:t>infrastructure needs</a:t>
                      </a:r>
                      <a:endParaRPr sz="1300" dirty="0">
                        <a:latin typeface="Georgia"/>
                        <a:ea typeface="Georgia"/>
                        <a:cs typeface="Georgia"/>
                        <a:sym typeface="Georgia"/>
                      </a:endParaRPr>
                    </a:p>
                  </a:txBody>
                  <a:tcPr marL="18000" marR="18000" marT="18000" marB="18000" anchor="ctr">
                    <a:lnL w="9525" cap="flat" cmpd="sng">
                      <a:solidFill>
                        <a:srgbClr val="9E9E9E">
                          <a:alpha val="0"/>
                        </a:srgbClr>
                      </a:solidFill>
                      <a:prstDash val="dot"/>
                      <a:round/>
                      <a:headEnd type="none" w="sm" len="sm"/>
                      <a:tailEnd type="none" w="sm" len="sm"/>
                    </a:lnL>
                    <a:lnR w="9525" cap="flat" cmpd="sng">
                      <a:solidFill>
                        <a:srgbClr val="9E9E9E">
                          <a:alpha val="0"/>
                        </a:srgbClr>
                      </a:solidFill>
                      <a:prstDash val="dot"/>
                      <a:round/>
                      <a:headEnd type="none" w="sm" len="sm"/>
                      <a:tailEnd type="none" w="sm" len="sm"/>
                    </a:lnR>
                    <a:lnT w="9525" cap="flat" cmpd="sng">
                      <a:solidFill>
                        <a:srgbClr val="9E9E9E"/>
                      </a:solidFill>
                      <a:prstDash val="dot"/>
                      <a:round/>
                      <a:headEnd type="none" w="sm" len="sm"/>
                      <a:tailEnd type="none" w="sm" len="sm"/>
                    </a:lnT>
                    <a:lnB w="9525" cap="flat" cmpd="sng">
                      <a:solidFill>
                        <a:srgbClr val="9E9E9E"/>
                      </a:solidFill>
                      <a:prstDash val="dot"/>
                      <a:round/>
                      <a:headEnd type="none" w="sm" len="sm"/>
                      <a:tailEnd type="none" w="sm" len="sm"/>
                    </a:lnB>
                  </a:tcPr>
                </a:tc>
                <a:extLst>
                  <a:ext uri="{0D108BD9-81ED-4DB2-BD59-A6C34878D82A}">
                    <a16:rowId xmlns:a16="http://schemas.microsoft.com/office/drawing/2014/main" val="10004"/>
                  </a:ext>
                </a:extLst>
              </a:tr>
              <a:tr h="437425">
                <a:tc>
                  <a:txBody>
                    <a:bodyPr/>
                    <a:lstStyle/>
                    <a:p>
                      <a:pPr marL="0" lvl="0" indent="0" algn="l" rtl="0">
                        <a:spcBef>
                          <a:spcPts val="0"/>
                        </a:spcBef>
                        <a:spcAft>
                          <a:spcPts val="0"/>
                        </a:spcAft>
                        <a:buNone/>
                      </a:pPr>
                      <a:r>
                        <a:rPr lang="en-GB" sz="1300">
                          <a:latin typeface="Georgia"/>
                          <a:ea typeface="Georgia"/>
                          <a:cs typeface="Georgia"/>
                          <a:sym typeface="Georgia"/>
                        </a:rPr>
                        <a:t>Near-term price and energy volatility</a:t>
                      </a:r>
                      <a:endParaRPr sz="1300">
                        <a:latin typeface="Georgia"/>
                        <a:ea typeface="Georgia"/>
                        <a:cs typeface="Georgia"/>
                        <a:sym typeface="Georgia"/>
                      </a:endParaRPr>
                    </a:p>
                  </a:txBody>
                  <a:tcPr marL="18000" marR="18000" marT="18000" marB="18000" anchor="ctr">
                    <a:lnL w="9525" cap="flat" cmpd="sng">
                      <a:solidFill>
                        <a:srgbClr val="9E9E9E">
                          <a:alpha val="0"/>
                        </a:srgbClr>
                      </a:solidFill>
                      <a:prstDash val="dot"/>
                      <a:round/>
                      <a:headEnd type="none" w="sm" len="sm"/>
                      <a:tailEnd type="none" w="sm" len="sm"/>
                    </a:lnL>
                    <a:lnR w="9525" cap="flat" cmpd="sng">
                      <a:solidFill>
                        <a:srgbClr val="9E9E9E">
                          <a:alpha val="0"/>
                        </a:srgbClr>
                      </a:solidFill>
                      <a:prstDash val="dot"/>
                      <a:round/>
                      <a:headEnd type="none" w="sm" len="sm"/>
                      <a:tailEnd type="none" w="sm" len="sm"/>
                    </a:lnR>
                    <a:lnT w="9525" cap="flat" cmpd="sng">
                      <a:solidFill>
                        <a:srgbClr val="9E9E9E"/>
                      </a:solidFill>
                      <a:prstDash val="dot"/>
                      <a:round/>
                      <a:headEnd type="none" w="sm" len="sm"/>
                      <a:tailEnd type="none" w="sm" len="sm"/>
                    </a:lnT>
                    <a:lnB w="9525" cap="flat" cmpd="sng">
                      <a:solidFill>
                        <a:srgbClr val="9E9E9E"/>
                      </a:solidFill>
                      <a:prstDash val="dot"/>
                      <a:round/>
                      <a:headEnd type="none" w="sm" len="sm"/>
                      <a:tailEnd type="none" w="sm" len="sm"/>
                    </a:lnB>
                  </a:tcPr>
                </a:tc>
                <a:tc>
                  <a:txBody>
                    <a:bodyPr/>
                    <a:lstStyle/>
                    <a:p>
                      <a:pPr marL="0" lvl="0" indent="0" algn="ctr" rtl="0">
                        <a:spcBef>
                          <a:spcPts val="0"/>
                        </a:spcBef>
                        <a:spcAft>
                          <a:spcPts val="0"/>
                        </a:spcAft>
                        <a:buNone/>
                      </a:pPr>
                      <a:r>
                        <a:rPr lang="en-GB" sz="1300" b="1">
                          <a:latin typeface="Georgia"/>
                          <a:ea typeface="Georgia"/>
                          <a:cs typeface="Georgia"/>
                          <a:sym typeface="Georgia"/>
                        </a:rPr>
                        <a:t>Energy price volatility</a:t>
                      </a:r>
                      <a:endParaRPr sz="1300" b="1">
                        <a:latin typeface="Georgia"/>
                        <a:ea typeface="Georgia"/>
                        <a:cs typeface="Georgia"/>
                        <a:sym typeface="Georgia"/>
                      </a:endParaRPr>
                    </a:p>
                  </a:txBody>
                  <a:tcPr marL="18000" marR="18000" marT="18000" marB="18000" anchor="ctr">
                    <a:lnL w="9525" cap="flat" cmpd="sng">
                      <a:solidFill>
                        <a:srgbClr val="9E9E9E">
                          <a:alpha val="0"/>
                        </a:srgbClr>
                      </a:solidFill>
                      <a:prstDash val="dot"/>
                      <a:round/>
                      <a:headEnd type="none" w="sm" len="sm"/>
                      <a:tailEnd type="none" w="sm" len="sm"/>
                    </a:lnL>
                    <a:lnR w="9525" cap="flat" cmpd="sng">
                      <a:solidFill>
                        <a:srgbClr val="9E9E9E">
                          <a:alpha val="0"/>
                        </a:srgbClr>
                      </a:solidFill>
                      <a:prstDash val="dot"/>
                      <a:round/>
                      <a:headEnd type="none" w="sm" len="sm"/>
                      <a:tailEnd type="none" w="sm" len="sm"/>
                    </a:lnR>
                    <a:lnT w="9525" cap="flat" cmpd="sng">
                      <a:solidFill>
                        <a:srgbClr val="9E9E9E"/>
                      </a:solidFill>
                      <a:prstDash val="dot"/>
                      <a:round/>
                      <a:headEnd type="none" w="sm" len="sm"/>
                      <a:tailEnd type="none" w="sm" len="sm"/>
                    </a:lnT>
                    <a:lnB w="9525" cap="flat" cmpd="sng">
                      <a:solidFill>
                        <a:srgbClr val="9E9E9E"/>
                      </a:solidFill>
                      <a:prstDash val="dot"/>
                      <a:round/>
                      <a:headEnd type="none" w="sm" len="sm"/>
                      <a:tailEnd type="none" w="sm" len="sm"/>
                    </a:lnB>
                  </a:tcPr>
                </a:tc>
                <a:tc>
                  <a:txBody>
                    <a:bodyPr/>
                    <a:lstStyle/>
                    <a:p>
                      <a:pPr marL="0" lvl="0" indent="0" algn="r" rtl="0">
                        <a:spcBef>
                          <a:spcPts val="0"/>
                        </a:spcBef>
                        <a:spcAft>
                          <a:spcPts val="0"/>
                        </a:spcAft>
                        <a:buNone/>
                      </a:pPr>
                      <a:r>
                        <a:rPr lang="en-US" sz="1300" dirty="0">
                          <a:latin typeface="Georgia"/>
                          <a:ea typeface="Georgia"/>
                          <a:cs typeface="Georgia"/>
                          <a:sym typeface="Georgia"/>
                        </a:rPr>
                        <a:t>Quick profit and opportunity to diversify resources</a:t>
                      </a:r>
                      <a:endParaRPr sz="1300" dirty="0">
                        <a:latin typeface="Georgia"/>
                        <a:ea typeface="Georgia"/>
                        <a:cs typeface="Georgia"/>
                        <a:sym typeface="Georgia"/>
                      </a:endParaRPr>
                    </a:p>
                  </a:txBody>
                  <a:tcPr marL="18000" marR="18000" marT="18000" marB="18000" anchor="ctr">
                    <a:lnL w="9525" cap="flat" cmpd="sng">
                      <a:solidFill>
                        <a:srgbClr val="9E9E9E">
                          <a:alpha val="0"/>
                        </a:srgbClr>
                      </a:solidFill>
                      <a:prstDash val="dot"/>
                      <a:round/>
                      <a:headEnd type="none" w="sm" len="sm"/>
                      <a:tailEnd type="none" w="sm" len="sm"/>
                    </a:lnL>
                    <a:lnR w="9525" cap="flat" cmpd="sng">
                      <a:solidFill>
                        <a:srgbClr val="9E9E9E">
                          <a:alpha val="0"/>
                        </a:srgbClr>
                      </a:solidFill>
                      <a:prstDash val="dot"/>
                      <a:round/>
                      <a:headEnd type="none" w="sm" len="sm"/>
                      <a:tailEnd type="none" w="sm" len="sm"/>
                    </a:lnR>
                    <a:lnT w="9525" cap="flat" cmpd="sng">
                      <a:solidFill>
                        <a:srgbClr val="9E9E9E"/>
                      </a:solidFill>
                      <a:prstDash val="dot"/>
                      <a:round/>
                      <a:headEnd type="none" w="sm" len="sm"/>
                      <a:tailEnd type="none" w="sm" len="sm"/>
                    </a:lnT>
                    <a:lnB w="9525" cap="flat" cmpd="sng">
                      <a:solidFill>
                        <a:srgbClr val="9E9E9E"/>
                      </a:solidFill>
                      <a:prstDash val="dot"/>
                      <a:round/>
                      <a:headEnd type="none" w="sm" len="sm"/>
                      <a:tailEnd type="none" w="sm" len="sm"/>
                    </a:lnB>
                    <a:solidFill>
                      <a:srgbClr val="D9EAD3"/>
                    </a:solidFill>
                  </a:tcPr>
                </a:tc>
                <a:extLst>
                  <a:ext uri="{0D108BD9-81ED-4DB2-BD59-A6C34878D82A}">
                    <a16:rowId xmlns:a16="http://schemas.microsoft.com/office/drawing/2014/main" val="10005"/>
                  </a:ext>
                </a:extLst>
              </a:tr>
              <a:tr h="450525">
                <a:tc>
                  <a:txBody>
                    <a:bodyPr/>
                    <a:lstStyle/>
                    <a:p>
                      <a:pPr marL="0" lvl="0" indent="0" algn="l" rtl="0">
                        <a:spcBef>
                          <a:spcPts val="0"/>
                        </a:spcBef>
                        <a:spcAft>
                          <a:spcPts val="0"/>
                        </a:spcAft>
                        <a:buNone/>
                      </a:pPr>
                      <a:r>
                        <a:rPr lang="en-GB" sz="1300">
                          <a:latin typeface="Georgia"/>
                          <a:ea typeface="Georgia"/>
                          <a:cs typeface="Georgia"/>
                          <a:sym typeface="Georgia"/>
                        </a:rPr>
                        <a:t>High competition in rapidly evolving area</a:t>
                      </a:r>
                      <a:endParaRPr sz="1300">
                        <a:latin typeface="Georgia"/>
                        <a:ea typeface="Georgia"/>
                        <a:cs typeface="Georgia"/>
                        <a:sym typeface="Georgia"/>
                      </a:endParaRPr>
                    </a:p>
                  </a:txBody>
                  <a:tcPr marL="18000" marR="18000" marT="18000" marB="18000" anchor="ctr">
                    <a:lnL w="9525" cap="flat" cmpd="sng">
                      <a:solidFill>
                        <a:srgbClr val="9E9E9E">
                          <a:alpha val="0"/>
                        </a:srgbClr>
                      </a:solidFill>
                      <a:prstDash val="dot"/>
                      <a:round/>
                      <a:headEnd type="none" w="sm" len="sm"/>
                      <a:tailEnd type="none" w="sm" len="sm"/>
                    </a:lnL>
                    <a:lnR w="9525" cap="flat" cmpd="sng">
                      <a:solidFill>
                        <a:srgbClr val="9E9E9E">
                          <a:alpha val="0"/>
                        </a:srgbClr>
                      </a:solidFill>
                      <a:prstDash val="dot"/>
                      <a:round/>
                      <a:headEnd type="none" w="sm" len="sm"/>
                      <a:tailEnd type="none" w="sm" len="sm"/>
                    </a:lnR>
                    <a:lnT w="9525" cap="flat" cmpd="sng">
                      <a:solidFill>
                        <a:srgbClr val="9E9E9E"/>
                      </a:solidFill>
                      <a:prstDash val="dot"/>
                      <a:round/>
                      <a:headEnd type="none" w="sm" len="sm"/>
                      <a:tailEnd type="none" w="sm" len="sm"/>
                    </a:lnT>
                    <a:lnB w="9525" cap="flat" cmpd="sng">
                      <a:solidFill>
                        <a:srgbClr val="9E9E9E"/>
                      </a:solidFill>
                      <a:prstDash val="dot"/>
                      <a:round/>
                      <a:headEnd type="none" w="sm" len="sm"/>
                      <a:tailEnd type="none" w="sm" len="sm"/>
                    </a:lnB>
                  </a:tcPr>
                </a:tc>
                <a:tc>
                  <a:txBody>
                    <a:bodyPr/>
                    <a:lstStyle/>
                    <a:p>
                      <a:pPr marL="0" lvl="0" indent="0" algn="ctr" rtl="0">
                        <a:spcBef>
                          <a:spcPts val="0"/>
                        </a:spcBef>
                        <a:spcAft>
                          <a:spcPts val="0"/>
                        </a:spcAft>
                        <a:buNone/>
                      </a:pPr>
                      <a:r>
                        <a:rPr lang="en-GB" sz="1300" b="1">
                          <a:latin typeface="Georgia"/>
                          <a:ea typeface="Georgia"/>
                          <a:cs typeface="Georgia"/>
                          <a:sym typeface="Georgia"/>
                        </a:rPr>
                        <a:t>Smart devices</a:t>
                      </a:r>
                      <a:endParaRPr sz="1300" b="1">
                        <a:latin typeface="Georgia"/>
                        <a:ea typeface="Georgia"/>
                        <a:cs typeface="Georgia"/>
                        <a:sym typeface="Georgia"/>
                      </a:endParaRPr>
                    </a:p>
                  </a:txBody>
                  <a:tcPr marL="18000" marR="18000" marT="18000" marB="18000" anchor="ctr">
                    <a:lnL w="9525" cap="flat" cmpd="sng">
                      <a:solidFill>
                        <a:srgbClr val="9E9E9E">
                          <a:alpha val="0"/>
                        </a:srgbClr>
                      </a:solidFill>
                      <a:prstDash val="dot"/>
                      <a:round/>
                      <a:headEnd type="none" w="sm" len="sm"/>
                      <a:tailEnd type="none" w="sm" len="sm"/>
                    </a:lnL>
                    <a:lnR w="9525" cap="flat" cmpd="sng">
                      <a:solidFill>
                        <a:srgbClr val="9E9E9E">
                          <a:alpha val="0"/>
                        </a:srgbClr>
                      </a:solidFill>
                      <a:prstDash val="dot"/>
                      <a:round/>
                      <a:headEnd type="none" w="sm" len="sm"/>
                      <a:tailEnd type="none" w="sm" len="sm"/>
                    </a:lnR>
                    <a:lnT w="9525" cap="flat" cmpd="sng">
                      <a:solidFill>
                        <a:srgbClr val="9E9E9E"/>
                      </a:solidFill>
                      <a:prstDash val="dot"/>
                      <a:round/>
                      <a:headEnd type="none" w="sm" len="sm"/>
                      <a:tailEnd type="none" w="sm" len="sm"/>
                    </a:lnT>
                    <a:lnB w="9525" cap="flat" cmpd="sng">
                      <a:solidFill>
                        <a:srgbClr val="9E9E9E"/>
                      </a:solidFill>
                      <a:prstDash val="dot"/>
                      <a:round/>
                      <a:headEnd type="none" w="sm" len="sm"/>
                      <a:tailEnd type="none" w="sm" len="sm"/>
                    </a:lnB>
                  </a:tcPr>
                </a:tc>
                <a:tc>
                  <a:txBody>
                    <a:bodyPr/>
                    <a:lstStyle/>
                    <a:p>
                      <a:pPr marL="0" lvl="0" indent="0" algn="r" rtl="0">
                        <a:spcBef>
                          <a:spcPts val="0"/>
                        </a:spcBef>
                        <a:spcAft>
                          <a:spcPts val="0"/>
                        </a:spcAft>
                        <a:buNone/>
                      </a:pPr>
                      <a:r>
                        <a:rPr lang="en-US" sz="1300" dirty="0">
                          <a:latin typeface="Georgia"/>
                          <a:ea typeface="Georgia"/>
                          <a:cs typeface="Georgia"/>
                          <a:sym typeface="Georgia"/>
                        </a:rPr>
                        <a:t>Better innovation and new AI technologies </a:t>
                      </a:r>
                      <a:endParaRPr sz="1300" dirty="0">
                        <a:latin typeface="Georgia"/>
                        <a:ea typeface="Georgia"/>
                        <a:cs typeface="Georgia"/>
                        <a:sym typeface="Georgia"/>
                      </a:endParaRPr>
                    </a:p>
                  </a:txBody>
                  <a:tcPr marL="18000" marR="18000" marT="18000" marB="18000" anchor="ctr">
                    <a:lnL w="9525" cap="flat" cmpd="sng">
                      <a:solidFill>
                        <a:srgbClr val="9E9E9E">
                          <a:alpha val="0"/>
                        </a:srgbClr>
                      </a:solidFill>
                      <a:prstDash val="dot"/>
                      <a:round/>
                      <a:headEnd type="none" w="sm" len="sm"/>
                      <a:tailEnd type="none" w="sm" len="sm"/>
                    </a:lnL>
                    <a:lnR w="9525" cap="flat" cmpd="sng">
                      <a:solidFill>
                        <a:srgbClr val="9E9E9E">
                          <a:alpha val="0"/>
                        </a:srgbClr>
                      </a:solidFill>
                      <a:prstDash val="dot"/>
                      <a:round/>
                      <a:headEnd type="none" w="sm" len="sm"/>
                      <a:tailEnd type="none" w="sm" len="sm"/>
                    </a:lnR>
                    <a:lnT w="9525" cap="flat" cmpd="sng">
                      <a:solidFill>
                        <a:srgbClr val="9E9E9E"/>
                      </a:solidFill>
                      <a:prstDash val="dot"/>
                      <a:round/>
                      <a:headEnd type="none" w="sm" len="sm"/>
                      <a:tailEnd type="none" w="sm" len="sm"/>
                    </a:lnT>
                    <a:lnB w="9525" cap="flat" cmpd="sng">
                      <a:solidFill>
                        <a:srgbClr val="9E9E9E"/>
                      </a:solidFill>
                      <a:prstDash val="dot"/>
                      <a:round/>
                      <a:headEnd type="none" w="sm" len="sm"/>
                      <a:tailEnd type="none" w="sm" len="sm"/>
                    </a:lnB>
                    <a:solidFill>
                      <a:srgbClr val="D9EAD3"/>
                    </a:solidFill>
                  </a:tcPr>
                </a:tc>
                <a:extLst>
                  <a:ext uri="{0D108BD9-81ED-4DB2-BD59-A6C34878D82A}">
                    <a16:rowId xmlns:a16="http://schemas.microsoft.com/office/drawing/2014/main" val="10006"/>
                  </a:ext>
                </a:extLst>
              </a:tr>
              <a:tr h="437425">
                <a:tc>
                  <a:txBody>
                    <a:bodyPr/>
                    <a:lstStyle/>
                    <a:p>
                      <a:pPr marL="0" lvl="0" indent="0" algn="l" rtl="0">
                        <a:spcBef>
                          <a:spcPts val="0"/>
                        </a:spcBef>
                        <a:spcAft>
                          <a:spcPts val="0"/>
                        </a:spcAft>
                        <a:buNone/>
                      </a:pPr>
                      <a:endParaRPr sz="1300">
                        <a:latin typeface="Georgia"/>
                        <a:ea typeface="Georgia"/>
                        <a:cs typeface="Georgia"/>
                        <a:sym typeface="Georgia"/>
                      </a:endParaRPr>
                    </a:p>
                  </a:txBody>
                  <a:tcPr marL="18000" marR="18000" marT="18000" marB="18000" anchor="ctr">
                    <a:lnL w="9525" cap="flat" cmpd="sng">
                      <a:solidFill>
                        <a:srgbClr val="9E9E9E">
                          <a:alpha val="0"/>
                        </a:srgbClr>
                      </a:solidFill>
                      <a:prstDash val="dot"/>
                      <a:round/>
                      <a:headEnd type="none" w="sm" len="sm"/>
                      <a:tailEnd type="none" w="sm" len="sm"/>
                    </a:lnL>
                    <a:lnR w="9525" cap="flat" cmpd="sng">
                      <a:solidFill>
                        <a:srgbClr val="9E9E9E">
                          <a:alpha val="0"/>
                        </a:srgbClr>
                      </a:solidFill>
                      <a:prstDash val="dot"/>
                      <a:round/>
                      <a:headEnd type="none" w="sm" len="sm"/>
                      <a:tailEnd type="none" w="sm" len="sm"/>
                    </a:lnR>
                    <a:lnT w="9525" cap="flat" cmpd="sng">
                      <a:solidFill>
                        <a:srgbClr val="9E9E9E"/>
                      </a:solidFill>
                      <a:prstDash val="dot"/>
                      <a:round/>
                      <a:headEnd type="none" w="sm" len="sm"/>
                      <a:tailEnd type="none" w="sm" len="sm"/>
                    </a:lnT>
                    <a:lnB w="9525" cap="flat" cmpd="sng">
                      <a:solidFill>
                        <a:srgbClr val="9E9E9E"/>
                      </a:solidFill>
                      <a:prstDash val="dot"/>
                      <a:round/>
                      <a:headEnd type="none" w="sm" len="sm"/>
                      <a:tailEnd type="none" w="sm" len="sm"/>
                    </a:lnB>
                    <a:solidFill>
                      <a:srgbClr val="D9EAD3"/>
                    </a:solidFill>
                  </a:tcPr>
                </a:tc>
                <a:tc>
                  <a:txBody>
                    <a:bodyPr/>
                    <a:lstStyle/>
                    <a:p>
                      <a:pPr marL="0" lvl="0" indent="0" algn="ctr" rtl="0">
                        <a:spcBef>
                          <a:spcPts val="0"/>
                        </a:spcBef>
                        <a:spcAft>
                          <a:spcPts val="0"/>
                        </a:spcAft>
                        <a:buNone/>
                      </a:pPr>
                      <a:endParaRPr sz="1300" b="1">
                        <a:latin typeface="Georgia"/>
                        <a:ea typeface="Georgia"/>
                        <a:cs typeface="Georgia"/>
                        <a:sym typeface="Georgia"/>
                      </a:endParaRPr>
                    </a:p>
                  </a:txBody>
                  <a:tcPr marL="18000" marR="18000" marT="18000" marB="18000" anchor="ctr">
                    <a:lnL w="9525" cap="flat" cmpd="sng">
                      <a:solidFill>
                        <a:srgbClr val="9E9E9E">
                          <a:alpha val="0"/>
                        </a:srgbClr>
                      </a:solidFill>
                      <a:prstDash val="dot"/>
                      <a:round/>
                      <a:headEnd type="none" w="sm" len="sm"/>
                      <a:tailEnd type="none" w="sm" len="sm"/>
                    </a:lnL>
                    <a:lnR w="9525" cap="flat" cmpd="sng">
                      <a:solidFill>
                        <a:srgbClr val="9E9E9E">
                          <a:alpha val="0"/>
                        </a:srgbClr>
                      </a:solidFill>
                      <a:prstDash val="dot"/>
                      <a:round/>
                      <a:headEnd type="none" w="sm" len="sm"/>
                      <a:tailEnd type="none" w="sm" len="sm"/>
                    </a:lnR>
                    <a:lnT w="9525" cap="flat" cmpd="sng">
                      <a:solidFill>
                        <a:srgbClr val="9E9E9E"/>
                      </a:solidFill>
                      <a:prstDash val="dot"/>
                      <a:round/>
                      <a:headEnd type="none" w="sm" len="sm"/>
                      <a:tailEnd type="none" w="sm" len="sm"/>
                    </a:lnT>
                    <a:lnB w="9525" cap="flat" cmpd="sng">
                      <a:solidFill>
                        <a:srgbClr val="9E9E9E"/>
                      </a:solidFill>
                      <a:prstDash val="dot"/>
                      <a:round/>
                      <a:headEnd type="none" w="sm" len="sm"/>
                      <a:tailEnd type="none" w="sm" len="sm"/>
                    </a:lnB>
                    <a:solidFill>
                      <a:srgbClr val="D9EAD3"/>
                    </a:solidFill>
                  </a:tcPr>
                </a:tc>
                <a:tc>
                  <a:txBody>
                    <a:bodyPr/>
                    <a:lstStyle/>
                    <a:p>
                      <a:pPr marL="0" lvl="0" indent="0" algn="r" rtl="0">
                        <a:spcBef>
                          <a:spcPts val="0"/>
                        </a:spcBef>
                        <a:spcAft>
                          <a:spcPts val="0"/>
                        </a:spcAft>
                        <a:buNone/>
                      </a:pPr>
                      <a:endParaRPr sz="1300" dirty="0">
                        <a:latin typeface="Georgia"/>
                        <a:ea typeface="Georgia"/>
                        <a:cs typeface="Georgia"/>
                        <a:sym typeface="Georgia"/>
                      </a:endParaRPr>
                    </a:p>
                  </a:txBody>
                  <a:tcPr marL="18000" marR="18000" marT="18000" marB="18000" anchor="ctr">
                    <a:lnL w="9525" cap="flat" cmpd="sng">
                      <a:solidFill>
                        <a:srgbClr val="9E9E9E">
                          <a:alpha val="0"/>
                        </a:srgbClr>
                      </a:solidFill>
                      <a:prstDash val="dot"/>
                      <a:round/>
                      <a:headEnd type="none" w="sm" len="sm"/>
                      <a:tailEnd type="none" w="sm" len="sm"/>
                    </a:lnL>
                    <a:lnR w="9525" cap="flat" cmpd="sng">
                      <a:solidFill>
                        <a:srgbClr val="9E9E9E">
                          <a:alpha val="0"/>
                        </a:srgbClr>
                      </a:solidFill>
                      <a:prstDash val="dot"/>
                      <a:round/>
                      <a:headEnd type="none" w="sm" len="sm"/>
                      <a:tailEnd type="none" w="sm" len="sm"/>
                    </a:lnR>
                    <a:lnT w="9525" cap="flat" cmpd="sng">
                      <a:solidFill>
                        <a:srgbClr val="9E9E9E"/>
                      </a:solidFill>
                      <a:prstDash val="dot"/>
                      <a:round/>
                      <a:headEnd type="none" w="sm" len="sm"/>
                      <a:tailEnd type="none" w="sm" len="sm"/>
                    </a:lnT>
                    <a:lnB w="9525" cap="flat" cmpd="sng">
                      <a:solidFill>
                        <a:srgbClr val="9E9E9E"/>
                      </a:solidFill>
                      <a:prstDash val="dot"/>
                      <a:round/>
                      <a:headEnd type="none" w="sm" len="sm"/>
                      <a:tailEnd type="none" w="sm" len="sm"/>
                    </a:lnB>
                    <a:solidFill>
                      <a:srgbClr val="D9EAD3"/>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1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Shifts in our mental models enable us to solve problems and pursue opportunities</a:t>
            </a:r>
            <a:endParaRPr/>
          </a:p>
        </p:txBody>
      </p:sp>
      <p:grpSp>
        <p:nvGrpSpPr>
          <p:cNvPr id="68" name="Google Shape;68;p15"/>
          <p:cNvGrpSpPr/>
          <p:nvPr/>
        </p:nvGrpSpPr>
        <p:grpSpPr>
          <a:xfrm>
            <a:off x="3888969" y="1645092"/>
            <a:ext cx="4995057" cy="2908712"/>
            <a:chOff x="3888969" y="1645092"/>
            <a:chExt cx="4995057" cy="2908712"/>
          </a:xfrm>
        </p:grpSpPr>
        <p:sp>
          <p:nvSpPr>
            <p:cNvPr id="69" name="Google Shape;69;p15"/>
            <p:cNvSpPr/>
            <p:nvPr/>
          </p:nvSpPr>
          <p:spPr>
            <a:xfrm>
              <a:off x="4148339" y="1645092"/>
              <a:ext cx="4735687" cy="2677932"/>
            </a:xfrm>
            <a:custGeom>
              <a:avLst/>
              <a:gdLst/>
              <a:ahLst/>
              <a:cxnLst/>
              <a:rect l="l" t="t" r="r" b="b"/>
              <a:pathLst>
                <a:path w="3682" h="2038" extrusionOk="0">
                  <a:moveTo>
                    <a:pt x="0" y="0"/>
                  </a:moveTo>
                  <a:lnTo>
                    <a:pt x="0" y="2038"/>
                  </a:lnTo>
                  <a:lnTo>
                    <a:pt x="3682" y="2038"/>
                  </a:lnTo>
                </a:path>
              </a:pathLst>
            </a:custGeom>
            <a:noFill/>
            <a:ln w="9525" cap="flat" cmpd="sng">
              <a:solidFill>
                <a:srgbClr val="6E6F73"/>
              </a:solidFill>
              <a:prstDash val="solid"/>
              <a:round/>
              <a:headEnd type="triangle" w="med" len="med"/>
              <a:tailEnd type="triangle" w="med" len="med"/>
            </a:ln>
          </p:spPr>
          <p:txBody>
            <a:bodyPr spcFirstLastPara="1" wrap="square" lIns="103900" tIns="51950" rIns="103900" bIns="51950" anchor="ctr" anchorCtr="0">
              <a:noAutofit/>
            </a:bodyPr>
            <a:lstStyle/>
            <a:p>
              <a:pPr marL="0" marR="0" lvl="0" indent="0" algn="l" rtl="0">
                <a:spcBef>
                  <a:spcPts val="0"/>
                </a:spcBef>
                <a:spcAft>
                  <a:spcPts val="0"/>
                </a:spcAft>
                <a:buNone/>
              </a:pPr>
              <a:endParaRPr sz="2000" b="0" i="0" u="none" strike="noStrike" cap="none">
                <a:solidFill>
                  <a:srgbClr val="000000"/>
                </a:solidFill>
                <a:latin typeface="Arial"/>
                <a:ea typeface="Arial"/>
                <a:cs typeface="Arial"/>
                <a:sym typeface="Arial"/>
              </a:endParaRPr>
            </a:p>
          </p:txBody>
        </p:sp>
        <p:grpSp>
          <p:nvGrpSpPr>
            <p:cNvPr id="70" name="Google Shape;70;p15"/>
            <p:cNvGrpSpPr/>
            <p:nvPr/>
          </p:nvGrpSpPr>
          <p:grpSpPr>
            <a:xfrm>
              <a:off x="4320674" y="1996310"/>
              <a:ext cx="4364950" cy="1878700"/>
              <a:chOff x="6274169" y="1333309"/>
              <a:chExt cx="4409040" cy="2791531"/>
            </a:xfrm>
          </p:grpSpPr>
          <p:cxnSp>
            <p:nvCxnSpPr>
              <p:cNvPr id="71" name="Google Shape;71;p15"/>
              <p:cNvCxnSpPr/>
              <p:nvPr/>
            </p:nvCxnSpPr>
            <p:spPr>
              <a:xfrm>
                <a:off x="10683209" y="1333309"/>
                <a:ext cx="0" cy="579000"/>
              </a:xfrm>
              <a:prstGeom prst="straightConnector1">
                <a:avLst/>
              </a:prstGeom>
              <a:noFill/>
              <a:ln w="38100" cap="flat" cmpd="sng">
                <a:solidFill>
                  <a:srgbClr val="00754B"/>
                </a:solidFill>
                <a:prstDash val="solid"/>
                <a:round/>
                <a:headEnd type="none" w="sm" len="sm"/>
                <a:tailEnd type="none" w="sm" len="sm"/>
              </a:ln>
            </p:spPr>
          </p:cxnSp>
          <p:cxnSp>
            <p:nvCxnSpPr>
              <p:cNvPr id="72" name="Google Shape;72;p15"/>
              <p:cNvCxnSpPr/>
              <p:nvPr/>
            </p:nvCxnSpPr>
            <p:spPr>
              <a:xfrm>
                <a:off x="6274169" y="3545840"/>
                <a:ext cx="0" cy="579000"/>
              </a:xfrm>
              <a:prstGeom prst="straightConnector1">
                <a:avLst/>
              </a:prstGeom>
              <a:noFill/>
              <a:ln w="38100" cap="flat" cmpd="sng">
                <a:solidFill>
                  <a:srgbClr val="980000"/>
                </a:solidFill>
                <a:prstDash val="solid"/>
                <a:round/>
                <a:headEnd type="none" w="sm" len="sm"/>
                <a:tailEnd type="none" w="sm" len="sm"/>
              </a:ln>
            </p:spPr>
          </p:cxnSp>
        </p:grpSp>
        <p:sp>
          <p:nvSpPr>
            <p:cNvPr id="73" name="Google Shape;73;p15"/>
            <p:cNvSpPr/>
            <p:nvPr/>
          </p:nvSpPr>
          <p:spPr>
            <a:xfrm>
              <a:off x="6620950" y="1838650"/>
              <a:ext cx="2049600" cy="342300"/>
            </a:xfrm>
            <a:prstGeom prst="rect">
              <a:avLst/>
            </a:prstGeom>
            <a:noFill/>
            <a:ln>
              <a:noFill/>
            </a:ln>
          </p:spPr>
          <p:txBody>
            <a:bodyPr spcFirstLastPara="1" wrap="square" lIns="91425" tIns="45700" rIns="91425" bIns="45700" anchor="t" anchorCtr="0">
              <a:noAutofit/>
            </a:bodyPr>
            <a:lstStyle/>
            <a:p>
              <a:pPr marL="0" marR="0" lvl="3" indent="0" algn="r" rtl="0">
                <a:lnSpc>
                  <a:spcPct val="96000"/>
                </a:lnSpc>
                <a:spcBef>
                  <a:spcPts val="0"/>
                </a:spcBef>
                <a:spcAft>
                  <a:spcPts val="0"/>
                </a:spcAft>
                <a:buNone/>
              </a:pPr>
              <a:r>
                <a:rPr lang="en-GB" sz="1300" b="1" i="0" u="none" strike="noStrike" cap="none">
                  <a:solidFill>
                    <a:srgbClr val="00754B"/>
                  </a:solidFill>
                  <a:latin typeface="Georgia"/>
                  <a:ea typeface="Georgia"/>
                  <a:cs typeface="Georgia"/>
                  <a:sym typeface="Georgia"/>
                </a:rPr>
                <a:t>New mental models</a:t>
              </a:r>
              <a:endParaRPr sz="300" b="1">
                <a:solidFill>
                  <a:srgbClr val="00754B"/>
                </a:solidFill>
                <a:latin typeface="Georgia"/>
                <a:ea typeface="Georgia"/>
                <a:cs typeface="Georgia"/>
                <a:sym typeface="Georgia"/>
              </a:endParaRPr>
            </a:p>
          </p:txBody>
        </p:sp>
        <p:sp>
          <p:nvSpPr>
            <p:cNvPr id="74" name="Google Shape;74;p15"/>
            <p:cNvSpPr txBox="1"/>
            <p:nvPr/>
          </p:nvSpPr>
          <p:spPr>
            <a:xfrm rot="-5400000">
              <a:off x="3600069" y="2923778"/>
              <a:ext cx="769800" cy="192000"/>
            </a:xfrm>
            <a:prstGeom prst="rect">
              <a:avLst/>
            </a:prstGeom>
            <a:noFill/>
            <a:ln>
              <a:noFill/>
            </a:ln>
          </p:spPr>
          <p:txBody>
            <a:bodyPr spcFirstLastPara="1" wrap="square" lIns="0" tIns="0" rIns="0" bIns="0" anchor="ctr" anchorCtr="0">
              <a:spAutoFit/>
            </a:bodyPr>
            <a:lstStyle/>
            <a:p>
              <a:pPr marL="0" marR="0" lvl="3" indent="0" algn="r" rtl="0">
                <a:lnSpc>
                  <a:spcPct val="96000"/>
                </a:lnSpc>
                <a:spcBef>
                  <a:spcPts val="0"/>
                </a:spcBef>
                <a:spcAft>
                  <a:spcPts val="0"/>
                </a:spcAft>
                <a:buNone/>
              </a:pPr>
              <a:r>
                <a:rPr lang="en-GB" sz="1300" i="0" u="none" strike="noStrike" cap="none">
                  <a:solidFill>
                    <a:srgbClr val="575757"/>
                  </a:solidFill>
                  <a:latin typeface="Georgia"/>
                  <a:ea typeface="Georgia"/>
                  <a:cs typeface="Georgia"/>
                  <a:sym typeface="Georgia"/>
                </a:rPr>
                <a:t>Change</a:t>
              </a:r>
              <a:endParaRPr sz="300">
                <a:latin typeface="Georgia"/>
                <a:ea typeface="Georgia"/>
                <a:cs typeface="Georgia"/>
                <a:sym typeface="Georgia"/>
              </a:endParaRPr>
            </a:p>
          </p:txBody>
        </p:sp>
        <p:sp>
          <p:nvSpPr>
            <p:cNvPr id="75" name="Google Shape;75;p15"/>
            <p:cNvSpPr txBox="1"/>
            <p:nvPr/>
          </p:nvSpPr>
          <p:spPr>
            <a:xfrm>
              <a:off x="6208444" y="4361804"/>
              <a:ext cx="412500" cy="192000"/>
            </a:xfrm>
            <a:prstGeom prst="rect">
              <a:avLst/>
            </a:prstGeom>
            <a:noFill/>
            <a:ln>
              <a:noFill/>
            </a:ln>
          </p:spPr>
          <p:txBody>
            <a:bodyPr spcFirstLastPara="1" wrap="square" lIns="0" tIns="0" rIns="0" bIns="0" anchor="ctr" anchorCtr="0">
              <a:spAutoFit/>
            </a:bodyPr>
            <a:lstStyle/>
            <a:p>
              <a:pPr marL="0" marR="0" lvl="3" indent="0" algn="r" rtl="0">
                <a:lnSpc>
                  <a:spcPct val="96000"/>
                </a:lnSpc>
                <a:spcBef>
                  <a:spcPts val="0"/>
                </a:spcBef>
                <a:spcAft>
                  <a:spcPts val="0"/>
                </a:spcAft>
                <a:buNone/>
              </a:pPr>
              <a:r>
                <a:rPr lang="en-GB" sz="1300" i="0" u="none" strike="noStrike" cap="none">
                  <a:solidFill>
                    <a:srgbClr val="575757"/>
                  </a:solidFill>
                  <a:latin typeface="Georgia"/>
                  <a:ea typeface="Georgia"/>
                  <a:cs typeface="Georgia"/>
                  <a:sym typeface="Georgia"/>
                </a:rPr>
                <a:t>Time</a:t>
              </a:r>
              <a:endParaRPr sz="300">
                <a:latin typeface="Georgia"/>
                <a:ea typeface="Georgia"/>
                <a:cs typeface="Georgia"/>
                <a:sym typeface="Georgia"/>
              </a:endParaRPr>
            </a:p>
          </p:txBody>
        </p:sp>
        <p:sp>
          <p:nvSpPr>
            <p:cNvPr id="76" name="Google Shape;76;p15"/>
            <p:cNvSpPr/>
            <p:nvPr/>
          </p:nvSpPr>
          <p:spPr>
            <a:xfrm>
              <a:off x="4338523" y="3325741"/>
              <a:ext cx="2192100" cy="342300"/>
            </a:xfrm>
            <a:prstGeom prst="rect">
              <a:avLst/>
            </a:prstGeom>
            <a:noFill/>
            <a:ln>
              <a:noFill/>
            </a:ln>
          </p:spPr>
          <p:txBody>
            <a:bodyPr spcFirstLastPara="1" wrap="square" lIns="91425" tIns="45700" rIns="91425" bIns="45700" anchor="t" anchorCtr="0">
              <a:noAutofit/>
            </a:bodyPr>
            <a:lstStyle/>
            <a:p>
              <a:pPr marL="0" marR="0" lvl="3" indent="0" algn="l" rtl="0">
                <a:lnSpc>
                  <a:spcPct val="96000"/>
                </a:lnSpc>
                <a:spcBef>
                  <a:spcPts val="0"/>
                </a:spcBef>
                <a:spcAft>
                  <a:spcPts val="0"/>
                </a:spcAft>
                <a:buNone/>
              </a:pPr>
              <a:r>
                <a:rPr lang="en-GB" sz="1300" b="1">
                  <a:solidFill>
                    <a:srgbClr val="980000"/>
                  </a:solidFill>
                  <a:latin typeface="Georgia"/>
                  <a:ea typeface="Georgia"/>
                  <a:cs typeface="Georgia"/>
                  <a:sym typeface="Georgia"/>
                </a:rPr>
                <a:t>Old</a:t>
              </a:r>
              <a:r>
                <a:rPr lang="en-GB" sz="1300" b="1" i="0" u="none" strike="noStrike" cap="none">
                  <a:solidFill>
                    <a:srgbClr val="980000"/>
                  </a:solidFill>
                  <a:latin typeface="Georgia"/>
                  <a:ea typeface="Georgia"/>
                  <a:cs typeface="Georgia"/>
                  <a:sym typeface="Georgia"/>
                </a:rPr>
                <a:t> mental models</a:t>
              </a:r>
              <a:endParaRPr sz="300" b="1">
                <a:solidFill>
                  <a:srgbClr val="980000"/>
                </a:solidFill>
                <a:latin typeface="Georgia"/>
                <a:ea typeface="Georgia"/>
                <a:cs typeface="Georgia"/>
                <a:sym typeface="Georgia"/>
              </a:endParaRPr>
            </a:p>
          </p:txBody>
        </p:sp>
        <p:cxnSp>
          <p:nvCxnSpPr>
            <p:cNvPr id="77" name="Google Shape;77;p15"/>
            <p:cNvCxnSpPr/>
            <p:nvPr/>
          </p:nvCxnSpPr>
          <p:spPr>
            <a:xfrm rot="10800000" flipH="1">
              <a:off x="6583175" y="2192050"/>
              <a:ext cx="2104500" cy="859200"/>
            </a:xfrm>
            <a:prstGeom prst="bentConnector3">
              <a:avLst>
                <a:gd name="adj1" fmla="val 248"/>
              </a:avLst>
            </a:prstGeom>
            <a:noFill/>
            <a:ln w="38100" cap="flat" cmpd="sng">
              <a:solidFill>
                <a:srgbClr val="00754B"/>
              </a:solidFill>
              <a:prstDash val="solid"/>
              <a:round/>
              <a:headEnd type="none" w="med" len="med"/>
              <a:tailEnd type="none" w="med" len="med"/>
            </a:ln>
          </p:spPr>
        </p:cxnSp>
        <p:cxnSp>
          <p:nvCxnSpPr>
            <p:cNvPr id="78" name="Google Shape;78;p15"/>
            <p:cNvCxnSpPr/>
            <p:nvPr/>
          </p:nvCxnSpPr>
          <p:spPr>
            <a:xfrm rot="10800000" flipH="1">
              <a:off x="4338525" y="2967550"/>
              <a:ext cx="2250000" cy="700500"/>
            </a:xfrm>
            <a:prstGeom prst="bentConnector3">
              <a:avLst>
                <a:gd name="adj1" fmla="val 99994"/>
              </a:avLst>
            </a:prstGeom>
            <a:noFill/>
            <a:ln w="38100" cap="flat" cmpd="sng">
              <a:solidFill>
                <a:srgbClr val="980000"/>
              </a:solidFill>
              <a:prstDash val="solid"/>
              <a:miter lim="8000"/>
              <a:headEnd type="none" w="sm" len="sm"/>
              <a:tailEnd type="none" w="sm" len="sm"/>
            </a:ln>
          </p:spPr>
        </p:cxnSp>
      </p:grpSp>
      <p:sp>
        <p:nvSpPr>
          <p:cNvPr id="79" name="Google Shape;79;p15"/>
          <p:cNvSpPr txBox="1"/>
          <p:nvPr/>
        </p:nvSpPr>
        <p:spPr>
          <a:xfrm>
            <a:off x="407725" y="1641325"/>
            <a:ext cx="3397500" cy="2586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300">
                <a:latin typeface="Georgia"/>
                <a:ea typeface="Georgia"/>
                <a:cs typeface="Georgia"/>
                <a:sym typeface="Georgia"/>
              </a:rPr>
              <a:t>Mental models, paradigms, or the way that we think about things help us shortcut thinking to arrive at decisions quickly, but they can also inhibit positive change, keeping us stuck in old ways of thinking. </a:t>
            </a:r>
            <a:endParaRPr sz="1300">
              <a:latin typeface="Georgia"/>
              <a:ea typeface="Georgia"/>
              <a:cs typeface="Georgia"/>
              <a:sym typeface="Georgia"/>
            </a:endParaRPr>
          </a:p>
          <a:p>
            <a:pPr marL="0" lvl="0" indent="0" algn="l" rtl="0">
              <a:spcBef>
                <a:spcPts val="0"/>
              </a:spcBef>
              <a:spcAft>
                <a:spcPts val="0"/>
              </a:spcAft>
              <a:buNone/>
            </a:pPr>
            <a:endParaRPr sz="1300">
              <a:latin typeface="Georgia"/>
              <a:ea typeface="Georgia"/>
              <a:cs typeface="Georgia"/>
              <a:sym typeface="Georgia"/>
            </a:endParaRPr>
          </a:p>
          <a:p>
            <a:pPr marL="0" lvl="0" indent="0" algn="l" rtl="0">
              <a:spcBef>
                <a:spcPts val="0"/>
              </a:spcBef>
              <a:spcAft>
                <a:spcPts val="0"/>
              </a:spcAft>
              <a:buNone/>
            </a:pPr>
            <a:r>
              <a:rPr lang="en-GB" sz="1300">
                <a:latin typeface="Georgia"/>
                <a:ea typeface="Georgia"/>
                <a:cs typeface="Georgia"/>
                <a:sym typeface="Georgia"/>
              </a:rPr>
              <a:t>Small, incremental change in our mental models doesn’t always yield the change we need; we need to actively challenge our assumptions to drive meaningful change.</a:t>
            </a:r>
            <a:endParaRPr sz="1300">
              <a:latin typeface="Georgia"/>
              <a:ea typeface="Georgia"/>
              <a:cs typeface="Georgia"/>
              <a:sym typeface="Georgia"/>
            </a:endParaRPr>
          </a:p>
          <a:p>
            <a:pPr marL="0" lvl="0" indent="0" algn="l" rtl="0">
              <a:spcBef>
                <a:spcPts val="0"/>
              </a:spcBef>
              <a:spcAft>
                <a:spcPts val="0"/>
              </a:spcAft>
              <a:buNone/>
            </a:pPr>
            <a:endParaRPr sz="1300">
              <a:latin typeface="Georgia"/>
              <a:ea typeface="Georgia"/>
              <a:cs typeface="Georgia"/>
              <a:sym typeface="Georgia"/>
            </a:endParaRPr>
          </a:p>
          <a:p>
            <a:pPr marL="0" lvl="0" indent="0" algn="l" rtl="0">
              <a:spcBef>
                <a:spcPts val="0"/>
              </a:spcBef>
              <a:spcAft>
                <a:spcPts val="0"/>
              </a:spcAft>
              <a:buNone/>
            </a:pPr>
            <a:r>
              <a:rPr lang="en-GB" sz="1300" b="1">
                <a:solidFill>
                  <a:srgbClr val="00754B"/>
                </a:solidFill>
                <a:latin typeface="Georgia"/>
                <a:ea typeface="Georgia"/>
                <a:cs typeface="Georgia"/>
                <a:sym typeface="Georgia"/>
              </a:rPr>
              <a:t>Let’s review some examples.</a:t>
            </a:r>
            <a:endParaRPr sz="1300" b="1">
              <a:solidFill>
                <a:srgbClr val="00754B"/>
              </a:solidFill>
              <a:latin typeface="Georgia"/>
              <a:ea typeface="Georgia"/>
              <a:cs typeface="Georgia"/>
              <a:sym typeface="Georgia"/>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BIC opened the door to new lines of business (e.g., lighters, razors) by shifting mental models</a:t>
            </a:r>
            <a:endParaRPr/>
          </a:p>
        </p:txBody>
      </p:sp>
      <p:sp>
        <p:nvSpPr>
          <p:cNvPr id="85" name="Google Shape;85;p16"/>
          <p:cNvSpPr/>
          <p:nvPr/>
        </p:nvSpPr>
        <p:spPr>
          <a:xfrm>
            <a:off x="950218" y="1645107"/>
            <a:ext cx="7559577" cy="2677932"/>
          </a:xfrm>
          <a:custGeom>
            <a:avLst/>
            <a:gdLst/>
            <a:ahLst/>
            <a:cxnLst/>
            <a:rect l="l" t="t" r="r" b="b"/>
            <a:pathLst>
              <a:path w="3682" h="2038" extrusionOk="0">
                <a:moveTo>
                  <a:pt x="0" y="0"/>
                </a:moveTo>
                <a:lnTo>
                  <a:pt x="0" y="2038"/>
                </a:lnTo>
                <a:lnTo>
                  <a:pt x="3682" y="2038"/>
                </a:lnTo>
              </a:path>
            </a:pathLst>
          </a:custGeom>
          <a:noFill/>
          <a:ln w="9525" cap="flat" cmpd="sng">
            <a:solidFill>
              <a:srgbClr val="6E6F73"/>
            </a:solidFill>
            <a:prstDash val="solid"/>
            <a:round/>
            <a:headEnd type="triangle" w="med" len="med"/>
            <a:tailEnd type="triangle" w="med" len="med"/>
          </a:ln>
        </p:spPr>
        <p:txBody>
          <a:bodyPr spcFirstLastPara="1" wrap="square" lIns="103900" tIns="51950" rIns="103900" bIns="51950" anchor="ctr" anchorCtr="0">
            <a:noAutofit/>
          </a:bodyPr>
          <a:lstStyle/>
          <a:p>
            <a:pPr marL="0" marR="0" lvl="0" indent="0" algn="l" rtl="0">
              <a:spcBef>
                <a:spcPts val="0"/>
              </a:spcBef>
              <a:spcAft>
                <a:spcPts val="0"/>
              </a:spcAft>
              <a:buNone/>
            </a:pPr>
            <a:endParaRPr sz="2000" b="0" i="0" u="none" strike="noStrike" cap="none">
              <a:solidFill>
                <a:srgbClr val="000000"/>
              </a:solidFill>
              <a:latin typeface="Arial"/>
              <a:ea typeface="Arial"/>
              <a:cs typeface="Arial"/>
              <a:sym typeface="Arial"/>
            </a:endParaRPr>
          </a:p>
        </p:txBody>
      </p:sp>
      <p:grpSp>
        <p:nvGrpSpPr>
          <p:cNvPr id="86" name="Google Shape;86;p16"/>
          <p:cNvGrpSpPr/>
          <p:nvPr/>
        </p:nvGrpSpPr>
        <p:grpSpPr>
          <a:xfrm>
            <a:off x="1225084" y="1778179"/>
            <a:ext cx="6967606" cy="1878700"/>
            <a:chOff x="6274169" y="1333309"/>
            <a:chExt cx="4409040" cy="2791531"/>
          </a:xfrm>
        </p:grpSpPr>
        <p:cxnSp>
          <p:nvCxnSpPr>
            <p:cNvPr id="87" name="Google Shape;87;p16"/>
            <p:cNvCxnSpPr/>
            <p:nvPr/>
          </p:nvCxnSpPr>
          <p:spPr>
            <a:xfrm>
              <a:off x="10683209" y="1333309"/>
              <a:ext cx="0" cy="579000"/>
            </a:xfrm>
            <a:prstGeom prst="straightConnector1">
              <a:avLst/>
            </a:prstGeom>
            <a:noFill/>
            <a:ln w="38100" cap="flat" cmpd="sng">
              <a:solidFill>
                <a:srgbClr val="00754B"/>
              </a:solidFill>
              <a:prstDash val="solid"/>
              <a:round/>
              <a:headEnd type="none" w="sm" len="sm"/>
              <a:tailEnd type="none" w="sm" len="sm"/>
            </a:ln>
          </p:spPr>
        </p:cxnSp>
        <p:cxnSp>
          <p:nvCxnSpPr>
            <p:cNvPr id="88" name="Google Shape;88;p16"/>
            <p:cNvCxnSpPr/>
            <p:nvPr/>
          </p:nvCxnSpPr>
          <p:spPr>
            <a:xfrm>
              <a:off x="6274169" y="3545840"/>
              <a:ext cx="0" cy="579000"/>
            </a:xfrm>
            <a:prstGeom prst="straightConnector1">
              <a:avLst/>
            </a:prstGeom>
            <a:noFill/>
            <a:ln w="38100" cap="flat" cmpd="sng">
              <a:solidFill>
                <a:srgbClr val="980000"/>
              </a:solidFill>
              <a:prstDash val="solid"/>
              <a:round/>
              <a:headEnd type="none" w="sm" len="sm"/>
              <a:tailEnd type="none" w="sm" len="sm"/>
            </a:ln>
          </p:spPr>
        </p:cxnSp>
      </p:grpSp>
      <p:sp>
        <p:nvSpPr>
          <p:cNvPr id="89" name="Google Shape;89;p16"/>
          <p:cNvSpPr/>
          <p:nvPr/>
        </p:nvSpPr>
        <p:spPr>
          <a:xfrm>
            <a:off x="4897246" y="1620519"/>
            <a:ext cx="3271800" cy="342300"/>
          </a:xfrm>
          <a:prstGeom prst="rect">
            <a:avLst/>
          </a:prstGeom>
          <a:noFill/>
          <a:ln>
            <a:noFill/>
          </a:ln>
        </p:spPr>
        <p:txBody>
          <a:bodyPr spcFirstLastPara="1" wrap="square" lIns="91425" tIns="45700" rIns="91425" bIns="45700" anchor="t" anchorCtr="0">
            <a:noAutofit/>
          </a:bodyPr>
          <a:lstStyle/>
          <a:p>
            <a:pPr marL="0" marR="0" lvl="3" indent="0" algn="r" rtl="0">
              <a:lnSpc>
                <a:spcPct val="96000"/>
              </a:lnSpc>
              <a:spcBef>
                <a:spcPts val="0"/>
              </a:spcBef>
              <a:spcAft>
                <a:spcPts val="0"/>
              </a:spcAft>
              <a:buNone/>
            </a:pPr>
            <a:r>
              <a:rPr lang="en-GB" sz="1300" b="1" i="0" u="none" strike="noStrike" cap="none">
                <a:solidFill>
                  <a:srgbClr val="00754B"/>
                </a:solidFill>
                <a:latin typeface="Georgia"/>
                <a:ea typeface="Georgia"/>
                <a:cs typeface="Georgia"/>
                <a:sym typeface="Georgia"/>
              </a:rPr>
              <a:t>New mental models</a:t>
            </a:r>
            <a:endParaRPr sz="300" b="1">
              <a:solidFill>
                <a:srgbClr val="00754B"/>
              </a:solidFill>
              <a:latin typeface="Georgia"/>
              <a:ea typeface="Georgia"/>
              <a:cs typeface="Georgia"/>
              <a:sym typeface="Georgia"/>
            </a:endParaRPr>
          </a:p>
        </p:txBody>
      </p:sp>
      <p:sp>
        <p:nvSpPr>
          <p:cNvPr id="90" name="Google Shape;90;p16"/>
          <p:cNvSpPr txBox="1"/>
          <p:nvPr/>
        </p:nvSpPr>
        <p:spPr>
          <a:xfrm rot="-5400000">
            <a:off x="247303" y="2923776"/>
            <a:ext cx="769800" cy="192035"/>
          </a:xfrm>
          <a:prstGeom prst="rect">
            <a:avLst/>
          </a:prstGeom>
          <a:noFill/>
          <a:ln>
            <a:noFill/>
          </a:ln>
        </p:spPr>
        <p:txBody>
          <a:bodyPr spcFirstLastPara="1" wrap="square" lIns="0" tIns="0" rIns="0" bIns="0" anchor="ctr" anchorCtr="0">
            <a:spAutoFit/>
          </a:bodyPr>
          <a:lstStyle/>
          <a:p>
            <a:pPr marL="0" marR="0" lvl="3" indent="0" algn="r" rtl="0">
              <a:lnSpc>
                <a:spcPct val="96000"/>
              </a:lnSpc>
              <a:spcBef>
                <a:spcPts val="0"/>
              </a:spcBef>
              <a:spcAft>
                <a:spcPts val="0"/>
              </a:spcAft>
              <a:buNone/>
            </a:pPr>
            <a:r>
              <a:rPr lang="en-GB" sz="1300" i="0" u="none" strike="noStrike" cap="none">
                <a:solidFill>
                  <a:srgbClr val="575757"/>
                </a:solidFill>
                <a:latin typeface="Georgia"/>
                <a:ea typeface="Georgia"/>
                <a:cs typeface="Georgia"/>
                <a:sym typeface="Georgia"/>
              </a:rPr>
              <a:t>Change</a:t>
            </a:r>
            <a:endParaRPr sz="300">
              <a:latin typeface="Georgia"/>
              <a:ea typeface="Georgia"/>
              <a:cs typeface="Georgia"/>
              <a:sym typeface="Georgia"/>
            </a:endParaRPr>
          </a:p>
        </p:txBody>
      </p:sp>
      <p:sp>
        <p:nvSpPr>
          <p:cNvPr id="91" name="Google Shape;91;p16"/>
          <p:cNvSpPr txBox="1"/>
          <p:nvPr/>
        </p:nvSpPr>
        <p:spPr>
          <a:xfrm>
            <a:off x="4238763" y="4361819"/>
            <a:ext cx="658474" cy="192000"/>
          </a:xfrm>
          <a:prstGeom prst="rect">
            <a:avLst/>
          </a:prstGeom>
          <a:noFill/>
          <a:ln>
            <a:noFill/>
          </a:ln>
        </p:spPr>
        <p:txBody>
          <a:bodyPr spcFirstLastPara="1" wrap="square" lIns="0" tIns="0" rIns="0" bIns="0" anchor="ctr" anchorCtr="0">
            <a:spAutoFit/>
          </a:bodyPr>
          <a:lstStyle/>
          <a:p>
            <a:pPr marL="0" marR="0" lvl="3" indent="0" algn="r" rtl="0">
              <a:lnSpc>
                <a:spcPct val="96000"/>
              </a:lnSpc>
              <a:spcBef>
                <a:spcPts val="0"/>
              </a:spcBef>
              <a:spcAft>
                <a:spcPts val="0"/>
              </a:spcAft>
              <a:buNone/>
            </a:pPr>
            <a:r>
              <a:rPr lang="en-GB" sz="1300" i="0" u="none" strike="noStrike" cap="none">
                <a:solidFill>
                  <a:srgbClr val="575757"/>
                </a:solidFill>
                <a:latin typeface="Georgia"/>
                <a:ea typeface="Georgia"/>
                <a:cs typeface="Georgia"/>
                <a:sym typeface="Georgia"/>
              </a:rPr>
              <a:t>Time</a:t>
            </a:r>
            <a:endParaRPr sz="300">
              <a:latin typeface="Georgia"/>
              <a:ea typeface="Georgia"/>
              <a:cs typeface="Georgia"/>
              <a:sym typeface="Georgia"/>
            </a:endParaRPr>
          </a:p>
        </p:txBody>
      </p:sp>
      <p:sp>
        <p:nvSpPr>
          <p:cNvPr id="92" name="Google Shape;92;p16"/>
          <p:cNvSpPr/>
          <p:nvPr/>
        </p:nvSpPr>
        <p:spPr>
          <a:xfrm>
            <a:off x="1253809" y="3107610"/>
            <a:ext cx="3499200" cy="342300"/>
          </a:xfrm>
          <a:prstGeom prst="rect">
            <a:avLst/>
          </a:prstGeom>
          <a:noFill/>
          <a:ln>
            <a:noFill/>
          </a:ln>
        </p:spPr>
        <p:txBody>
          <a:bodyPr spcFirstLastPara="1" wrap="square" lIns="91425" tIns="45700" rIns="91425" bIns="45700" anchor="t" anchorCtr="0">
            <a:noAutofit/>
          </a:bodyPr>
          <a:lstStyle/>
          <a:p>
            <a:pPr marL="0" marR="0" lvl="3" indent="0" algn="l" rtl="0">
              <a:lnSpc>
                <a:spcPct val="96000"/>
              </a:lnSpc>
              <a:spcBef>
                <a:spcPts val="0"/>
              </a:spcBef>
              <a:spcAft>
                <a:spcPts val="0"/>
              </a:spcAft>
              <a:buNone/>
            </a:pPr>
            <a:r>
              <a:rPr lang="en-GB" sz="1300" b="1">
                <a:solidFill>
                  <a:srgbClr val="980000"/>
                </a:solidFill>
                <a:latin typeface="Georgia"/>
                <a:ea typeface="Georgia"/>
                <a:cs typeface="Georgia"/>
                <a:sym typeface="Georgia"/>
              </a:rPr>
              <a:t>Old</a:t>
            </a:r>
            <a:r>
              <a:rPr lang="en-GB" sz="1300" b="1" i="0" u="none" strike="noStrike" cap="none">
                <a:solidFill>
                  <a:srgbClr val="980000"/>
                </a:solidFill>
                <a:latin typeface="Georgia"/>
                <a:ea typeface="Georgia"/>
                <a:cs typeface="Georgia"/>
                <a:sym typeface="Georgia"/>
              </a:rPr>
              <a:t> mental models</a:t>
            </a:r>
            <a:endParaRPr sz="300" b="1">
              <a:solidFill>
                <a:srgbClr val="980000"/>
              </a:solidFill>
              <a:latin typeface="Georgia"/>
              <a:ea typeface="Georgia"/>
              <a:cs typeface="Georgia"/>
              <a:sym typeface="Georgia"/>
            </a:endParaRPr>
          </a:p>
        </p:txBody>
      </p:sp>
      <p:cxnSp>
        <p:nvCxnSpPr>
          <p:cNvPr id="93" name="Google Shape;93;p16"/>
          <p:cNvCxnSpPr/>
          <p:nvPr/>
        </p:nvCxnSpPr>
        <p:spPr>
          <a:xfrm rot="10800000" flipH="1">
            <a:off x="4836946" y="1973919"/>
            <a:ext cx="3359400" cy="859200"/>
          </a:xfrm>
          <a:prstGeom prst="bentConnector3">
            <a:avLst>
              <a:gd name="adj1" fmla="val 101"/>
            </a:avLst>
          </a:prstGeom>
          <a:noFill/>
          <a:ln w="38100" cap="flat" cmpd="sng">
            <a:solidFill>
              <a:srgbClr val="00754B"/>
            </a:solidFill>
            <a:prstDash val="solid"/>
            <a:round/>
            <a:headEnd type="none" w="med" len="med"/>
            <a:tailEnd type="none" w="med" len="med"/>
          </a:ln>
        </p:spPr>
      </p:cxnSp>
      <p:cxnSp>
        <p:nvCxnSpPr>
          <p:cNvPr id="94" name="Google Shape;94;p16"/>
          <p:cNvCxnSpPr/>
          <p:nvPr/>
        </p:nvCxnSpPr>
        <p:spPr>
          <a:xfrm rot="10800000" flipH="1">
            <a:off x="1242600" y="2747769"/>
            <a:ext cx="3591600" cy="700500"/>
          </a:xfrm>
          <a:prstGeom prst="bentConnector3">
            <a:avLst>
              <a:gd name="adj1" fmla="val 100147"/>
            </a:avLst>
          </a:prstGeom>
          <a:noFill/>
          <a:ln w="38100" cap="flat" cmpd="sng">
            <a:solidFill>
              <a:srgbClr val="980000"/>
            </a:solidFill>
            <a:prstDash val="solid"/>
            <a:miter lim="8000"/>
            <a:headEnd type="none" w="sm" len="sm"/>
            <a:tailEnd type="none" w="sm" len="sm"/>
          </a:ln>
        </p:spPr>
      </p:cxnSp>
      <p:sp>
        <p:nvSpPr>
          <p:cNvPr id="95" name="Google Shape;95;p16"/>
          <p:cNvSpPr txBox="1"/>
          <p:nvPr/>
        </p:nvSpPr>
        <p:spPr>
          <a:xfrm>
            <a:off x="1265655" y="3448287"/>
            <a:ext cx="32043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a:latin typeface="Georgia"/>
                <a:ea typeface="Georgia"/>
                <a:cs typeface="Georgia"/>
                <a:sym typeface="Georgia"/>
              </a:rPr>
              <a:t>“We are in the </a:t>
            </a:r>
            <a:r>
              <a:rPr lang="en-GB" b="1">
                <a:latin typeface="Georgia"/>
                <a:ea typeface="Georgia"/>
                <a:cs typeface="Georgia"/>
                <a:sym typeface="Georgia"/>
              </a:rPr>
              <a:t>writing business</a:t>
            </a:r>
            <a:r>
              <a:rPr lang="en-GB">
                <a:latin typeface="Georgia"/>
                <a:ea typeface="Georgia"/>
                <a:cs typeface="Georgia"/>
                <a:sym typeface="Georgia"/>
              </a:rPr>
              <a:t>.”</a:t>
            </a:r>
            <a:endParaRPr>
              <a:latin typeface="Georgia"/>
              <a:ea typeface="Georgia"/>
              <a:cs typeface="Georgia"/>
              <a:sym typeface="Georgia"/>
            </a:endParaRPr>
          </a:p>
          <a:p>
            <a:pPr marL="457200" lvl="0" indent="-311150" algn="l" rtl="0">
              <a:spcBef>
                <a:spcPts val="0"/>
              </a:spcBef>
              <a:spcAft>
                <a:spcPts val="0"/>
              </a:spcAft>
              <a:buSzPts val="1300"/>
              <a:buFont typeface="Georgia"/>
              <a:buChar char="●"/>
            </a:pPr>
            <a:r>
              <a:rPr lang="en-GB" sz="1300" i="1">
                <a:latin typeface="Georgia"/>
                <a:ea typeface="Georgia"/>
                <a:cs typeface="Georgia"/>
                <a:sym typeface="Georgia"/>
              </a:rPr>
              <a:t>Cheap pens, cheaper pens, colored pens, black pens, etc.</a:t>
            </a:r>
            <a:endParaRPr sz="1300" i="1">
              <a:latin typeface="Georgia"/>
              <a:ea typeface="Georgia"/>
              <a:cs typeface="Georgia"/>
              <a:sym typeface="Georgia"/>
            </a:endParaRPr>
          </a:p>
        </p:txBody>
      </p:sp>
      <p:sp>
        <p:nvSpPr>
          <p:cNvPr id="96" name="Google Shape;96;p16"/>
          <p:cNvSpPr txBox="1"/>
          <p:nvPr/>
        </p:nvSpPr>
        <p:spPr>
          <a:xfrm>
            <a:off x="4951508" y="1993760"/>
            <a:ext cx="3204300" cy="815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a:latin typeface="Georgia"/>
                <a:ea typeface="Georgia"/>
                <a:cs typeface="Georgia"/>
                <a:sym typeface="Georgia"/>
              </a:rPr>
              <a:t>“We are in the </a:t>
            </a:r>
            <a:r>
              <a:rPr lang="en-GB" b="1">
                <a:latin typeface="Georgia"/>
                <a:ea typeface="Georgia"/>
                <a:cs typeface="Georgia"/>
                <a:sym typeface="Georgia"/>
              </a:rPr>
              <a:t>cheap, disposable plastic objects</a:t>
            </a:r>
            <a:r>
              <a:rPr lang="en-GB">
                <a:latin typeface="Georgia"/>
                <a:ea typeface="Georgia"/>
                <a:cs typeface="Georgia"/>
                <a:sym typeface="Georgia"/>
              </a:rPr>
              <a:t> business.”</a:t>
            </a:r>
            <a:endParaRPr>
              <a:latin typeface="Georgia"/>
              <a:ea typeface="Georgia"/>
              <a:cs typeface="Georgia"/>
              <a:sym typeface="Georgia"/>
            </a:endParaRPr>
          </a:p>
          <a:p>
            <a:pPr marL="457200" lvl="0" indent="-311150" algn="l" rtl="0">
              <a:spcBef>
                <a:spcPts val="0"/>
              </a:spcBef>
              <a:spcAft>
                <a:spcPts val="0"/>
              </a:spcAft>
              <a:buSzPts val="1300"/>
              <a:buFont typeface="Georgia"/>
              <a:buChar char="●"/>
            </a:pPr>
            <a:r>
              <a:rPr lang="en-GB" sz="1300" i="1">
                <a:latin typeface="Georgia"/>
                <a:ea typeface="Georgia"/>
                <a:cs typeface="Georgia"/>
                <a:sym typeface="Georgia"/>
              </a:rPr>
              <a:t>Pens, lighters, razors, etc.</a:t>
            </a:r>
            <a:endParaRPr sz="1300" i="1">
              <a:latin typeface="Georgia"/>
              <a:ea typeface="Georgia"/>
              <a:cs typeface="Georgia"/>
              <a:sym typeface="Georgia"/>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17"/>
          <p:cNvSpPr/>
          <p:nvPr/>
        </p:nvSpPr>
        <p:spPr>
          <a:xfrm>
            <a:off x="5070325" y="2143125"/>
            <a:ext cx="3042300" cy="1557600"/>
          </a:xfrm>
          <a:prstGeom prst="rect">
            <a:avLst/>
          </a:prstGeom>
          <a:solidFill>
            <a:srgbClr val="D9EA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1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Low-cost airlines shifted prevailing airline paradigms to disrupt the aviation industry</a:t>
            </a:r>
            <a:endParaRPr/>
          </a:p>
          <a:p>
            <a:pPr marL="0" lvl="0" indent="0" algn="l" rtl="0">
              <a:spcBef>
                <a:spcPts val="0"/>
              </a:spcBef>
              <a:spcAft>
                <a:spcPts val="0"/>
              </a:spcAft>
              <a:buNone/>
            </a:pPr>
            <a:r>
              <a:rPr lang="en-GB" sz="1400" b="0">
                <a:solidFill>
                  <a:schemeClr val="dk1"/>
                </a:solidFill>
              </a:rPr>
              <a:t>Fill in the </a:t>
            </a:r>
            <a:r>
              <a:rPr lang="en-GB" sz="1400" b="0">
                <a:solidFill>
                  <a:schemeClr val="dk1"/>
                </a:solidFill>
                <a:highlight>
                  <a:srgbClr val="D9EAD3"/>
                </a:highlight>
              </a:rPr>
              <a:t>blanks</a:t>
            </a:r>
            <a:r>
              <a:rPr lang="en-GB" sz="1400" b="0">
                <a:solidFill>
                  <a:schemeClr val="dk1"/>
                </a:solidFill>
              </a:rPr>
              <a:t>.</a:t>
            </a:r>
            <a:endParaRPr/>
          </a:p>
        </p:txBody>
      </p:sp>
      <p:sp>
        <p:nvSpPr>
          <p:cNvPr id="103" name="Google Shape;103;p17"/>
          <p:cNvSpPr/>
          <p:nvPr/>
        </p:nvSpPr>
        <p:spPr>
          <a:xfrm>
            <a:off x="950218" y="1645107"/>
            <a:ext cx="7559579" cy="2677932"/>
          </a:xfrm>
          <a:custGeom>
            <a:avLst/>
            <a:gdLst/>
            <a:ahLst/>
            <a:cxnLst/>
            <a:rect l="l" t="t" r="r" b="b"/>
            <a:pathLst>
              <a:path w="3682" h="2038" extrusionOk="0">
                <a:moveTo>
                  <a:pt x="0" y="0"/>
                </a:moveTo>
                <a:lnTo>
                  <a:pt x="0" y="2038"/>
                </a:lnTo>
                <a:lnTo>
                  <a:pt x="3682" y="2038"/>
                </a:lnTo>
              </a:path>
            </a:pathLst>
          </a:custGeom>
          <a:noFill/>
          <a:ln w="9525" cap="flat" cmpd="sng">
            <a:solidFill>
              <a:srgbClr val="6E6F73"/>
            </a:solidFill>
            <a:prstDash val="solid"/>
            <a:round/>
            <a:headEnd type="triangle" w="med" len="med"/>
            <a:tailEnd type="triangle" w="med" len="med"/>
          </a:ln>
        </p:spPr>
        <p:txBody>
          <a:bodyPr spcFirstLastPara="1" wrap="square" lIns="103900" tIns="51950" rIns="103900" bIns="51950" anchor="ctr" anchorCtr="0">
            <a:noAutofit/>
          </a:bodyPr>
          <a:lstStyle/>
          <a:p>
            <a:pPr marL="0" marR="0" lvl="0" indent="0" algn="l" rtl="0">
              <a:spcBef>
                <a:spcPts val="0"/>
              </a:spcBef>
              <a:spcAft>
                <a:spcPts val="0"/>
              </a:spcAft>
              <a:buNone/>
            </a:pPr>
            <a:endParaRPr sz="2000" b="0" i="0" u="none" strike="noStrike" cap="none">
              <a:solidFill>
                <a:srgbClr val="000000"/>
              </a:solidFill>
              <a:latin typeface="Arial"/>
              <a:ea typeface="Arial"/>
              <a:cs typeface="Arial"/>
              <a:sym typeface="Arial"/>
            </a:endParaRPr>
          </a:p>
        </p:txBody>
      </p:sp>
      <p:grpSp>
        <p:nvGrpSpPr>
          <p:cNvPr id="104" name="Google Shape;104;p17"/>
          <p:cNvGrpSpPr/>
          <p:nvPr/>
        </p:nvGrpSpPr>
        <p:grpSpPr>
          <a:xfrm>
            <a:off x="1225084" y="1670617"/>
            <a:ext cx="6967606" cy="1366209"/>
            <a:chOff x="6274169" y="1173483"/>
            <a:chExt cx="4409040" cy="2030028"/>
          </a:xfrm>
        </p:grpSpPr>
        <p:cxnSp>
          <p:nvCxnSpPr>
            <p:cNvPr id="105" name="Google Shape;105;p17"/>
            <p:cNvCxnSpPr/>
            <p:nvPr/>
          </p:nvCxnSpPr>
          <p:spPr>
            <a:xfrm>
              <a:off x="10683209" y="1173483"/>
              <a:ext cx="0" cy="579000"/>
            </a:xfrm>
            <a:prstGeom prst="straightConnector1">
              <a:avLst/>
            </a:prstGeom>
            <a:noFill/>
            <a:ln w="38100" cap="flat" cmpd="sng">
              <a:solidFill>
                <a:srgbClr val="00754B"/>
              </a:solidFill>
              <a:prstDash val="solid"/>
              <a:round/>
              <a:headEnd type="none" w="sm" len="sm"/>
              <a:tailEnd type="none" w="sm" len="sm"/>
            </a:ln>
          </p:spPr>
        </p:cxnSp>
        <p:cxnSp>
          <p:nvCxnSpPr>
            <p:cNvPr id="106" name="Google Shape;106;p17"/>
            <p:cNvCxnSpPr/>
            <p:nvPr/>
          </p:nvCxnSpPr>
          <p:spPr>
            <a:xfrm>
              <a:off x="6274169" y="2624511"/>
              <a:ext cx="0" cy="579000"/>
            </a:xfrm>
            <a:prstGeom prst="straightConnector1">
              <a:avLst/>
            </a:prstGeom>
            <a:noFill/>
            <a:ln w="38100" cap="flat" cmpd="sng">
              <a:solidFill>
                <a:srgbClr val="980000"/>
              </a:solidFill>
              <a:prstDash val="solid"/>
              <a:round/>
              <a:headEnd type="none" w="sm" len="sm"/>
              <a:tailEnd type="none" w="sm" len="sm"/>
            </a:ln>
          </p:spPr>
        </p:cxnSp>
      </p:grpSp>
      <p:sp>
        <p:nvSpPr>
          <p:cNvPr id="107" name="Google Shape;107;p17"/>
          <p:cNvSpPr/>
          <p:nvPr/>
        </p:nvSpPr>
        <p:spPr>
          <a:xfrm>
            <a:off x="4897250" y="1599616"/>
            <a:ext cx="3271800" cy="222600"/>
          </a:xfrm>
          <a:prstGeom prst="rect">
            <a:avLst/>
          </a:prstGeom>
          <a:noFill/>
          <a:ln>
            <a:noFill/>
          </a:ln>
        </p:spPr>
        <p:txBody>
          <a:bodyPr spcFirstLastPara="1" wrap="square" lIns="91425" tIns="45700" rIns="91425" bIns="45700" anchor="t" anchorCtr="0">
            <a:noAutofit/>
          </a:bodyPr>
          <a:lstStyle/>
          <a:p>
            <a:pPr marL="0" marR="0" lvl="3" indent="0" algn="r" rtl="0">
              <a:lnSpc>
                <a:spcPct val="96000"/>
              </a:lnSpc>
              <a:spcBef>
                <a:spcPts val="0"/>
              </a:spcBef>
              <a:spcAft>
                <a:spcPts val="0"/>
              </a:spcAft>
              <a:buNone/>
            </a:pPr>
            <a:r>
              <a:rPr lang="en-GB" sz="1300" b="1" i="0" u="none" strike="noStrike" cap="none">
                <a:solidFill>
                  <a:srgbClr val="00754B"/>
                </a:solidFill>
                <a:latin typeface="Georgia"/>
                <a:ea typeface="Georgia"/>
                <a:cs typeface="Georgia"/>
                <a:sym typeface="Georgia"/>
              </a:rPr>
              <a:t>New mental models</a:t>
            </a:r>
            <a:endParaRPr sz="300" b="1">
              <a:solidFill>
                <a:srgbClr val="00754B"/>
              </a:solidFill>
              <a:latin typeface="Georgia"/>
              <a:ea typeface="Georgia"/>
              <a:cs typeface="Georgia"/>
              <a:sym typeface="Georgia"/>
            </a:endParaRPr>
          </a:p>
        </p:txBody>
      </p:sp>
      <p:sp>
        <p:nvSpPr>
          <p:cNvPr id="108" name="Google Shape;108;p17"/>
          <p:cNvSpPr txBox="1"/>
          <p:nvPr/>
        </p:nvSpPr>
        <p:spPr>
          <a:xfrm rot="-5400000">
            <a:off x="247286" y="2923793"/>
            <a:ext cx="769800" cy="192000"/>
          </a:xfrm>
          <a:prstGeom prst="rect">
            <a:avLst/>
          </a:prstGeom>
          <a:noFill/>
          <a:ln>
            <a:noFill/>
          </a:ln>
        </p:spPr>
        <p:txBody>
          <a:bodyPr spcFirstLastPara="1" wrap="square" lIns="0" tIns="0" rIns="0" bIns="0" anchor="ctr" anchorCtr="0">
            <a:spAutoFit/>
          </a:bodyPr>
          <a:lstStyle/>
          <a:p>
            <a:pPr marL="0" marR="0" lvl="3" indent="0" algn="r" rtl="0">
              <a:lnSpc>
                <a:spcPct val="96000"/>
              </a:lnSpc>
              <a:spcBef>
                <a:spcPts val="0"/>
              </a:spcBef>
              <a:spcAft>
                <a:spcPts val="0"/>
              </a:spcAft>
              <a:buNone/>
            </a:pPr>
            <a:r>
              <a:rPr lang="en-GB" sz="1300" i="0" u="none" strike="noStrike" cap="none">
                <a:solidFill>
                  <a:srgbClr val="575757"/>
                </a:solidFill>
                <a:latin typeface="Georgia"/>
                <a:ea typeface="Georgia"/>
                <a:cs typeface="Georgia"/>
                <a:sym typeface="Georgia"/>
              </a:rPr>
              <a:t>Change</a:t>
            </a:r>
            <a:endParaRPr sz="300">
              <a:latin typeface="Georgia"/>
              <a:ea typeface="Georgia"/>
              <a:cs typeface="Georgia"/>
              <a:sym typeface="Georgia"/>
            </a:endParaRPr>
          </a:p>
        </p:txBody>
      </p:sp>
      <p:sp>
        <p:nvSpPr>
          <p:cNvPr id="109" name="Google Shape;109;p17"/>
          <p:cNvSpPr txBox="1"/>
          <p:nvPr/>
        </p:nvSpPr>
        <p:spPr>
          <a:xfrm>
            <a:off x="4238763" y="4361819"/>
            <a:ext cx="658500" cy="192000"/>
          </a:xfrm>
          <a:prstGeom prst="rect">
            <a:avLst/>
          </a:prstGeom>
          <a:noFill/>
          <a:ln>
            <a:noFill/>
          </a:ln>
        </p:spPr>
        <p:txBody>
          <a:bodyPr spcFirstLastPara="1" wrap="square" lIns="0" tIns="0" rIns="0" bIns="0" anchor="ctr" anchorCtr="0">
            <a:spAutoFit/>
          </a:bodyPr>
          <a:lstStyle/>
          <a:p>
            <a:pPr marL="0" marR="0" lvl="3" indent="0" algn="r" rtl="0">
              <a:lnSpc>
                <a:spcPct val="96000"/>
              </a:lnSpc>
              <a:spcBef>
                <a:spcPts val="0"/>
              </a:spcBef>
              <a:spcAft>
                <a:spcPts val="0"/>
              </a:spcAft>
              <a:buNone/>
            </a:pPr>
            <a:r>
              <a:rPr lang="en-GB" sz="1300" i="0" u="none" strike="noStrike" cap="none">
                <a:solidFill>
                  <a:srgbClr val="575757"/>
                </a:solidFill>
                <a:latin typeface="Georgia"/>
                <a:ea typeface="Georgia"/>
                <a:cs typeface="Georgia"/>
                <a:sym typeface="Georgia"/>
              </a:rPr>
              <a:t>Time</a:t>
            </a:r>
            <a:endParaRPr sz="300">
              <a:latin typeface="Georgia"/>
              <a:ea typeface="Georgia"/>
              <a:cs typeface="Georgia"/>
              <a:sym typeface="Georgia"/>
            </a:endParaRPr>
          </a:p>
        </p:txBody>
      </p:sp>
      <p:sp>
        <p:nvSpPr>
          <p:cNvPr id="110" name="Google Shape;110;p17"/>
          <p:cNvSpPr/>
          <p:nvPr/>
        </p:nvSpPr>
        <p:spPr>
          <a:xfrm>
            <a:off x="1253809" y="2563756"/>
            <a:ext cx="3499200" cy="342300"/>
          </a:xfrm>
          <a:prstGeom prst="rect">
            <a:avLst/>
          </a:prstGeom>
          <a:noFill/>
          <a:ln>
            <a:noFill/>
          </a:ln>
        </p:spPr>
        <p:txBody>
          <a:bodyPr spcFirstLastPara="1" wrap="square" lIns="91425" tIns="45700" rIns="91425" bIns="45700" anchor="t" anchorCtr="0">
            <a:noAutofit/>
          </a:bodyPr>
          <a:lstStyle/>
          <a:p>
            <a:pPr marL="0" marR="0" lvl="3" indent="0" algn="l" rtl="0">
              <a:lnSpc>
                <a:spcPct val="96000"/>
              </a:lnSpc>
              <a:spcBef>
                <a:spcPts val="0"/>
              </a:spcBef>
              <a:spcAft>
                <a:spcPts val="0"/>
              </a:spcAft>
              <a:buNone/>
            </a:pPr>
            <a:r>
              <a:rPr lang="en-GB" sz="1300" b="1">
                <a:solidFill>
                  <a:srgbClr val="980000"/>
                </a:solidFill>
                <a:latin typeface="Georgia"/>
                <a:ea typeface="Georgia"/>
                <a:cs typeface="Georgia"/>
                <a:sym typeface="Georgia"/>
              </a:rPr>
              <a:t>Old</a:t>
            </a:r>
            <a:r>
              <a:rPr lang="en-GB" sz="1300" b="1" i="0" u="none" strike="noStrike" cap="none">
                <a:solidFill>
                  <a:srgbClr val="980000"/>
                </a:solidFill>
                <a:latin typeface="Georgia"/>
                <a:ea typeface="Georgia"/>
                <a:cs typeface="Georgia"/>
                <a:sym typeface="Georgia"/>
              </a:rPr>
              <a:t> mental models</a:t>
            </a:r>
            <a:endParaRPr sz="300" b="1">
              <a:solidFill>
                <a:srgbClr val="980000"/>
              </a:solidFill>
              <a:latin typeface="Georgia"/>
              <a:ea typeface="Georgia"/>
              <a:cs typeface="Georgia"/>
              <a:sym typeface="Georgia"/>
            </a:endParaRPr>
          </a:p>
        </p:txBody>
      </p:sp>
      <p:cxnSp>
        <p:nvCxnSpPr>
          <p:cNvPr id="111" name="Google Shape;111;p17"/>
          <p:cNvCxnSpPr/>
          <p:nvPr/>
        </p:nvCxnSpPr>
        <p:spPr>
          <a:xfrm rot="10800000" flipH="1">
            <a:off x="4836949" y="1850404"/>
            <a:ext cx="3359400" cy="558900"/>
          </a:xfrm>
          <a:prstGeom prst="bentConnector3">
            <a:avLst>
              <a:gd name="adj1" fmla="val 101"/>
            </a:avLst>
          </a:prstGeom>
          <a:noFill/>
          <a:ln w="38100" cap="flat" cmpd="sng">
            <a:solidFill>
              <a:srgbClr val="00754B"/>
            </a:solidFill>
            <a:prstDash val="solid"/>
            <a:round/>
            <a:headEnd type="none" w="med" len="med"/>
            <a:tailEnd type="none" w="med" len="med"/>
          </a:ln>
        </p:spPr>
      </p:cxnSp>
      <p:cxnSp>
        <p:nvCxnSpPr>
          <p:cNvPr id="112" name="Google Shape;112;p17"/>
          <p:cNvCxnSpPr/>
          <p:nvPr/>
        </p:nvCxnSpPr>
        <p:spPr>
          <a:xfrm rot="10800000" flipH="1">
            <a:off x="1242600" y="2353750"/>
            <a:ext cx="3591600" cy="455700"/>
          </a:xfrm>
          <a:prstGeom prst="bentConnector3">
            <a:avLst>
              <a:gd name="adj1" fmla="val 100147"/>
            </a:avLst>
          </a:prstGeom>
          <a:noFill/>
          <a:ln w="38100" cap="flat" cmpd="sng">
            <a:solidFill>
              <a:srgbClr val="980000"/>
            </a:solidFill>
            <a:prstDash val="solid"/>
            <a:miter lim="8000"/>
            <a:headEnd type="none" w="sm" len="sm"/>
            <a:tailEnd type="none" w="sm" len="sm"/>
          </a:ln>
        </p:spPr>
      </p:cxnSp>
      <p:sp>
        <p:nvSpPr>
          <p:cNvPr id="113" name="Google Shape;113;p17"/>
          <p:cNvSpPr txBox="1"/>
          <p:nvPr/>
        </p:nvSpPr>
        <p:spPr>
          <a:xfrm>
            <a:off x="1265655" y="2804304"/>
            <a:ext cx="3204300" cy="1416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a:latin typeface="Georgia"/>
                <a:ea typeface="Georgia"/>
                <a:cs typeface="Georgia"/>
                <a:sym typeface="Georgia"/>
              </a:rPr>
              <a:t>Airlines can operate:</a:t>
            </a:r>
            <a:endParaRPr>
              <a:latin typeface="Georgia"/>
              <a:ea typeface="Georgia"/>
              <a:cs typeface="Georgia"/>
              <a:sym typeface="Georgia"/>
            </a:endParaRPr>
          </a:p>
          <a:p>
            <a:pPr marL="457200" lvl="0" indent="-298450" algn="l" rtl="0">
              <a:spcBef>
                <a:spcPts val="0"/>
              </a:spcBef>
              <a:spcAft>
                <a:spcPts val="0"/>
              </a:spcAft>
              <a:buSzPts val="1100"/>
              <a:buFont typeface="Georgia"/>
              <a:buChar char="●"/>
            </a:pPr>
            <a:r>
              <a:rPr lang="en-GB" sz="1100" i="1">
                <a:latin typeface="Georgia"/>
                <a:ea typeface="Georgia"/>
                <a:cs typeface="Georgia"/>
                <a:sym typeface="Georgia"/>
              </a:rPr>
              <a:t>many types of aircraft</a:t>
            </a:r>
            <a:endParaRPr sz="1100" i="1">
              <a:latin typeface="Georgia"/>
              <a:ea typeface="Georgia"/>
              <a:cs typeface="Georgia"/>
              <a:sym typeface="Georgia"/>
            </a:endParaRPr>
          </a:p>
          <a:p>
            <a:pPr marL="457200" lvl="0" indent="-298450" algn="l" rtl="0">
              <a:spcBef>
                <a:spcPts val="0"/>
              </a:spcBef>
              <a:spcAft>
                <a:spcPts val="0"/>
              </a:spcAft>
              <a:buSzPts val="1100"/>
              <a:buFont typeface="Georgia"/>
              <a:buChar char="●"/>
            </a:pPr>
            <a:r>
              <a:rPr lang="en-GB" sz="1100" i="1">
                <a:latin typeface="Georgia"/>
                <a:ea typeface="Georgia"/>
                <a:cs typeface="Georgia"/>
                <a:sym typeface="Georgia"/>
              </a:rPr>
              <a:t>convenient, major airports</a:t>
            </a:r>
            <a:endParaRPr sz="1100" i="1">
              <a:latin typeface="Georgia"/>
              <a:ea typeface="Georgia"/>
              <a:cs typeface="Georgia"/>
              <a:sym typeface="Georgia"/>
            </a:endParaRPr>
          </a:p>
          <a:p>
            <a:pPr marL="457200" lvl="0" indent="-298450" algn="l" rtl="0">
              <a:spcBef>
                <a:spcPts val="0"/>
              </a:spcBef>
              <a:spcAft>
                <a:spcPts val="0"/>
              </a:spcAft>
              <a:buSzPts val="1100"/>
              <a:buFont typeface="Georgia"/>
              <a:buChar char="●"/>
            </a:pPr>
            <a:r>
              <a:rPr lang="en-GB" sz="1100" i="1">
                <a:latin typeface="Georgia"/>
                <a:ea typeface="Georgia"/>
                <a:cs typeface="Georgia"/>
                <a:sym typeface="Georgia"/>
              </a:rPr>
              <a:t>hub-and-spoke model</a:t>
            </a:r>
            <a:endParaRPr sz="1100" i="1">
              <a:latin typeface="Georgia"/>
              <a:ea typeface="Georgia"/>
              <a:cs typeface="Georgia"/>
              <a:sym typeface="Georgia"/>
            </a:endParaRPr>
          </a:p>
          <a:p>
            <a:pPr marL="457200" lvl="0" indent="-298450" algn="l" rtl="0">
              <a:spcBef>
                <a:spcPts val="0"/>
              </a:spcBef>
              <a:spcAft>
                <a:spcPts val="0"/>
              </a:spcAft>
              <a:buSzPts val="1100"/>
              <a:buFont typeface="Georgia"/>
              <a:buChar char="●"/>
            </a:pPr>
            <a:r>
              <a:rPr lang="en-GB" sz="1100" i="1">
                <a:latin typeface="Georgia"/>
                <a:ea typeface="Georgia"/>
                <a:cs typeface="Georgia"/>
                <a:sym typeface="Georgia"/>
              </a:rPr>
              <a:t>all-inclusive pricing</a:t>
            </a:r>
            <a:endParaRPr sz="1100" i="1">
              <a:latin typeface="Georgia"/>
              <a:ea typeface="Georgia"/>
              <a:cs typeface="Georgia"/>
              <a:sym typeface="Georgia"/>
            </a:endParaRPr>
          </a:p>
          <a:p>
            <a:pPr marL="457200" lvl="0" indent="-298450" algn="l" rtl="0">
              <a:spcBef>
                <a:spcPts val="0"/>
              </a:spcBef>
              <a:spcAft>
                <a:spcPts val="0"/>
              </a:spcAft>
              <a:buSzPts val="1100"/>
              <a:buFont typeface="Georgia"/>
              <a:buChar char="●"/>
            </a:pPr>
            <a:r>
              <a:rPr lang="en-GB" sz="1100" i="1">
                <a:latin typeface="Georgia"/>
                <a:ea typeface="Georgia"/>
                <a:cs typeface="Georgia"/>
                <a:sym typeface="Georgia"/>
              </a:rPr>
              <a:t>pre-assigned seating</a:t>
            </a:r>
            <a:endParaRPr sz="1100" i="1">
              <a:latin typeface="Georgia"/>
              <a:ea typeface="Georgia"/>
              <a:cs typeface="Georgia"/>
              <a:sym typeface="Georgia"/>
            </a:endParaRPr>
          </a:p>
          <a:p>
            <a:pPr marL="457200" lvl="0" indent="-298450" algn="l" rtl="0">
              <a:spcBef>
                <a:spcPts val="0"/>
              </a:spcBef>
              <a:spcAft>
                <a:spcPts val="0"/>
              </a:spcAft>
              <a:buSzPts val="1100"/>
              <a:buFont typeface="Georgia"/>
              <a:buChar char="●"/>
            </a:pPr>
            <a:r>
              <a:rPr lang="en-GB" sz="1100" i="1">
                <a:latin typeface="Georgia"/>
                <a:ea typeface="Georgia"/>
                <a:cs typeface="Georgia"/>
                <a:sym typeface="Georgia"/>
              </a:rPr>
              <a:t>sold via travel agents</a:t>
            </a:r>
            <a:endParaRPr sz="1100" i="1">
              <a:latin typeface="Georgia"/>
              <a:ea typeface="Georgia"/>
              <a:cs typeface="Georgia"/>
              <a:sym typeface="Georgia"/>
            </a:endParaRPr>
          </a:p>
        </p:txBody>
      </p:sp>
      <p:sp>
        <p:nvSpPr>
          <p:cNvPr id="114" name="Google Shape;114;p17"/>
          <p:cNvSpPr txBox="1"/>
          <p:nvPr/>
        </p:nvSpPr>
        <p:spPr>
          <a:xfrm>
            <a:off x="4951508" y="1854834"/>
            <a:ext cx="3204300" cy="1415742"/>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dirty="0">
                <a:latin typeface="Georgia"/>
                <a:ea typeface="Georgia"/>
                <a:cs typeface="Georgia"/>
                <a:sym typeface="Georgia"/>
              </a:rPr>
              <a:t>Airlines can operate:</a:t>
            </a:r>
            <a:endParaRPr dirty="0">
              <a:latin typeface="Georgia"/>
              <a:ea typeface="Georgia"/>
              <a:cs typeface="Georgia"/>
              <a:sym typeface="Georgia"/>
            </a:endParaRPr>
          </a:p>
          <a:p>
            <a:pPr marL="457200" lvl="0" indent="-298450" algn="l" rtl="0">
              <a:spcBef>
                <a:spcPts val="0"/>
              </a:spcBef>
              <a:spcAft>
                <a:spcPts val="0"/>
              </a:spcAft>
              <a:buSzPts val="1100"/>
              <a:buFont typeface="Georgia"/>
              <a:buChar char="●"/>
            </a:pPr>
            <a:r>
              <a:rPr lang="en-GB" sz="1100" i="1" dirty="0">
                <a:latin typeface="Georgia"/>
                <a:ea typeface="Georgia"/>
                <a:cs typeface="Georgia"/>
                <a:sym typeface="Georgia"/>
              </a:rPr>
              <a:t>single model of aircraft</a:t>
            </a:r>
            <a:endParaRPr sz="1100" i="1" dirty="0">
              <a:latin typeface="Georgia"/>
              <a:ea typeface="Georgia"/>
              <a:cs typeface="Georgia"/>
              <a:sym typeface="Georgia"/>
            </a:endParaRPr>
          </a:p>
          <a:p>
            <a:pPr marL="457200" lvl="0" indent="-298450" algn="l" rtl="0">
              <a:spcBef>
                <a:spcPts val="0"/>
              </a:spcBef>
              <a:spcAft>
                <a:spcPts val="0"/>
              </a:spcAft>
              <a:buSzPts val="1100"/>
              <a:buFont typeface="Georgia"/>
              <a:buChar char="●"/>
            </a:pPr>
            <a:r>
              <a:rPr lang="en-GB" sz="1100" i="1" dirty="0">
                <a:latin typeface="Georgia"/>
                <a:ea typeface="Georgia"/>
                <a:cs typeface="Georgia"/>
                <a:sym typeface="Georgia"/>
              </a:rPr>
              <a:t>abandoning main airports for secondary facilities </a:t>
            </a:r>
            <a:endParaRPr sz="1100" i="1" dirty="0">
              <a:latin typeface="Georgia"/>
              <a:ea typeface="Georgia"/>
              <a:cs typeface="Georgia"/>
              <a:sym typeface="Georgia"/>
            </a:endParaRPr>
          </a:p>
          <a:p>
            <a:pPr marL="457200" lvl="0" indent="-298450" algn="l" rtl="0">
              <a:spcBef>
                <a:spcPts val="0"/>
              </a:spcBef>
              <a:spcAft>
                <a:spcPts val="0"/>
              </a:spcAft>
              <a:buSzPts val="1100"/>
              <a:buFont typeface="Georgia"/>
              <a:buChar char="●"/>
            </a:pPr>
            <a:r>
              <a:rPr lang="en-GB" sz="1100" i="1" dirty="0">
                <a:latin typeface="Georgia"/>
                <a:ea typeface="Georgia"/>
                <a:cs typeface="Georgia"/>
                <a:sym typeface="Georgia"/>
              </a:rPr>
              <a:t> selling directly instead of through travel agents</a:t>
            </a:r>
          </a:p>
          <a:p>
            <a:pPr marL="457200" lvl="0" indent="-298450" algn="l" rtl="0">
              <a:spcBef>
                <a:spcPts val="0"/>
              </a:spcBef>
              <a:spcAft>
                <a:spcPts val="0"/>
              </a:spcAft>
              <a:buSzPts val="1100"/>
              <a:buFont typeface="Georgia"/>
              <a:buChar char="●"/>
            </a:pPr>
            <a:r>
              <a:rPr lang="en-GB" sz="1100" i="1" dirty="0">
                <a:latin typeface="Georgia"/>
                <a:ea typeface="Georgia"/>
                <a:cs typeface="Georgia"/>
                <a:sym typeface="Georgia"/>
              </a:rPr>
              <a:t>unbundled pricing</a:t>
            </a:r>
            <a:endParaRPr sz="1100" i="1" dirty="0">
              <a:latin typeface="Georgia"/>
              <a:ea typeface="Georgia"/>
              <a:cs typeface="Georgia"/>
              <a:sym typeface="Georgia"/>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sp>
        <p:nvSpPr>
          <p:cNvPr id="119" name="Google Shape;119;p18"/>
          <p:cNvSpPr/>
          <p:nvPr/>
        </p:nvSpPr>
        <p:spPr>
          <a:xfrm>
            <a:off x="1286950" y="2884425"/>
            <a:ext cx="3359400" cy="1286100"/>
          </a:xfrm>
          <a:prstGeom prst="rect">
            <a:avLst/>
          </a:prstGeom>
          <a:solidFill>
            <a:srgbClr val="D9EA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18"/>
          <p:cNvSpPr/>
          <p:nvPr/>
        </p:nvSpPr>
        <p:spPr>
          <a:xfrm>
            <a:off x="4994125" y="1924975"/>
            <a:ext cx="3161700" cy="1557600"/>
          </a:xfrm>
          <a:prstGeom prst="rect">
            <a:avLst/>
          </a:prstGeom>
          <a:solidFill>
            <a:srgbClr val="D9EA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1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dirty="0"/>
              <a:t>Describe another mental model shift that has resulted in a major change</a:t>
            </a:r>
            <a:endParaRPr dirty="0"/>
          </a:p>
          <a:p>
            <a:pPr marL="0" lvl="0" indent="0" algn="l" rtl="0">
              <a:spcBef>
                <a:spcPts val="0"/>
              </a:spcBef>
              <a:spcAft>
                <a:spcPts val="0"/>
              </a:spcAft>
              <a:buNone/>
            </a:pPr>
            <a:r>
              <a:rPr lang="en-GB" sz="1400" b="0" dirty="0">
                <a:solidFill>
                  <a:schemeClr val="dk1"/>
                </a:solidFill>
              </a:rPr>
              <a:t>Fill in the </a:t>
            </a:r>
            <a:r>
              <a:rPr lang="en-GB" sz="1400" b="0" dirty="0">
                <a:solidFill>
                  <a:schemeClr val="dk1"/>
                </a:solidFill>
                <a:highlight>
                  <a:srgbClr val="D9EAD3"/>
                </a:highlight>
              </a:rPr>
              <a:t>blanks</a:t>
            </a:r>
            <a:r>
              <a:rPr lang="en-GB" sz="1400" b="0" dirty="0">
                <a:solidFill>
                  <a:schemeClr val="dk1"/>
                </a:solidFill>
              </a:rPr>
              <a:t>.</a:t>
            </a:r>
            <a:endParaRPr dirty="0"/>
          </a:p>
        </p:txBody>
      </p:sp>
      <p:sp>
        <p:nvSpPr>
          <p:cNvPr id="122" name="Google Shape;122;p18"/>
          <p:cNvSpPr/>
          <p:nvPr/>
        </p:nvSpPr>
        <p:spPr>
          <a:xfrm>
            <a:off x="950218" y="1645107"/>
            <a:ext cx="7559579" cy="2677932"/>
          </a:xfrm>
          <a:custGeom>
            <a:avLst/>
            <a:gdLst/>
            <a:ahLst/>
            <a:cxnLst/>
            <a:rect l="l" t="t" r="r" b="b"/>
            <a:pathLst>
              <a:path w="3682" h="2038" extrusionOk="0">
                <a:moveTo>
                  <a:pt x="0" y="0"/>
                </a:moveTo>
                <a:lnTo>
                  <a:pt x="0" y="2038"/>
                </a:lnTo>
                <a:lnTo>
                  <a:pt x="3682" y="2038"/>
                </a:lnTo>
              </a:path>
            </a:pathLst>
          </a:custGeom>
          <a:noFill/>
          <a:ln w="9525" cap="flat" cmpd="sng">
            <a:solidFill>
              <a:srgbClr val="6E6F73"/>
            </a:solidFill>
            <a:prstDash val="solid"/>
            <a:round/>
            <a:headEnd type="triangle" w="med" len="med"/>
            <a:tailEnd type="triangle" w="med" len="med"/>
          </a:ln>
        </p:spPr>
        <p:txBody>
          <a:bodyPr spcFirstLastPara="1" wrap="square" lIns="103900" tIns="51950" rIns="103900" bIns="51950" anchor="ctr" anchorCtr="0">
            <a:noAutofit/>
          </a:bodyPr>
          <a:lstStyle/>
          <a:p>
            <a:pPr marL="0" marR="0" lvl="0" indent="0" algn="l" rtl="0">
              <a:spcBef>
                <a:spcPts val="0"/>
              </a:spcBef>
              <a:spcAft>
                <a:spcPts val="0"/>
              </a:spcAft>
              <a:buNone/>
            </a:pPr>
            <a:endParaRPr sz="2000" b="0" i="0" u="none" strike="noStrike" cap="none">
              <a:solidFill>
                <a:srgbClr val="000000"/>
              </a:solidFill>
              <a:latin typeface="Arial"/>
              <a:ea typeface="Arial"/>
              <a:cs typeface="Arial"/>
              <a:sym typeface="Arial"/>
            </a:endParaRPr>
          </a:p>
        </p:txBody>
      </p:sp>
      <p:grpSp>
        <p:nvGrpSpPr>
          <p:cNvPr id="123" name="Google Shape;123;p18"/>
          <p:cNvGrpSpPr/>
          <p:nvPr/>
        </p:nvGrpSpPr>
        <p:grpSpPr>
          <a:xfrm>
            <a:off x="1225084" y="1670617"/>
            <a:ext cx="6967606" cy="1366209"/>
            <a:chOff x="6274169" y="1173483"/>
            <a:chExt cx="4409040" cy="2030028"/>
          </a:xfrm>
        </p:grpSpPr>
        <p:cxnSp>
          <p:nvCxnSpPr>
            <p:cNvPr id="124" name="Google Shape;124;p18"/>
            <p:cNvCxnSpPr/>
            <p:nvPr/>
          </p:nvCxnSpPr>
          <p:spPr>
            <a:xfrm>
              <a:off x="10683209" y="1173483"/>
              <a:ext cx="0" cy="579000"/>
            </a:xfrm>
            <a:prstGeom prst="straightConnector1">
              <a:avLst/>
            </a:prstGeom>
            <a:noFill/>
            <a:ln w="38100" cap="flat" cmpd="sng">
              <a:solidFill>
                <a:srgbClr val="00754B"/>
              </a:solidFill>
              <a:prstDash val="solid"/>
              <a:round/>
              <a:headEnd type="none" w="sm" len="sm"/>
              <a:tailEnd type="none" w="sm" len="sm"/>
            </a:ln>
          </p:spPr>
        </p:cxnSp>
        <p:cxnSp>
          <p:nvCxnSpPr>
            <p:cNvPr id="125" name="Google Shape;125;p18"/>
            <p:cNvCxnSpPr/>
            <p:nvPr/>
          </p:nvCxnSpPr>
          <p:spPr>
            <a:xfrm>
              <a:off x="6274169" y="2624511"/>
              <a:ext cx="0" cy="579000"/>
            </a:xfrm>
            <a:prstGeom prst="straightConnector1">
              <a:avLst/>
            </a:prstGeom>
            <a:noFill/>
            <a:ln w="38100" cap="flat" cmpd="sng">
              <a:solidFill>
                <a:srgbClr val="980000"/>
              </a:solidFill>
              <a:prstDash val="solid"/>
              <a:round/>
              <a:headEnd type="none" w="sm" len="sm"/>
              <a:tailEnd type="none" w="sm" len="sm"/>
            </a:ln>
          </p:spPr>
        </p:cxnSp>
      </p:grpSp>
      <p:sp>
        <p:nvSpPr>
          <p:cNvPr id="126" name="Google Shape;126;p18"/>
          <p:cNvSpPr/>
          <p:nvPr/>
        </p:nvSpPr>
        <p:spPr>
          <a:xfrm>
            <a:off x="4897250" y="1599616"/>
            <a:ext cx="3271800" cy="222600"/>
          </a:xfrm>
          <a:prstGeom prst="rect">
            <a:avLst/>
          </a:prstGeom>
          <a:noFill/>
          <a:ln>
            <a:noFill/>
          </a:ln>
        </p:spPr>
        <p:txBody>
          <a:bodyPr spcFirstLastPara="1" wrap="square" lIns="91425" tIns="45700" rIns="91425" bIns="45700" anchor="t" anchorCtr="0">
            <a:noAutofit/>
          </a:bodyPr>
          <a:lstStyle/>
          <a:p>
            <a:pPr marL="0" marR="0" lvl="3" indent="0" algn="r" rtl="0">
              <a:lnSpc>
                <a:spcPct val="96000"/>
              </a:lnSpc>
              <a:spcBef>
                <a:spcPts val="0"/>
              </a:spcBef>
              <a:spcAft>
                <a:spcPts val="0"/>
              </a:spcAft>
              <a:buNone/>
            </a:pPr>
            <a:r>
              <a:rPr lang="en-GB" sz="1300" b="1" i="0" u="none" strike="noStrike" cap="none">
                <a:solidFill>
                  <a:srgbClr val="00754B"/>
                </a:solidFill>
                <a:latin typeface="Georgia"/>
                <a:ea typeface="Georgia"/>
                <a:cs typeface="Georgia"/>
                <a:sym typeface="Georgia"/>
              </a:rPr>
              <a:t>New mental models</a:t>
            </a:r>
            <a:endParaRPr sz="300" b="1">
              <a:solidFill>
                <a:srgbClr val="00754B"/>
              </a:solidFill>
              <a:latin typeface="Georgia"/>
              <a:ea typeface="Georgia"/>
              <a:cs typeface="Georgia"/>
              <a:sym typeface="Georgia"/>
            </a:endParaRPr>
          </a:p>
        </p:txBody>
      </p:sp>
      <p:sp>
        <p:nvSpPr>
          <p:cNvPr id="127" name="Google Shape;127;p18"/>
          <p:cNvSpPr txBox="1"/>
          <p:nvPr/>
        </p:nvSpPr>
        <p:spPr>
          <a:xfrm rot="-5400000">
            <a:off x="247286" y="2923793"/>
            <a:ext cx="769800" cy="192000"/>
          </a:xfrm>
          <a:prstGeom prst="rect">
            <a:avLst/>
          </a:prstGeom>
          <a:noFill/>
          <a:ln>
            <a:noFill/>
          </a:ln>
        </p:spPr>
        <p:txBody>
          <a:bodyPr spcFirstLastPara="1" wrap="square" lIns="0" tIns="0" rIns="0" bIns="0" anchor="ctr" anchorCtr="0">
            <a:spAutoFit/>
          </a:bodyPr>
          <a:lstStyle/>
          <a:p>
            <a:pPr marL="0" marR="0" lvl="3" indent="0" algn="r" rtl="0">
              <a:lnSpc>
                <a:spcPct val="96000"/>
              </a:lnSpc>
              <a:spcBef>
                <a:spcPts val="0"/>
              </a:spcBef>
              <a:spcAft>
                <a:spcPts val="0"/>
              </a:spcAft>
              <a:buNone/>
            </a:pPr>
            <a:r>
              <a:rPr lang="en-GB" sz="1300" i="0" u="none" strike="noStrike" cap="none">
                <a:solidFill>
                  <a:srgbClr val="575757"/>
                </a:solidFill>
                <a:latin typeface="Georgia"/>
                <a:ea typeface="Georgia"/>
                <a:cs typeface="Georgia"/>
                <a:sym typeface="Georgia"/>
              </a:rPr>
              <a:t>Change</a:t>
            </a:r>
            <a:endParaRPr sz="300">
              <a:latin typeface="Georgia"/>
              <a:ea typeface="Georgia"/>
              <a:cs typeface="Georgia"/>
              <a:sym typeface="Georgia"/>
            </a:endParaRPr>
          </a:p>
        </p:txBody>
      </p:sp>
      <p:sp>
        <p:nvSpPr>
          <p:cNvPr id="128" name="Google Shape;128;p18"/>
          <p:cNvSpPr txBox="1"/>
          <p:nvPr/>
        </p:nvSpPr>
        <p:spPr>
          <a:xfrm>
            <a:off x="4238763" y="4361819"/>
            <a:ext cx="658500" cy="192000"/>
          </a:xfrm>
          <a:prstGeom prst="rect">
            <a:avLst/>
          </a:prstGeom>
          <a:noFill/>
          <a:ln>
            <a:noFill/>
          </a:ln>
        </p:spPr>
        <p:txBody>
          <a:bodyPr spcFirstLastPara="1" wrap="square" lIns="0" tIns="0" rIns="0" bIns="0" anchor="ctr" anchorCtr="0">
            <a:spAutoFit/>
          </a:bodyPr>
          <a:lstStyle/>
          <a:p>
            <a:pPr marL="0" marR="0" lvl="3" indent="0" algn="r" rtl="0">
              <a:lnSpc>
                <a:spcPct val="96000"/>
              </a:lnSpc>
              <a:spcBef>
                <a:spcPts val="0"/>
              </a:spcBef>
              <a:spcAft>
                <a:spcPts val="0"/>
              </a:spcAft>
              <a:buNone/>
            </a:pPr>
            <a:r>
              <a:rPr lang="en-GB" sz="1300" i="0" u="none" strike="noStrike" cap="none">
                <a:solidFill>
                  <a:srgbClr val="575757"/>
                </a:solidFill>
                <a:latin typeface="Georgia"/>
                <a:ea typeface="Georgia"/>
                <a:cs typeface="Georgia"/>
                <a:sym typeface="Georgia"/>
              </a:rPr>
              <a:t>Time</a:t>
            </a:r>
            <a:endParaRPr sz="300">
              <a:latin typeface="Georgia"/>
              <a:ea typeface="Georgia"/>
              <a:cs typeface="Georgia"/>
              <a:sym typeface="Georgia"/>
            </a:endParaRPr>
          </a:p>
        </p:txBody>
      </p:sp>
      <p:sp>
        <p:nvSpPr>
          <p:cNvPr id="129" name="Google Shape;129;p18"/>
          <p:cNvSpPr/>
          <p:nvPr/>
        </p:nvSpPr>
        <p:spPr>
          <a:xfrm>
            <a:off x="1253809" y="2563756"/>
            <a:ext cx="3499200" cy="342300"/>
          </a:xfrm>
          <a:prstGeom prst="rect">
            <a:avLst/>
          </a:prstGeom>
          <a:noFill/>
          <a:ln>
            <a:noFill/>
          </a:ln>
        </p:spPr>
        <p:txBody>
          <a:bodyPr spcFirstLastPara="1" wrap="square" lIns="91425" tIns="45700" rIns="91425" bIns="45700" anchor="t" anchorCtr="0">
            <a:noAutofit/>
          </a:bodyPr>
          <a:lstStyle/>
          <a:p>
            <a:pPr marL="0" marR="0" lvl="3" indent="0" algn="l" rtl="0">
              <a:lnSpc>
                <a:spcPct val="96000"/>
              </a:lnSpc>
              <a:spcBef>
                <a:spcPts val="0"/>
              </a:spcBef>
              <a:spcAft>
                <a:spcPts val="0"/>
              </a:spcAft>
              <a:buNone/>
            </a:pPr>
            <a:r>
              <a:rPr lang="en-GB" sz="1300" b="1">
                <a:solidFill>
                  <a:srgbClr val="980000"/>
                </a:solidFill>
                <a:latin typeface="Georgia"/>
                <a:ea typeface="Georgia"/>
                <a:cs typeface="Georgia"/>
                <a:sym typeface="Georgia"/>
              </a:rPr>
              <a:t>Old</a:t>
            </a:r>
            <a:r>
              <a:rPr lang="en-GB" sz="1300" b="1" i="0" u="none" strike="noStrike" cap="none">
                <a:solidFill>
                  <a:srgbClr val="980000"/>
                </a:solidFill>
                <a:latin typeface="Georgia"/>
                <a:ea typeface="Georgia"/>
                <a:cs typeface="Georgia"/>
                <a:sym typeface="Georgia"/>
              </a:rPr>
              <a:t> mental models</a:t>
            </a:r>
            <a:endParaRPr sz="300" b="1">
              <a:solidFill>
                <a:srgbClr val="980000"/>
              </a:solidFill>
              <a:latin typeface="Georgia"/>
              <a:ea typeface="Georgia"/>
              <a:cs typeface="Georgia"/>
              <a:sym typeface="Georgia"/>
            </a:endParaRPr>
          </a:p>
        </p:txBody>
      </p:sp>
      <p:cxnSp>
        <p:nvCxnSpPr>
          <p:cNvPr id="130" name="Google Shape;130;p18"/>
          <p:cNvCxnSpPr/>
          <p:nvPr/>
        </p:nvCxnSpPr>
        <p:spPr>
          <a:xfrm rot="10800000" flipH="1">
            <a:off x="4836949" y="1850404"/>
            <a:ext cx="3359400" cy="558900"/>
          </a:xfrm>
          <a:prstGeom prst="bentConnector3">
            <a:avLst>
              <a:gd name="adj1" fmla="val 101"/>
            </a:avLst>
          </a:prstGeom>
          <a:noFill/>
          <a:ln w="38100" cap="flat" cmpd="sng">
            <a:solidFill>
              <a:srgbClr val="00754B"/>
            </a:solidFill>
            <a:prstDash val="solid"/>
            <a:round/>
            <a:headEnd type="none" w="med" len="med"/>
            <a:tailEnd type="none" w="med" len="med"/>
          </a:ln>
        </p:spPr>
      </p:cxnSp>
      <p:cxnSp>
        <p:nvCxnSpPr>
          <p:cNvPr id="131" name="Google Shape;131;p18"/>
          <p:cNvCxnSpPr/>
          <p:nvPr/>
        </p:nvCxnSpPr>
        <p:spPr>
          <a:xfrm rot="10800000" flipH="1">
            <a:off x="1242600" y="2353750"/>
            <a:ext cx="3591600" cy="455700"/>
          </a:xfrm>
          <a:prstGeom prst="bentConnector3">
            <a:avLst>
              <a:gd name="adj1" fmla="val 100147"/>
            </a:avLst>
          </a:prstGeom>
          <a:noFill/>
          <a:ln w="38100" cap="flat" cmpd="sng">
            <a:solidFill>
              <a:srgbClr val="980000"/>
            </a:solidFill>
            <a:prstDash val="solid"/>
            <a:miter lim="8000"/>
            <a:headEnd type="none" w="sm" len="sm"/>
            <a:tailEnd type="none" w="sm" len="sm"/>
          </a:ln>
        </p:spPr>
      </p:cxnSp>
      <p:sp>
        <p:nvSpPr>
          <p:cNvPr id="132" name="Google Shape;132;p18"/>
          <p:cNvSpPr txBox="1"/>
          <p:nvPr/>
        </p:nvSpPr>
        <p:spPr>
          <a:xfrm>
            <a:off x="1265655" y="2804304"/>
            <a:ext cx="3204300" cy="1031021"/>
          </a:xfrm>
          <a:prstGeom prst="rect">
            <a:avLst/>
          </a:prstGeom>
          <a:noFill/>
          <a:ln>
            <a:noFill/>
          </a:ln>
        </p:spPr>
        <p:txBody>
          <a:bodyPr spcFirstLastPara="1" wrap="square" lIns="91425" tIns="91425" rIns="91425" bIns="91425" anchor="t" anchorCtr="0">
            <a:spAutoFit/>
          </a:bodyPr>
          <a:lstStyle/>
          <a:p>
            <a:pPr marL="158750">
              <a:buSzPts val="1100"/>
            </a:pPr>
            <a:r>
              <a:rPr lang="en-GB" sz="1100" i="1" dirty="0">
                <a:latin typeface="Georgia"/>
                <a:ea typeface="Georgia"/>
                <a:cs typeface="Georgia"/>
                <a:sym typeface="Georgia"/>
              </a:rPr>
              <a:t>FORD is:</a:t>
            </a:r>
          </a:p>
          <a:p>
            <a:pPr marL="457200" indent="-298450">
              <a:buSzPts val="1100"/>
              <a:buFont typeface="Georgia"/>
              <a:buChar char="●"/>
            </a:pPr>
            <a:r>
              <a:rPr lang="en-GB" sz="1100" i="1" dirty="0">
                <a:latin typeface="Georgia"/>
                <a:ea typeface="Georgia"/>
                <a:cs typeface="Georgia"/>
                <a:sym typeface="Georgia"/>
              </a:rPr>
              <a:t>Only a car company</a:t>
            </a:r>
          </a:p>
          <a:p>
            <a:pPr marL="457200" indent="-298450">
              <a:buSzPts val="1100"/>
              <a:buFont typeface="Georgia"/>
              <a:buChar char="●"/>
            </a:pPr>
            <a:r>
              <a:rPr lang="en-GB" sz="1100" i="1" dirty="0">
                <a:latin typeface="Georgia"/>
                <a:ea typeface="Georgia"/>
                <a:cs typeface="Georgia"/>
                <a:sym typeface="Georgia"/>
              </a:rPr>
              <a:t>Used only for commute by people </a:t>
            </a:r>
          </a:p>
          <a:p>
            <a:pPr marL="457200" lvl="0" indent="-298450" algn="l" rtl="0">
              <a:spcBef>
                <a:spcPts val="0"/>
              </a:spcBef>
              <a:spcAft>
                <a:spcPts val="0"/>
              </a:spcAft>
              <a:buSzPts val="1100"/>
              <a:buFont typeface="Georgia"/>
              <a:buChar char="●"/>
            </a:pPr>
            <a:r>
              <a:rPr lang="en-GB" sz="1100" i="1" dirty="0">
                <a:latin typeface="Georgia"/>
                <a:ea typeface="Georgia"/>
                <a:cs typeface="Georgia"/>
                <a:sym typeface="Georgia"/>
              </a:rPr>
              <a:t> a status symbol in urban environment</a:t>
            </a:r>
            <a:endParaRPr sz="1100" i="1" dirty="0">
              <a:latin typeface="Georgia"/>
              <a:ea typeface="Georgia"/>
              <a:cs typeface="Georgia"/>
              <a:sym typeface="Georgia"/>
            </a:endParaRPr>
          </a:p>
          <a:p>
            <a:pPr marL="457200" lvl="0" indent="-298450" algn="l" rtl="0">
              <a:spcBef>
                <a:spcPts val="0"/>
              </a:spcBef>
              <a:spcAft>
                <a:spcPts val="0"/>
              </a:spcAft>
              <a:buSzPts val="1100"/>
              <a:buFont typeface="Georgia"/>
              <a:buChar char="●"/>
            </a:pPr>
            <a:endParaRPr sz="1100" i="1" dirty="0">
              <a:latin typeface="Georgia"/>
              <a:ea typeface="Georgia"/>
              <a:cs typeface="Georgia"/>
              <a:sym typeface="Georgia"/>
            </a:endParaRPr>
          </a:p>
        </p:txBody>
      </p:sp>
      <p:sp>
        <p:nvSpPr>
          <p:cNvPr id="133" name="Google Shape;133;p18"/>
          <p:cNvSpPr txBox="1"/>
          <p:nvPr/>
        </p:nvSpPr>
        <p:spPr>
          <a:xfrm>
            <a:off x="4951508" y="1854834"/>
            <a:ext cx="3204300" cy="1200298"/>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1100" i="1" dirty="0">
                <a:latin typeface="Georgia"/>
                <a:ea typeface="Georgia"/>
                <a:cs typeface="Georgia"/>
                <a:sym typeface="Georgia"/>
              </a:rPr>
              <a:t>FORD is:</a:t>
            </a:r>
            <a:endParaRPr sz="1100" i="1" dirty="0">
              <a:latin typeface="Georgia"/>
              <a:ea typeface="Georgia"/>
              <a:cs typeface="Georgia"/>
              <a:sym typeface="Georgia"/>
            </a:endParaRPr>
          </a:p>
          <a:p>
            <a:pPr marL="457200" lvl="0" indent="-298450" algn="l" rtl="0">
              <a:spcBef>
                <a:spcPts val="0"/>
              </a:spcBef>
              <a:spcAft>
                <a:spcPts val="0"/>
              </a:spcAft>
              <a:buSzPts val="1100"/>
              <a:buFont typeface="Georgia"/>
              <a:buChar char="●"/>
            </a:pPr>
            <a:r>
              <a:rPr lang="en-GB" sz="1100" i="1" dirty="0">
                <a:latin typeface="Georgia"/>
                <a:ea typeface="Georgia"/>
                <a:cs typeface="Georgia"/>
                <a:sym typeface="Georgia"/>
              </a:rPr>
              <a:t>A pick-up truck company too</a:t>
            </a:r>
          </a:p>
          <a:p>
            <a:pPr marL="457200" lvl="0" indent="-298450" algn="l" rtl="0">
              <a:spcBef>
                <a:spcPts val="0"/>
              </a:spcBef>
              <a:spcAft>
                <a:spcPts val="0"/>
              </a:spcAft>
              <a:buSzPts val="1100"/>
              <a:buFont typeface="Georgia"/>
              <a:buChar char="●"/>
            </a:pPr>
            <a:r>
              <a:rPr lang="en-GB" sz="1100" i="1" dirty="0">
                <a:latin typeface="Georgia"/>
                <a:ea typeface="Georgia"/>
                <a:cs typeface="Georgia"/>
                <a:sym typeface="Georgia"/>
              </a:rPr>
              <a:t>Used for commute of farming tools and goods too </a:t>
            </a:r>
            <a:endParaRPr sz="1100" i="1" dirty="0">
              <a:latin typeface="Georgia"/>
              <a:ea typeface="Georgia"/>
              <a:cs typeface="Georgia"/>
              <a:sym typeface="Georgia"/>
            </a:endParaRPr>
          </a:p>
          <a:p>
            <a:pPr marL="457200" lvl="0" indent="-298450" algn="l" rtl="0">
              <a:spcBef>
                <a:spcPts val="0"/>
              </a:spcBef>
              <a:spcAft>
                <a:spcPts val="0"/>
              </a:spcAft>
              <a:buSzPts val="1100"/>
              <a:buFont typeface="Georgia"/>
              <a:buChar char="●"/>
            </a:pPr>
            <a:r>
              <a:rPr lang="en-GB" sz="1100" i="1" dirty="0">
                <a:latin typeface="Georgia"/>
                <a:ea typeface="Georgia"/>
                <a:cs typeface="Georgia"/>
                <a:sym typeface="Georgia"/>
              </a:rPr>
              <a:t> a status symbol in rural environment too </a:t>
            </a:r>
            <a:endParaRPr sz="1100" i="1" dirty="0">
              <a:latin typeface="Georgia"/>
              <a:ea typeface="Georgia"/>
              <a:cs typeface="Georgia"/>
              <a:sym typeface="Georgia"/>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440</Words>
  <Application>Microsoft Macintosh PowerPoint</Application>
  <PresentationFormat>On-screen Show (16:9)</PresentationFormat>
  <Paragraphs>76</Paragraphs>
  <Slides>6</Slides>
  <Notes>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Arial</vt:lpstr>
      <vt:lpstr>Georgia</vt:lpstr>
      <vt:lpstr>Times New Roman</vt:lpstr>
      <vt:lpstr>Simple Light</vt:lpstr>
      <vt:lpstr>Paradigm-busting workbook</vt:lpstr>
      <vt:lpstr>It is up to us to interpret the “facts” Thought exercise: is a given megatrend an opportunity or threat? It could be either, depending on your mindset. Complete this exercise by filling in the blanks, challenging yourself to interpret the “facts”, which many see as threats, as opportunities.</vt:lpstr>
      <vt:lpstr>Shifts in our mental models enable us to solve problems and pursue opportunities</vt:lpstr>
      <vt:lpstr>BIC opened the door to new lines of business (e.g., lighters, razors) by shifting mental models</vt:lpstr>
      <vt:lpstr>Low-cost airlines shifted prevailing airline paradigms to disrupt the aviation industry Fill in the blanks.</vt:lpstr>
      <vt:lpstr>Describe another mental model shift that has resulted in a major change Fill in the blanks.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rishumandal01@gmail.com</cp:lastModifiedBy>
  <cp:revision>1</cp:revision>
  <dcterms:modified xsi:type="dcterms:W3CDTF">2025-04-26T06:50:15Z</dcterms:modified>
</cp:coreProperties>
</file>